
<file path=[Content_Types].xml><?xml version="1.0" encoding="utf-8"?>
<Types xmlns="http://schemas.openxmlformats.org/package/2006/content-types">
  <Default Extension="jpeg" ContentType="image/jpeg"/>
  <Default Extension="JPG" ContentType="image/.jpg"/>
  <Default Extension="xlsx" ContentType="application/vnd.openxmlformats-officedocument.spreadsheetml.sheet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charts/chart1.xml" ContentType="application/vnd.openxmlformats-officedocument.drawingml.chart+xml"/>
  <Override PartName="/ppt/charts/colors1.xml" ContentType="application/vnd.ms-office.chartcolorstyle+xml"/>
  <Override PartName="/ppt/charts/style1.xml" ContentType="application/vnd.ms-office.chartstyle+xml"/>
  <Override PartName="/ppt/commentAuthors.xml" ContentType="application/vnd.openxmlformats-officedocument.presentationml.commentAuthors+xml"/>
  <Override PartName="/ppt/handoutMasters/handoutMaster1.xml" ContentType="application/vnd.openxmlformats-officedocument.presentationml.handoutMaster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slides/slide52.xml" ContentType="application/vnd.openxmlformats-officedocument.presentationml.slide+xml"/>
  <Override PartName="/ppt/slides/slide53.xml" ContentType="application/vnd.openxmlformats-officedocument.presentationml.slide+xml"/>
  <Override PartName="/ppt/slides/slide54.xml" ContentType="application/vnd.openxmlformats-officedocument.presentationml.slide+xml"/>
  <Override PartName="/ppt/slides/slide55.xml" ContentType="application/vnd.openxmlformats-officedocument.presentationml.slide+xml"/>
  <Override PartName="/ppt/slides/slide56.xml" ContentType="application/vnd.openxmlformats-officedocument.presentationml.slide+xml"/>
  <Override PartName="/ppt/slides/slide57.xml" ContentType="application/vnd.openxmlformats-officedocument.presentationml.slide+xml"/>
  <Override PartName="/ppt/slides/slide58.xml" ContentType="application/vnd.openxmlformats-officedocument.presentationml.slide+xml"/>
  <Override PartName="/ppt/slides/slide59.xml" ContentType="application/vnd.openxmlformats-officedocument.presentationml.slide+xml"/>
  <Override PartName="/ppt/slides/slide6.xml" ContentType="application/vnd.openxmlformats-officedocument.presentationml.slide+xml"/>
  <Override PartName="/ppt/slides/slide60.xml" ContentType="application/vnd.openxmlformats-officedocument.presentationml.slide+xml"/>
  <Override PartName="/ppt/slides/slide61.xml" ContentType="application/vnd.openxmlformats-officedocument.presentationml.slide+xml"/>
  <Override PartName="/ppt/slides/slide62.xml" ContentType="application/vnd.openxmlformats-officedocument.presentationml.slide+xml"/>
  <Override PartName="/ppt/slides/slide63.xml" ContentType="application/vnd.openxmlformats-officedocument.presentationml.slide+xml"/>
  <Override PartName="/ppt/slides/slide64.xml" ContentType="application/vnd.openxmlformats-officedocument.presentationml.slide+xml"/>
  <Override PartName="/ppt/slides/slide65.xml" ContentType="application/vnd.openxmlformats-officedocument.presentationml.slide+xml"/>
  <Override PartName="/ppt/slides/slide66.xml" ContentType="application/vnd.openxmlformats-officedocument.presentationml.slide+xml"/>
  <Override PartName="/ppt/slides/slide67.xml" ContentType="application/vnd.openxmlformats-officedocument.presentationml.slide+xml"/>
  <Override PartName="/ppt/slides/slide68.xml" ContentType="application/vnd.openxmlformats-officedocument.presentationml.slide+xml"/>
  <Override PartName="/ppt/slides/slide69.xml" ContentType="application/vnd.openxmlformats-officedocument.presentationml.slide+xml"/>
  <Override PartName="/ppt/slides/slide7.xml" ContentType="application/vnd.openxmlformats-officedocument.presentationml.slide+xml"/>
  <Override PartName="/ppt/slides/slide70.xml" ContentType="application/vnd.openxmlformats-officedocument.presentationml.slide+xml"/>
  <Override PartName="/ppt/slides/slide71.xml" ContentType="application/vnd.openxmlformats-officedocument.presentationml.slide+xml"/>
  <Override PartName="/ppt/slides/slide72.xml" ContentType="application/vnd.openxmlformats-officedocument.presentationml.slide+xml"/>
  <Override PartName="/ppt/slides/slide73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ags/tag1.xml" ContentType="application/vnd.openxmlformats-officedocument.presentationml.tags+xml"/>
  <Override PartName="/ppt/tags/tag10.xml" ContentType="application/vnd.openxmlformats-officedocument.presentationml.tags+xml"/>
  <Override PartName="/ppt/tags/tag11.xml" ContentType="application/vnd.openxmlformats-officedocument.presentationml.tags+xml"/>
  <Override PartName="/ppt/tags/tag12.xml" ContentType="application/vnd.openxmlformats-officedocument.presentationml.tags+xml"/>
  <Override PartName="/ppt/tags/tag13.xml" ContentType="application/vnd.openxmlformats-officedocument.presentationml.tags+xml"/>
  <Override PartName="/ppt/tags/tag14.xml" ContentType="application/vnd.openxmlformats-officedocument.presentationml.tags+xml"/>
  <Override PartName="/ppt/tags/tag15.xml" ContentType="application/vnd.openxmlformats-officedocument.presentationml.tags+xml"/>
  <Override PartName="/ppt/tags/tag16.xml" ContentType="application/vnd.openxmlformats-officedocument.presentationml.tags+xml"/>
  <Override PartName="/ppt/tags/tag17.xml" ContentType="application/vnd.openxmlformats-officedocument.presentationml.tags+xml"/>
  <Override PartName="/ppt/tags/tag18.xml" ContentType="application/vnd.openxmlformats-officedocument.presentationml.tags+xml"/>
  <Override PartName="/ppt/tags/tag19.xml" ContentType="application/vnd.openxmlformats-officedocument.presentationml.tags+xml"/>
  <Override PartName="/ppt/tags/tag2.xml" ContentType="application/vnd.openxmlformats-officedocument.presentationml.tags+xml"/>
  <Override PartName="/ppt/tags/tag20.xml" ContentType="application/vnd.openxmlformats-officedocument.presentationml.tags+xml"/>
  <Override PartName="/ppt/tags/tag21.xml" ContentType="application/vnd.openxmlformats-officedocument.presentationml.tags+xml"/>
  <Override PartName="/ppt/tags/tag22.xml" ContentType="application/vnd.openxmlformats-officedocument.presentationml.tags+xml"/>
  <Override PartName="/ppt/tags/tag23.xml" ContentType="application/vnd.openxmlformats-officedocument.presentationml.tags+xml"/>
  <Override PartName="/ppt/tags/tag24.xml" ContentType="application/vnd.openxmlformats-officedocument.presentationml.tags+xml"/>
  <Override PartName="/ppt/tags/tag25.xml" ContentType="application/vnd.openxmlformats-officedocument.presentationml.tags+xml"/>
  <Override PartName="/ppt/tags/tag26.xml" ContentType="application/vnd.openxmlformats-officedocument.presentationml.tags+xml"/>
  <Override PartName="/ppt/tags/tag27.xml" ContentType="application/vnd.openxmlformats-officedocument.presentationml.tags+xml"/>
  <Override PartName="/ppt/tags/tag28.xml" ContentType="application/vnd.openxmlformats-officedocument.presentationml.tags+xml"/>
  <Override PartName="/ppt/tags/tag29.xml" ContentType="application/vnd.openxmlformats-officedocument.presentationml.tags+xml"/>
  <Override PartName="/ppt/tags/tag3.xml" ContentType="application/vnd.openxmlformats-officedocument.presentationml.tags+xml"/>
  <Override PartName="/ppt/tags/tag30.xml" ContentType="application/vnd.openxmlformats-officedocument.presentationml.tags+xml"/>
  <Override PartName="/ppt/tags/tag31.xml" ContentType="application/vnd.openxmlformats-officedocument.presentationml.tags+xml"/>
  <Override PartName="/ppt/tags/tag32.xml" ContentType="application/vnd.openxmlformats-officedocument.presentationml.tags+xml"/>
  <Override PartName="/ppt/tags/tag33.xml" ContentType="application/vnd.openxmlformats-officedocument.presentationml.tags+xml"/>
  <Override PartName="/ppt/tags/tag34.xml" ContentType="application/vnd.openxmlformats-officedocument.presentationml.tags+xml"/>
  <Override PartName="/ppt/tags/tag35.xml" ContentType="application/vnd.openxmlformats-officedocument.presentationml.tags+xml"/>
  <Override PartName="/ppt/tags/tag36.xml" ContentType="application/vnd.openxmlformats-officedocument.presentationml.tags+xml"/>
  <Override PartName="/ppt/tags/tag37.xml" ContentType="application/vnd.openxmlformats-officedocument.presentationml.tags+xml"/>
  <Override PartName="/ppt/tags/tag38.xml" ContentType="application/vnd.openxmlformats-officedocument.presentationml.tags+xml"/>
  <Override PartName="/ppt/tags/tag4.xml" ContentType="application/vnd.openxmlformats-officedocument.presentationml.tags+xml"/>
  <Override PartName="/ppt/tags/tag5.xml" ContentType="application/vnd.openxmlformats-officedocument.presentationml.tags+xml"/>
  <Override PartName="/ppt/tags/tag6.xml" ContentType="application/vnd.openxmlformats-officedocument.presentationml.tags+xml"/>
  <Override PartName="/ppt/tags/tag7.xml" ContentType="application/vnd.openxmlformats-officedocument.presentationml.tags+xml"/>
  <Override PartName="/ppt/tags/tag8.xml" ContentType="application/vnd.openxmlformats-officedocument.presentationml.tags+xml"/>
  <Override PartName="/ppt/tags/tag9.xml" ContentType="application/vnd.openxmlformats-officedocument.presentationml.tags+xml"/>
  <Override PartName="/ppt/theme/theme1.xml" ContentType="application/vnd.openxmlformats-officedocument.theme+xml"/>
  <Override PartName="/ppt/theme/theme2.xml" ContentType="application/vnd.openxmlformats-officedocument.theme+xml"/>
  <Override PartName="/ppt/theme/theme3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4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5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notesMasterIdLst>
    <p:notesMasterId r:id="rId4"/>
  </p:notesMasterIdLst>
  <p:handoutMasterIdLst>
    <p:handoutMasterId r:id="rId77"/>
  </p:handoutMasterIdLst>
  <p:sldIdLst>
    <p:sldId id="338" r:id="rId3"/>
    <p:sldId id="349" r:id="rId5"/>
    <p:sldId id="346" r:id="rId6"/>
    <p:sldId id="400" r:id="rId7"/>
    <p:sldId id="340" r:id="rId8"/>
    <p:sldId id="352" r:id="rId9"/>
    <p:sldId id="356" r:id="rId10"/>
    <p:sldId id="399" r:id="rId11"/>
    <p:sldId id="401" r:id="rId12"/>
    <p:sldId id="396" r:id="rId13"/>
    <p:sldId id="397" r:id="rId14"/>
    <p:sldId id="398" r:id="rId15"/>
    <p:sldId id="402" r:id="rId16"/>
    <p:sldId id="403" r:id="rId17"/>
    <p:sldId id="404" r:id="rId18"/>
    <p:sldId id="405" r:id="rId19"/>
    <p:sldId id="406" r:id="rId20"/>
    <p:sldId id="407" r:id="rId21"/>
    <p:sldId id="408" r:id="rId22"/>
    <p:sldId id="409" r:id="rId23"/>
    <p:sldId id="410" r:id="rId24"/>
    <p:sldId id="411" r:id="rId25"/>
    <p:sldId id="412" r:id="rId26"/>
    <p:sldId id="413" r:id="rId27"/>
    <p:sldId id="414" r:id="rId28"/>
    <p:sldId id="394" r:id="rId29"/>
    <p:sldId id="341" r:id="rId30"/>
    <p:sldId id="395" r:id="rId31"/>
    <p:sldId id="361" r:id="rId32"/>
    <p:sldId id="369" r:id="rId33"/>
    <p:sldId id="370" r:id="rId34"/>
    <p:sldId id="368" r:id="rId35"/>
    <p:sldId id="362" r:id="rId36"/>
    <p:sldId id="363" r:id="rId37"/>
    <p:sldId id="364" r:id="rId38"/>
    <p:sldId id="365" r:id="rId39"/>
    <p:sldId id="366" r:id="rId40"/>
    <p:sldId id="367" r:id="rId41"/>
    <p:sldId id="371" r:id="rId42"/>
    <p:sldId id="355" r:id="rId43"/>
    <p:sldId id="372" r:id="rId44"/>
    <p:sldId id="373" r:id="rId45"/>
    <p:sldId id="374" r:id="rId46"/>
    <p:sldId id="375" r:id="rId47"/>
    <p:sldId id="376" r:id="rId48"/>
    <p:sldId id="377" r:id="rId49"/>
    <p:sldId id="378" r:id="rId50"/>
    <p:sldId id="382" r:id="rId51"/>
    <p:sldId id="383" r:id="rId52"/>
    <p:sldId id="384" r:id="rId53"/>
    <p:sldId id="385" r:id="rId54"/>
    <p:sldId id="386" r:id="rId55"/>
    <p:sldId id="379" r:id="rId56"/>
    <p:sldId id="387" r:id="rId57"/>
    <p:sldId id="381" r:id="rId58"/>
    <p:sldId id="380" r:id="rId59"/>
    <p:sldId id="360" r:id="rId60"/>
    <p:sldId id="388" r:id="rId61"/>
    <p:sldId id="390" r:id="rId62"/>
    <p:sldId id="391" r:id="rId63"/>
    <p:sldId id="392" r:id="rId64"/>
    <p:sldId id="389" r:id="rId65"/>
    <p:sldId id="393" r:id="rId66"/>
    <p:sldId id="342" r:id="rId67"/>
    <p:sldId id="343" r:id="rId68"/>
    <p:sldId id="347" r:id="rId69"/>
    <p:sldId id="348" r:id="rId70"/>
    <p:sldId id="351" r:id="rId71"/>
    <p:sldId id="344" r:id="rId72"/>
    <p:sldId id="350" r:id="rId73"/>
    <p:sldId id="345" r:id="rId74"/>
    <p:sldId id="353" r:id="rId75"/>
    <p:sldId id="354" r:id="rId76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971" userDrawn="1">
          <p15:clr>
            <a:srgbClr val="A4A3A4"/>
          </p15:clr>
        </p15:guide>
        <p15:guide id="2" pos="3840" userDrawn="1">
          <p15:clr>
            <a:srgbClr val="A4A3A4"/>
          </p15:clr>
        </p15:guide>
      </p15:sldGuideLst>
    </p:ext>
  </p:extLst>
</p:presentation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1" name="admin" initials="a" lastIdx="1" clrIdx="0"/>
  <p:cmAuthor id="2" name="Author" initials="A" lastIdx="0" clrIdx="1"/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F7F7F7"/>
    <a:srgbClr val="878783"/>
    <a:srgbClr val="E0E0E0"/>
    <a:srgbClr val="FDFDFD"/>
    <a:srgbClr val="1C75BC"/>
    <a:srgbClr val="BCBEC0"/>
    <a:srgbClr val="1F6108"/>
    <a:srgbClr val="26700A"/>
    <a:srgbClr val="1A5A08"/>
    <a:srgbClr val="5B5B5F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0694" autoAdjust="0"/>
    <p:restoredTop sz="94660"/>
  </p:normalViewPr>
  <p:slideViewPr>
    <p:cSldViewPr snapToGrid="0" showGuides="1">
      <p:cViewPr>
        <p:scale>
          <a:sx n="60" d="100"/>
          <a:sy n="60" d="100"/>
        </p:scale>
        <p:origin x="330" y="384"/>
      </p:cViewPr>
      <p:guideLst>
        <p:guide orient="horz" pos="971"/>
        <p:guide pos="3840"/>
      </p:guideLst>
    </p:cSldViewPr>
  </p:slideViewPr>
  <p:notesTextViewPr>
    <p:cViewPr>
      <p:scale>
        <a:sx n="1" d="1"/>
        <a:sy n="1" d="1"/>
      </p:scale>
      <p:origin x="0" y="0"/>
    </p:cViewPr>
  </p:notesTextViewPr>
  <p:sorterViewPr>
    <p:cViewPr>
      <p:scale>
        <a:sx n="66" d="100"/>
        <a:sy n="66" d="100"/>
      </p:scale>
      <p:origin x="0" y="-7908"/>
    </p:cViewPr>
  </p:sorterViewPr>
  <p:notesViewPr>
    <p:cSldViewPr snapToGrid="0">
      <p:cViewPr varScale="1">
        <p:scale>
          <a:sx n="83" d="100"/>
          <a:sy n="83" d="100"/>
        </p:scale>
        <p:origin x="3828" y="66"/>
      </p:cViewPr>
      <p:guideLst/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9" Type="http://schemas.openxmlformats.org/officeDocument/2006/relationships/slide" Target="slides/slide6.xml"/><Relationship Id="rId81" Type="http://schemas.openxmlformats.org/officeDocument/2006/relationships/commentAuthors" Target="commentAuthors.xml"/><Relationship Id="rId80" Type="http://schemas.openxmlformats.org/officeDocument/2006/relationships/tableStyles" Target="tableStyles.xml"/><Relationship Id="rId8" Type="http://schemas.openxmlformats.org/officeDocument/2006/relationships/slide" Target="slides/slide5.xml"/><Relationship Id="rId79" Type="http://schemas.openxmlformats.org/officeDocument/2006/relationships/viewProps" Target="viewProps.xml"/><Relationship Id="rId78" Type="http://schemas.openxmlformats.org/officeDocument/2006/relationships/presProps" Target="presProps.xml"/><Relationship Id="rId77" Type="http://schemas.openxmlformats.org/officeDocument/2006/relationships/handoutMaster" Target="handoutMasters/handoutMaster1.xml"/><Relationship Id="rId76" Type="http://schemas.openxmlformats.org/officeDocument/2006/relationships/slide" Target="slides/slide73.xml"/><Relationship Id="rId75" Type="http://schemas.openxmlformats.org/officeDocument/2006/relationships/slide" Target="slides/slide72.xml"/><Relationship Id="rId74" Type="http://schemas.openxmlformats.org/officeDocument/2006/relationships/slide" Target="slides/slide71.xml"/><Relationship Id="rId73" Type="http://schemas.openxmlformats.org/officeDocument/2006/relationships/slide" Target="slides/slide70.xml"/><Relationship Id="rId72" Type="http://schemas.openxmlformats.org/officeDocument/2006/relationships/slide" Target="slides/slide69.xml"/><Relationship Id="rId71" Type="http://schemas.openxmlformats.org/officeDocument/2006/relationships/slide" Target="slides/slide68.xml"/><Relationship Id="rId70" Type="http://schemas.openxmlformats.org/officeDocument/2006/relationships/slide" Target="slides/slide67.xml"/><Relationship Id="rId7" Type="http://schemas.openxmlformats.org/officeDocument/2006/relationships/slide" Target="slides/slide4.xml"/><Relationship Id="rId69" Type="http://schemas.openxmlformats.org/officeDocument/2006/relationships/slide" Target="slides/slide66.xml"/><Relationship Id="rId68" Type="http://schemas.openxmlformats.org/officeDocument/2006/relationships/slide" Target="slides/slide65.xml"/><Relationship Id="rId67" Type="http://schemas.openxmlformats.org/officeDocument/2006/relationships/slide" Target="slides/slide64.xml"/><Relationship Id="rId66" Type="http://schemas.openxmlformats.org/officeDocument/2006/relationships/slide" Target="slides/slide63.xml"/><Relationship Id="rId65" Type="http://schemas.openxmlformats.org/officeDocument/2006/relationships/slide" Target="slides/slide62.xml"/><Relationship Id="rId64" Type="http://schemas.openxmlformats.org/officeDocument/2006/relationships/slide" Target="slides/slide61.xml"/><Relationship Id="rId63" Type="http://schemas.openxmlformats.org/officeDocument/2006/relationships/slide" Target="slides/slide60.xml"/><Relationship Id="rId62" Type="http://schemas.openxmlformats.org/officeDocument/2006/relationships/slide" Target="slides/slide59.xml"/><Relationship Id="rId61" Type="http://schemas.openxmlformats.org/officeDocument/2006/relationships/slide" Target="slides/slide58.xml"/><Relationship Id="rId60" Type="http://schemas.openxmlformats.org/officeDocument/2006/relationships/slide" Target="slides/slide57.xml"/><Relationship Id="rId6" Type="http://schemas.openxmlformats.org/officeDocument/2006/relationships/slide" Target="slides/slide3.xml"/><Relationship Id="rId59" Type="http://schemas.openxmlformats.org/officeDocument/2006/relationships/slide" Target="slides/slide56.xml"/><Relationship Id="rId58" Type="http://schemas.openxmlformats.org/officeDocument/2006/relationships/slide" Target="slides/slide55.xml"/><Relationship Id="rId57" Type="http://schemas.openxmlformats.org/officeDocument/2006/relationships/slide" Target="slides/slide54.xml"/><Relationship Id="rId56" Type="http://schemas.openxmlformats.org/officeDocument/2006/relationships/slide" Target="slides/slide53.xml"/><Relationship Id="rId55" Type="http://schemas.openxmlformats.org/officeDocument/2006/relationships/slide" Target="slides/slide52.xml"/><Relationship Id="rId54" Type="http://schemas.openxmlformats.org/officeDocument/2006/relationships/slide" Target="slides/slide51.xml"/><Relationship Id="rId53" Type="http://schemas.openxmlformats.org/officeDocument/2006/relationships/slide" Target="slides/slide50.xml"/><Relationship Id="rId52" Type="http://schemas.openxmlformats.org/officeDocument/2006/relationships/slide" Target="slides/slide49.xml"/><Relationship Id="rId51" Type="http://schemas.openxmlformats.org/officeDocument/2006/relationships/slide" Target="slides/slide48.xml"/><Relationship Id="rId50" Type="http://schemas.openxmlformats.org/officeDocument/2006/relationships/slide" Target="slides/slide47.xml"/><Relationship Id="rId5" Type="http://schemas.openxmlformats.org/officeDocument/2006/relationships/slide" Target="slides/slide2.xml"/><Relationship Id="rId49" Type="http://schemas.openxmlformats.org/officeDocument/2006/relationships/slide" Target="slides/slide46.xml"/><Relationship Id="rId48" Type="http://schemas.openxmlformats.org/officeDocument/2006/relationships/slide" Target="slides/slide45.xml"/><Relationship Id="rId47" Type="http://schemas.openxmlformats.org/officeDocument/2006/relationships/slide" Target="slides/slide44.xml"/><Relationship Id="rId46" Type="http://schemas.openxmlformats.org/officeDocument/2006/relationships/slide" Target="slides/slide43.xml"/><Relationship Id="rId45" Type="http://schemas.openxmlformats.org/officeDocument/2006/relationships/slide" Target="slides/slide42.xml"/><Relationship Id="rId44" Type="http://schemas.openxmlformats.org/officeDocument/2006/relationships/slide" Target="slides/slide41.xml"/><Relationship Id="rId43" Type="http://schemas.openxmlformats.org/officeDocument/2006/relationships/slide" Target="slides/slide40.xml"/><Relationship Id="rId42" Type="http://schemas.openxmlformats.org/officeDocument/2006/relationships/slide" Target="slides/slide39.xml"/><Relationship Id="rId41" Type="http://schemas.openxmlformats.org/officeDocument/2006/relationships/slide" Target="slides/slide38.xml"/><Relationship Id="rId40" Type="http://schemas.openxmlformats.org/officeDocument/2006/relationships/slide" Target="slides/slide37.xml"/><Relationship Id="rId4" Type="http://schemas.openxmlformats.org/officeDocument/2006/relationships/notesMaster" Target="notesMasters/notesMaster1.xml"/><Relationship Id="rId39" Type="http://schemas.openxmlformats.org/officeDocument/2006/relationships/slide" Target="slides/slide36.xml"/><Relationship Id="rId38" Type="http://schemas.openxmlformats.org/officeDocument/2006/relationships/slide" Target="slides/slide35.xml"/><Relationship Id="rId37" Type="http://schemas.openxmlformats.org/officeDocument/2006/relationships/slide" Target="slides/slide34.xml"/><Relationship Id="rId36" Type="http://schemas.openxmlformats.org/officeDocument/2006/relationships/slide" Target="slides/slide33.xml"/><Relationship Id="rId35" Type="http://schemas.openxmlformats.org/officeDocument/2006/relationships/slide" Target="slides/slide32.xml"/><Relationship Id="rId34" Type="http://schemas.openxmlformats.org/officeDocument/2006/relationships/slide" Target="slides/slide31.xml"/><Relationship Id="rId33" Type="http://schemas.openxmlformats.org/officeDocument/2006/relationships/slide" Target="slides/slide30.xml"/><Relationship Id="rId32" Type="http://schemas.openxmlformats.org/officeDocument/2006/relationships/slide" Target="slides/slide29.xml"/><Relationship Id="rId31" Type="http://schemas.openxmlformats.org/officeDocument/2006/relationships/slide" Target="slides/slide28.xml"/><Relationship Id="rId30" Type="http://schemas.openxmlformats.org/officeDocument/2006/relationships/slide" Target="slides/slide27.xml"/><Relationship Id="rId3" Type="http://schemas.openxmlformats.org/officeDocument/2006/relationships/slide" Target="slides/slide1.xml"/><Relationship Id="rId29" Type="http://schemas.openxmlformats.org/officeDocument/2006/relationships/slide" Target="slides/slide26.xml"/><Relationship Id="rId28" Type="http://schemas.openxmlformats.org/officeDocument/2006/relationships/slide" Target="slides/slide25.xml"/><Relationship Id="rId27" Type="http://schemas.openxmlformats.org/officeDocument/2006/relationships/slide" Target="slides/slide24.xml"/><Relationship Id="rId26" Type="http://schemas.openxmlformats.org/officeDocument/2006/relationships/slide" Target="slides/slide23.xml"/><Relationship Id="rId25" Type="http://schemas.openxmlformats.org/officeDocument/2006/relationships/slide" Target="slides/slide22.xml"/><Relationship Id="rId24" Type="http://schemas.openxmlformats.org/officeDocument/2006/relationships/slide" Target="slides/slide21.xml"/><Relationship Id="rId23" Type="http://schemas.openxmlformats.org/officeDocument/2006/relationships/slide" Target="slides/slide20.xml"/><Relationship Id="rId22" Type="http://schemas.openxmlformats.org/officeDocument/2006/relationships/slide" Target="slides/slide19.xml"/><Relationship Id="rId21" Type="http://schemas.openxmlformats.org/officeDocument/2006/relationships/slide" Target="slides/slide18.xml"/><Relationship Id="rId20" Type="http://schemas.openxmlformats.org/officeDocument/2006/relationships/slide" Target="slides/slide17.xml"/><Relationship Id="rId2" Type="http://schemas.openxmlformats.org/officeDocument/2006/relationships/theme" Target="theme/theme1.xml"/><Relationship Id="rId19" Type="http://schemas.openxmlformats.org/officeDocument/2006/relationships/slide" Target="slides/slide16.xml"/><Relationship Id="rId18" Type="http://schemas.openxmlformats.org/officeDocument/2006/relationships/slide" Target="slides/slide15.xml"/><Relationship Id="rId17" Type="http://schemas.openxmlformats.org/officeDocument/2006/relationships/slide" Target="slides/slide14.xml"/><Relationship Id="rId16" Type="http://schemas.openxmlformats.org/officeDocument/2006/relationships/slide" Target="slides/slide13.xml"/><Relationship Id="rId15" Type="http://schemas.openxmlformats.org/officeDocument/2006/relationships/slide" Target="slides/slide12.xml"/><Relationship Id="rId14" Type="http://schemas.openxmlformats.org/officeDocument/2006/relationships/slide" Target="slides/slide11.xml"/><Relationship Id="rId13" Type="http://schemas.openxmlformats.org/officeDocument/2006/relationships/slide" Target="slides/slide10.xml"/><Relationship Id="rId12" Type="http://schemas.openxmlformats.org/officeDocument/2006/relationships/slide" Target="slides/slide9.xml"/><Relationship Id="rId11" Type="http://schemas.openxmlformats.org/officeDocument/2006/relationships/slide" Target="slides/slide8.xml"/><Relationship Id="rId10" Type="http://schemas.openxmlformats.org/officeDocument/2006/relationships/slide" Target="slides/slide7.xml"/><Relationship Id="rId1" Type="http://schemas.openxmlformats.org/officeDocument/2006/relationships/slideMaster" Target="slideMasters/slideMaster1.xml"/></Relationships>
</file>

<file path=ppt/charts/_rels/chart1.xml.rels><?xml version="1.0" encoding="UTF-8" standalone="yes"?>
<Relationships xmlns="http://schemas.openxmlformats.org/package/2006/relationships"><Relationship Id="rId3" Type="http://schemas.microsoft.com/office/2011/relationships/chartColorStyle" Target="colors1.xml"/><Relationship Id="rId2" Type="http://schemas.microsoft.com/office/2011/relationships/chartStyle" Target="style1.xml"/><Relationship Id="rId1" Type="http://schemas.openxmlformats.org/officeDocument/2006/relationships/package" Target="../embeddings/Workbook1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lang val="zh-CN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1"/>
    <c:plotArea>
      <c:layout>
        <c:manualLayout>
          <c:layoutTarget val="inner"/>
          <c:xMode val="edge"/>
          <c:yMode val="edge"/>
          <c:x val="0.0543473336642508"/>
          <c:y val="0.135827627369307"/>
          <c:w val="0.918747965036599"/>
          <c:h val="0.694309899135799"/>
        </c:manualLayout>
      </c:layout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Series 1</c:v>
                </c:pt>
              </c:strCache>
            </c:strRef>
          </c:tx>
          <c:spPr>
            <a:solidFill>
              <a:schemeClr val="bg1">
                <a:lumMod val="85000"/>
              </a:schemeClr>
            </a:solidFill>
            <a:ln>
              <a:noFill/>
            </a:ln>
            <a:effectLst/>
          </c:spPr>
          <c:invertIfNegative val="0"/>
          <c:dLbls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lIns="38100" tIns="19050" rIns="38100" bIns="19050" anchor="ctr" anchorCtr="1">
                <a:spAutoFit/>
              </a:bodyPr>
              <a:lstStyle/>
              <a:p>
                <a:pPr>
                  <a:defRPr lang="zh-CN" sz="1200" b="0" i="0" u="none" strike="noStrike" kern="1200" baseline="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Open Sans" panose="020B0606030504020204" charset="0"/>
                    <a:ea typeface="Open Sans" panose="020B0606030504020204" charset="0"/>
                    <a:cs typeface="Open Sans" panose="020B0606030504020204" charset="0"/>
                  </a:defRPr>
                </a:pPr>
              </a:p>
            </c:txPr>
            <c:dLblPos val="outEnd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layout/>
                <c15:showLeaderLines val="1"/>
                <c15:leaderLines>
                  <c:spPr>
                    <a:ln w="9525" cap="flat" cmpd="sng" algn="ctr">
                      <a:solidFill>
                        <a:schemeClr val="tx1">
                          <a:lumMod val="35000"/>
                          <a:lumOff val="65000"/>
                        </a:schemeClr>
                      </a:solidFill>
                      <a:round/>
                    </a:ln>
                    <a:effectLst/>
                  </c:spPr>
                </c15:leaderLines>
              </c:ext>
            </c:extLst>
          </c:dLbls>
          <c:cat>
            <c:strRef>
              <c:f>Sheet1!$A$2:$A$5</c:f>
              <c:strCache>
                <c:ptCount val="4"/>
                <c:pt idx="0">
                  <c:v>Category 1</c:v>
                </c:pt>
                <c:pt idx="1">
                  <c:v>Category 2</c:v>
                </c:pt>
                <c:pt idx="2">
                  <c:v>Category 3</c:v>
                </c:pt>
                <c:pt idx="3">
                  <c:v>Category 4</c:v>
                </c:pt>
              </c:strCache>
            </c:strRef>
          </c:cat>
          <c:val>
            <c:numRef>
              <c:f>Sheet1!$B$2:$B$5</c:f>
              <c:numCache>
                <c:formatCode>General</c:formatCode>
                <c:ptCount val="4"/>
                <c:pt idx="0">
                  <c:v>4.3</c:v>
                </c:pt>
                <c:pt idx="1">
                  <c:v>2.5</c:v>
                </c:pt>
                <c:pt idx="2">
                  <c:v>3.5</c:v>
                </c:pt>
                <c:pt idx="3">
                  <c:v>4.5</c:v>
                </c:pt>
              </c:numCache>
            </c:numRef>
          </c:val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Series 2</c:v>
                </c:pt>
              </c:strCache>
            </c:strRef>
          </c:tx>
          <c:spPr>
            <a:solidFill>
              <a:schemeClr val="bg1">
                <a:lumMod val="75000"/>
              </a:schemeClr>
            </a:solidFill>
            <a:ln>
              <a:noFill/>
            </a:ln>
            <a:effectLst/>
          </c:spPr>
          <c:invertIfNegative val="0"/>
          <c:dLbls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lIns="38100" tIns="19050" rIns="38100" bIns="19050" anchor="ctr" anchorCtr="1">
                <a:spAutoFit/>
              </a:bodyPr>
              <a:lstStyle/>
              <a:p>
                <a:pPr>
                  <a:defRPr lang="zh-CN" sz="1200" b="0" i="0" u="none" strike="noStrike" kern="1200" baseline="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Open Sans" panose="020B0606030504020204" charset="0"/>
                    <a:ea typeface="Open Sans" panose="020B0606030504020204" charset="0"/>
                    <a:cs typeface="Open Sans" panose="020B0606030504020204" charset="0"/>
                  </a:defRPr>
                </a:pPr>
              </a:p>
            </c:txPr>
            <c:dLblPos val="outEnd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layout/>
                <c15:showLeaderLines val="1"/>
                <c15:leaderLines>
                  <c:spPr>
                    <a:ln w="9525" cap="flat" cmpd="sng" algn="ctr">
                      <a:solidFill>
                        <a:schemeClr val="tx1">
                          <a:lumMod val="35000"/>
                          <a:lumOff val="65000"/>
                        </a:schemeClr>
                      </a:solidFill>
                      <a:round/>
                    </a:ln>
                    <a:effectLst/>
                  </c:spPr>
                </c15:leaderLines>
              </c:ext>
            </c:extLst>
          </c:dLbls>
          <c:cat>
            <c:strRef>
              <c:f>Sheet1!$A$2:$A$5</c:f>
              <c:strCache>
                <c:ptCount val="4"/>
                <c:pt idx="0">
                  <c:v>Category 1</c:v>
                </c:pt>
                <c:pt idx="1">
                  <c:v>Category 2</c:v>
                </c:pt>
                <c:pt idx="2">
                  <c:v>Category 3</c:v>
                </c:pt>
                <c:pt idx="3">
                  <c:v>Category 4</c:v>
                </c:pt>
              </c:strCache>
            </c:strRef>
          </c:cat>
          <c:val>
            <c:numRef>
              <c:f>Sheet1!$C$2:$C$5</c:f>
              <c:numCache>
                <c:formatCode>General</c:formatCode>
                <c:ptCount val="4"/>
                <c:pt idx="0">
                  <c:v>2.4</c:v>
                </c:pt>
                <c:pt idx="1">
                  <c:v>4.4</c:v>
                </c:pt>
                <c:pt idx="2">
                  <c:v>1.8</c:v>
                </c:pt>
                <c:pt idx="3">
                  <c:v>2.8</c:v>
                </c:pt>
              </c:numCache>
            </c:numRef>
          </c:val>
        </c:ser>
        <c:ser>
          <c:idx val="2"/>
          <c:order val="2"/>
          <c:tx>
            <c:strRef>
              <c:f>Sheet1!$D$1</c:f>
              <c:strCache>
                <c:ptCount val="1"/>
                <c:pt idx="0">
                  <c:v>Series 3</c:v>
                </c:pt>
              </c:strCache>
            </c:strRef>
          </c:tx>
          <c:spPr>
            <a:solidFill>
              <a:schemeClr val="tx1"/>
            </a:solidFill>
            <a:ln w="25400">
              <a:noFill/>
              <a:headEnd w="lg" len="lg"/>
              <a:tailEnd w="lg" len="lg"/>
            </a:ln>
            <a:effectLst/>
          </c:spPr>
          <c:invertIfNegative val="0"/>
          <c:dLbls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lIns="38100" tIns="19050" rIns="38100" bIns="19050" anchor="ctr" anchorCtr="1">
                <a:spAutoFit/>
              </a:bodyPr>
              <a:lstStyle/>
              <a:p>
                <a:pPr>
                  <a:defRPr lang="zh-CN" sz="1200" b="0" i="0" u="none" strike="noStrike" kern="1200" baseline="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Open Sans" panose="020B0606030504020204" charset="0"/>
                    <a:ea typeface="Open Sans" panose="020B0606030504020204" charset="0"/>
                    <a:cs typeface="Open Sans" panose="020B0606030504020204" charset="0"/>
                  </a:defRPr>
                </a:pPr>
              </a:p>
            </c:txPr>
            <c:dLblPos val="outEnd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layout/>
                <c15:showLeaderLines val="1"/>
                <c15:leaderLines>
                  <c:spPr>
                    <a:ln w="9525" cap="flat" cmpd="sng" algn="ctr">
                      <a:solidFill>
                        <a:schemeClr val="tx1">
                          <a:lumMod val="35000"/>
                          <a:lumOff val="65000"/>
                        </a:schemeClr>
                      </a:solidFill>
                      <a:round/>
                    </a:ln>
                    <a:effectLst/>
                  </c:spPr>
                </c15:leaderLines>
              </c:ext>
            </c:extLst>
          </c:dLbls>
          <c:cat>
            <c:strRef>
              <c:f>Sheet1!$A$2:$A$5</c:f>
              <c:strCache>
                <c:ptCount val="4"/>
                <c:pt idx="0">
                  <c:v>Category 1</c:v>
                </c:pt>
                <c:pt idx="1">
                  <c:v>Category 2</c:v>
                </c:pt>
                <c:pt idx="2">
                  <c:v>Category 3</c:v>
                </c:pt>
                <c:pt idx="3">
                  <c:v>Category 4</c:v>
                </c:pt>
              </c:strCache>
            </c:strRef>
          </c:cat>
          <c:val>
            <c:numRef>
              <c:f>Sheet1!$D$2:$D$5</c:f>
              <c:numCache>
                <c:formatCode>General</c:formatCode>
                <c:ptCount val="4"/>
                <c:pt idx="0">
                  <c:v>2</c:v>
                </c:pt>
                <c:pt idx="1">
                  <c:v>2</c:v>
                </c:pt>
                <c:pt idx="2">
                  <c:v>3</c:v>
                </c:pt>
                <c:pt idx="3">
                  <c:v>5</c:v>
                </c:pt>
              </c:numCache>
            </c:numRef>
          </c:val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150"/>
        <c:axId val="397555472"/>
        <c:axId val="397681248"/>
      </c:barChart>
      <c:catAx>
        <c:axId val="397555472"/>
        <c:scaling>
          <c:orientation val="minMax"/>
        </c:scaling>
        <c:delete val="0"/>
        <c:axPos val="b"/>
        <c:numFmt formatCode="General" sourceLinked="1"/>
        <c:majorTickMark val="none"/>
        <c:minorTickMark val="none"/>
        <c:tickLblPos val="nextTo"/>
        <c:spPr>
          <a:noFill/>
          <a:ln w="9525" cap="flat" cmpd="sng" algn="ctr">
            <a:solidFill>
              <a:schemeClr val="tx1">
                <a:lumMod val="15000"/>
                <a:lumOff val="8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lang="zh-CN" sz="12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Open Sans" panose="020B0606030504020204" charset="0"/>
                <a:ea typeface="Open Sans" panose="020B0606030504020204" charset="0"/>
                <a:cs typeface="Open Sans" panose="020B0606030504020204" charset="0"/>
              </a:defRPr>
            </a:pPr>
          </a:p>
        </c:txPr>
        <c:crossAx val="397681248"/>
        <c:crosses val="autoZero"/>
        <c:auto val="1"/>
        <c:lblAlgn val="ctr"/>
        <c:lblOffset val="100"/>
        <c:noMultiLvlLbl val="0"/>
      </c:catAx>
      <c:valAx>
        <c:axId val="397681248"/>
        <c:scaling>
          <c:orientation val="minMax"/>
        </c:scaling>
        <c:delete val="0"/>
        <c:axPos val="l"/>
        <c:majorGridlines>
          <c:spPr>
            <a:ln w="9525" cap="flat" cmpd="sng" algn="ctr">
              <a:solidFill>
                <a:schemeClr val="tx1">
                  <a:lumMod val="15000"/>
                  <a:lumOff val="85000"/>
                </a:schemeClr>
              </a:solidFill>
              <a:round/>
            </a:ln>
            <a:effectLst/>
          </c:spPr>
        </c:majorGridlines>
        <c:numFmt formatCode="General" sourceLinked="1"/>
        <c:majorTickMark val="none"/>
        <c:minorTickMark val="none"/>
        <c:tickLblPos val="nextTo"/>
        <c:spPr>
          <a:noFill/>
          <a:ln>
            <a:noFill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lang="zh-CN" sz="12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Open Sans" panose="020B0606030504020204" charset="0"/>
                <a:ea typeface="Open Sans" panose="020B0606030504020204" charset="0"/>
                <a:cs typeface="Open Sans" panose="020B0606030504020204" charset="0"/>
              </a:defRPr>
            </a:pPr>
          </a:p>
        </c:txPr>
        <c:crossAx val="397555472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b"/>
      <c:layout>
        <c:manualLayout>
          <c:xMode val="edge"/>
          <c:yMode val="edge"/>
          <c:x val="0.254455245797505"/>
          <c:y val="0.0212438126872817"/>
          <c:w val="0.443016787816587"/>
          <c:h val="0.0684629696191851"/>
        </c:manualLayout>
      </c:layout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lang="zh-CN" sz="1200" b="0" i="0" u="none" strike="noStrike" kern="1200" baseline="0">
              <a:solidFill>
                <a:schemeClr val="tx1">
                  <a:lumMod val="65000"/>
                  <a:lumOff val="35000"/>
                </a:schemeClr>
              </a:solidFill>
              <a:latin typeface="Open Sans" panose="020B0606030504020204" charset="0"/>
              <a:ea typeface="Open Sans" panose="020B0606030504020204" charset="0"/>
              <a:cs typeface="Open Sans" panose="020B0606030504020204" charset="0"/>
            </a:defRPr>
          </a:pPr>
        </a:p>
      </c:txPr>
    </c:legend>
    <c:plotVisOnly val="1"/>
    <c:dispBlanksAs val="gap"/>
    <c:showDLblsOverMax val="0"/>
    <c:extLst>
      <c:ext uri="{0b15fc19-7d7d-44ad-8c2d-2c3a37ce22c3}">
        <chartProps xmlns="https://web.wps.cn/et/2018/main" chartId="{e7b89cff-015a-4a6e-99b5-bd85c33ec0d7}"/>
      </c:ext>
    </c:extLst>
  </c:chart>
  <c:spPr>
    <a:noFill/>
    <a:ln>
      <a:noFill/>
    </a:ln>
    <a:effectLst/>
  </c:spPr>
  <c:txPr>
    <a:bodyPr/>
    <a:lstStyle/>
    <a:p>
      <a:pPr>
        <a:defRPr lang="zh-CN" sz="1200">
          <a:latin typeface="Open Sans" panose="020B0606030504020204" charset="0"/>
          <a:ea typeface="Open Sans" panose="020B0606030504020204" charset="0"/>
          <a:cs typeface="Open Sans" panose="020B0606030504020204" charset="0"/>
        </a:defRPr>
      </a:pPr>
    </a:p>
  </c:txPr>
  <c:externalData r:id="rId1">
    <c:autoUpdate val="0"/>
  </c:externalData>
</c:chartSpace>
</file>

<file path=ppt/charts/colors1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style1.xml><?xml version="1.0" encoding="utf-8"?>
<cs:chartStyle xmlns:cs="http://schemas.microsoft.com/office/drawing/2012/chartStyle" xmlns:a="http://schemas.openxmlformats.org/drawingml/2006/main" id="227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33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5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33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1195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1195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  <cs:spPr>
      <a:solidFill>
        <a:schemeClr val="phClr"/>
      </a:solidFill>
    </cs:spPr>
  </cs:dataPoint>
  <cs:dataPoint3D>
    <cs:lnRef idx="0"/>
    <cs:fillRef idx="1">
      <cs:styleClr val="auto"/>
    </cs:fillRef>
    <cs:effectRef idx="0"/>
    <cs:fontRef idx="minor">
      <a:schemeClr val="tx1"/>
    </cs:fontRef>
    <cs:spPr>
      <a:solidFill>
        <a:schemeClr val="phClr"/>
      </a:solidFill>
    </cs:spPr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solidFill>
        <a:schemeClr val="phClr"/>
      </a:solidFill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5" kern="1200"/>
  </cs:dataTable>
  <cs:downBar>
    <cs:lnRef idx="0"/>
    <cs:fillRef idx="0"/>
    <cs:effectRef idx="0"/>
    <cs:fontRef idx="minor">
      <a:schemeClr val="dk1"/>
    </cs:fontRef>
    <cs:spPr>
      <a:solidFill>
        <a:schemeClr val="dk1">
          <a:lumMod val="65000"/>
          <a:lumOff val="35000"/>
        </a:schemeClr>
      </a:solidFill>
      <a:ln w="9525">
        <a:solidFill>
          <a:schemeClr val="tx1">
            <a:lumMod val="65000"/>
            <a:lumOff val="35000"/>
          </a:schemeClr>
        </a:solidFill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75000"/>
            <a:lumOff val="25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1195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1195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860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1195" kern="1200"/>
  </cs:trendlineLabel>
  <cs:upBar>
    <cs:lnRef idx="0"/>
    <cs:fillRef idx="0"/>
    <cs:effectRef idx="0"/>
    <cs:fontRef idx="minor">
      <a:schemeClr val="dk1"/>
    </cs:fontRef>
    <cs:spPr>
      <a:solidFill>
        <a:schemeClr val="lt1"/>
      </a:solidFill>
      <a:ln w="9525">
        <a:solidFill>
          <a:schemeClr val="tx1">
            <a:lumMod val="15000"/>
            <a:lumOff val="85000"/>
          </a:schemeClr>
        </a:solidFill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1195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D85CF35C-D8B4-40CD-AC4B-EB87F13805C3}" type="datetimeFigureOut">
              <a:rPr lang="en-US" smtClean="0"/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E0DD243B-FFB1-446E-9114-40ACCD7DCCD8}" type="slidenum">
              <a:rPr lang="en-US" smtClean="0"/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997604B2-0104-47E2-A454-F16A8221FE53}" type="datetimeFigureOut">
              <a:rPr lang="en-US" smtClean="0"/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28549D33-5D85-48A9-B874-2732B52B07D8}" type="slidenum">
              <a:rPr lang="en-US" smtClean="0"/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73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006BE02D-20C0-F840-AFAC-BEA99C74FDC2}" type="slidenum">
              <a:rPr lang="en-US" smtClean="0"/>
            </a:fld>
            <a:endParaRPr lang="en-US" dirty="0"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006BE02D-20C0-F840-AFAC-BEA99C74FDC2}" type="slidenum">
              <a:rPr lang="en-US" smtClean="0"/>
            </a:fld>
            <a:endParaRPr lang="en-US" dirty="0"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图片 1" descr="1-01"/>
          <p:cNvPicPr>
            <a:picLocks noChangeAspect="1"/>
          </p:cNvPicPr>
          <p:nvPr userDrawn="1"/>
        </p:nvPicPr>
        <p:blipFill>
          <a:blip r:embed="rId2"/>
          <a:srcRect t="15612"/>
          <a:stretch>
            <a:fillRect/>
          </a:stretch>
        </p:blipFill>
        <p:spPr>
          <a:xfrm>
            <a:off x="-9525" y="-15875"/>
            <a:ext cx="12197080" cy="6864985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Index">
    <p:bg>
      <p:bgPr>
        <a:solidFill>
          <a:srgbClr val="FDFDF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图片 5" descr="C:\Users\Administrator\Desktop\2-01.png2-01"/>
          <p:cNvPicPr>
            <a:picLocks noChangeAspect="1"/>
          </p:cNvPicPr>
          <p:nvPr userDrawn="1"/>
        </p:nvPicPr>
        <p:blipFill>
          <a:blip r:embed="rId2"/>
          <a:srcRect/>
          <a:stretch>
            <a:fillRect/>
          </a:stretch>
        </p:blipFill>
        <p:spPr>
          <a:xfrm>
            <a:off x="-6985" y="-15875"/>
            <a:ext cx="10292080" cy="6864985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_Custom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图片 3" descr="C:\Users\Administrator\Desktop\2-01.png2-01"/>
          <p:cNvPicPr>
            <a:picLocks noChangeAspect="1"/>
          </p:cNvPicPr>
          <p:nvPr userDrawn="1"/>
        </p:nvPicPr>
        <p:blipFill>
          <a:blip r:embed="rId2"/>
          <a:srcRect/>
          <a:stretch>
            <a:fillRect/>
          </a:stretch>
        </p:blipFill>
        <p:spPr>
          <a:xfrm flipH="1">
            <a:off x="1906905" y="-15875"/>
            <a:ext cx="10292080" cy="6864985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and Contents 0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图片 3" descr="C:\Users\Administrator\Desktop\2-01.png2-01"/>
          <p:cNvPicPr>
            <a:picLocks noChangeAspect="1"/>
          </p:cNvPicPr>
          <p:nvPr userDrawn="1"/>
        </p:nvPicPr>
        <p:blipFill>
          <a:blip r:embed="rId2"/>
          <a:srcRect l="3118"/>
          <a:stretch>
            <a:fillRect/>
          </a:stretch>
        </p:blipFill>
        <p:spPr>
          <a:xfrm flipH="1">
            <a:off x="5913755" y="-1905"/>
            <a:ext cx="6274435" cy="4319905"/>
          </a:xfrm>
          <a:prstGeom prst="rect">
            <a:avLst/>
          </a:prstGeom>
        </p:spPr>
      </p:pic>
      <p:pic>
        <p:nvPicPr>
          <p:cNvPr id="5" name="图片 4" descr="C:\Users\Administrator\Desktop\2-01.png2-01"/>
          <p:cNvPicPr>
            <a:picLocks noChangeAspect="1"/>
          </p:cNvPicPr>
          <p:nvPr userDrawn="1"/>
        </p:nvPicPr>
        <p:blipFill>
          <a:blip r:embed="rId2"/>
          <a:srcRect l="3118"/>
          <a:stretch>
            <a:fillRect/>
          </a:stretch>
        </p:blipFill>
        <p:spPr>
          <a:xfrm flipV="1">
            <a:off x="-5080" y="2533015"/>
            <a:ext cx="6274435" cy="4319905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自定义版式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图片 3" descr="C:\Users\Administrator\Desktop\2-01.png2-01"/>
          <p:cNvPicPr>
            <a:picLocks noChangeAspect="1"/>
          </p:cNvPicPr>
          <p:nvPr userDrawn="1"/>
        </p:nvPicPr>
        <p:blipFill>
          <a:blip r:embed="rId2"/>
          <a:srcRect l="3118"/>
          <a:stretch>
            <a:fillRect/>
          </a:stretch>
        </p:blipFill>
        <p:spPr>
          <a:xfrm>
            <a:off x="-5080" y="-635"/>
            <a:ext cx="6274435" cy="4319905"/>
          </a:xfrm>
          <a:prstGeom prst="rect">
            <a:avLst/>
          </a:prstGeom>
        </p:spPr>
      </p:pic>
      <p:pic>
        <p:nvPicPr>
          <p:cNvPr id="5" name="图片 4" descr="C:\Users\Administrator\Desktop\2-01.png2-01"/>
          <p:cNvPicPr>
            <a:picLocks noChangeAspect="1"/>
          </p:cNvPicPr>
          <p:nvPr userDrawn="1"/>
        </p:nvPicPr>
        <p:blipFill>
          <a:blip r:embed="rId2"/>
          <a:srcRect l="3118"/>
          <a:stretch>
            <a:fillRect/>
          </a:stretch>
        </p:blipFill>
        <p:spPr>
          <a:xfrm flipH="1" flipV="1">
            <a:off x="5908040" y="2533650"/>
            <a:ext cx="6274435" cy="4319905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自定义版式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自定义版式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0"/>
    </mc:Choice>
    <mc:Fallback>
      <p:transition/>
    </mc:Fallback>
  </mc:AlternateContent>
  <p:timing>
    <p:tnLst>
      <p:par>
        <p:cTn id="1" dur="indefinite" restart="never" nodeType="tmRoot"/>
      </p:par>
    </p:tnLst>
  </p:timing>
</p:sldLayout>
</file>

<file path=ppt/slideMasters/_rels/slideMaster1.xml.rels><?xml version="1.0" encoding="UTF-8" standalone="yes"?>
<Relationships xmlns="http://schemas.openxmlformats.org/package/2006/relationships"><Relationship Id="rId9" Type="http://schemas.openxmlformats.org/officeDocument/2006/relationships/theme" Target="../theme/theme1.xml"/><Relationship Id="rId8" Type="http://schemas.openxmlformats.org/officeDocument/2006/relationships/slideLayout" Target="../slideLayouts/slideLayout8.xml"/><Relationship Id="rId7" Type="http://schemas.openxmlformats.org/officeDocument/2006/relationships/slideLayout" Target="../slideLayouts/slideLayout7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DFDF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</p:sldLayoutIdLst>
  <p:hf hdr="0" ft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8.xml"/></Relationships>
</file>

<file path=ppt/slides/_rels/slide2.xml.rels><?xml version="1.0" encoding="UTF-8" standalone="yes"?>
<Relationships xmlns="http://schemas.openxmlformats.org/package/2006/relationships"><Relationship Id="rId9" Type="http://schemas.openxmlformats.org/officeDocument/2006/relationships/tags" Target="../tags/tag9.xml"/><Relationship Id="rId8" Type="http://schemas.openxmlformats.org/officeDocument/2006/relationships/tags" Target="../tags/tag8.xml"/><Relationship Id="rId7" Type="http://schemas.openxmlformats.org/officeDocument/2006/relationships/tags" Target="../tags/tag7.xml"/><Relationship Id="rId6" Type="http://schemas.openxmlformats.org/officeDocument/2006/relationships/tags" Target="../tags/tag6.xml"/><Relationship Id="rId5" Type="http://schemas.openxmlformats.org/officeDocument/2006/relationships/tags" Target="../tags/tag5.xml"/><Relationship Id="rId4" Type="http://schemas.openxmlformats.org/officeDocument/2006/relationships/tags" Target="../tags/tag4.xml"/><Relationship Id="rId3" Type="http://schemas.openxmlformats.org/officeDocument/2006/relationships/tags" Target="../tags/tag3.xml"/><Relationship Id="rId2" Type="http://schemas.openxmlformats.org/officeDocument/2006/relationships/tags" Target="../tags/tag2.xml"/><Relationship Id="rId13" Type="http://schemas.openxmlformats.org/officeDocument/2006/relationships/slideLayout" Target="../slideLayouts/slideLayout8.xml"/><Relationship Id="rId12" Type="http://schemas.openxmlformats.org/officeDocument/2006/relationships/tags" Target="../tags/tag12.xml"/><Relationship Id="rId11" Type="http://schemas.openxmlformats.org/officeDocument/2006/relationships/tags" Target="../tags/tag11.xml"/><Relationship Id="rId10" Type="http://schemas.openxmlformats.org/officeDocument/2006/relationships/tags" Target="../tags/tag10.xml"/><Relationship Id="rId1" Type="http://schemas.openxmlformats.org/officeDocument/2006/relationships/tags" Target="../tags/tag1.xml"/></Relationships>
</file>

<file path=ppt/slides/_rels/slide3.xml.rels><?xml version="1.0" encoding="UTF-8" standalone="yes"?>
<Relationships xmlns="http://schemas.openxmlformats.org/package/2006/relationships"><Relationship Id="rId9" Type="http://schemas.openxmlformats.org/officeDocument/2006/relationships/tags" Target="../tags/tag21.xml"/><Relationship Id="rId8" Type="http://schemas.openxmlformats.org/officeDocument/2006/relationships/tags" Target="../tags/tag20.xml"/><Relationship Id="rId7" Type="http://schemas.openxmlformats.org/officeDocument/2006/relationships/tags" Target="../tags/tag19.xml"/><Relationship Id="rId6" Type="http://schemas.openxmlformats.org/officeDocument/2006/relationships/tags" Target="../tags/tag18.xml"/><Relationship Id="rId5" Type="http://schemas.openxmlformats.org/officeDocument/2006/relationships/tags" Target="../tags/tag17.xml"/><Relationship Id="rId4" Type="http://schemas.openxmlformats.org/officeDocument/2006/relationships/tags" Target="../tags/tag16.xml"/><Relationship Id="rId3" Type="http://schemas.openxmlformats.org/officeDocument/2006/relationships/tags" Target="../tags/tag15.xml"/><Relationship Id="rId2" Type="http://schemas.openxmlformats.org/officeDocument/2006/relationships/tags" Target="../tags/tag14.xml"/><Relationship Id="rId15" Type="http://schemas.openxmlformats.org/officeDocument/2006/relationships/slideLayout" Target="../slideLayouts/slideLayout8.xml"/><Relationship Id="rId14" Type="http://schemas.openxmlformats.org/officeDocument/2006/relationships/tags" Target="../tags/tag26.xml"/><Relationship Id="rId13" Type="http://schemas.openxmlformats.org/officeDocument/2006/relationships/tags" Target="../tags/tag25.xml"/><Relationship Id="rId12" Type="http://schemas.openxmlformats.org/officeDocument/2006/relationships/tags" Target="../tags/tag24.xml"/><Relationship Id="rId11" Type="http://schemas.openxmlformats.org/officeDocument/2006/relationships/tags" Target="../tags/tag23.xml"/><Relationship Id="rId10" Type="http://schemas.openxmlformats.org/officeDocument/2006/relationships/tags" Target="../tags/tag22.xml"/><Relationship Id="rId1" Type="http://schemas.openxmlformats.org/officeDocument/2006/relationships/tags" Target="../tags/tag13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8.xml"/><Relationship Id="rId1" Type="http://schemas.openxmlformats.org/officeDocument/2006/relationships/image" Target="../media/image3.png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8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8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8.xml"/><Relationship Id="rId1" Type="http://schemas.openxmlformats.org/officeDocument/2006/relationships/image" Target="../media/image4.png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8.xml"/><Relationship Id="rId1" Type="http://schemas.openxmlformats.org/officeDocument/2006/relationships/image" Target="../media/image5.png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8.xml"/><Relationship Id="rId1" Type="http://schemas.openxmlformats.org/officeDocument/2006/relationships/image" Target="../media/image6.png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8.xml"/><Relationship Id="rId1" Type="http://schemas.openxmlformats.org/officeDocument/2006/relationships/image" Target="../media/image7.png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8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8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8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8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8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8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8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8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8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8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8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8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8.xml"/><Relationship Id="rId1" Type="http://schemas.openxmlformats.org/officeDocument/2006/relationships/image" Target="../media/image8.png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8.xml"/><Relationship Id="rId1" Type="http://schemas.openxmlformats.org/officeDocument/2006/relationships/image" Target="../media/image9.png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8.xml"/><Relationship Id="rId1" Type="http://schemas.openxmlformats.org/officeDocument/2006/relationships/image" Target="../media/image10.png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8.xml"/></Relationships>
</file>

<file path=ppt/slides/_rels/slide27.xml.rels><?xml version="1.0" encoding="UTF-8" standalone="yes"?>
<Relationships xmlns="http://schemas.openxmlformats.org/package/2006/relationships"><Relationship Id="rId9" Type="http://schemas.openxmlformats.org/officeDocument/2006/relationships/tags" Target="../tags/tag35.xml"/><Relationship Id="rId8" Type="http://schemas.openxmlformats.org/officeDocument/2006/relationships/tags" Target="../tags/tag34.xml"/><Relationship Id="rId7" Type="http://schemas.openxmlformats.org/officeDocument/2006/relationships/tags" Target="../tags/tag33.xml"/><Relationship Id="rId6" Type="http://schemas.openxmlformats.org/officeDocument/2006/relationships/tags" Target="../tags/tag32.xml"/><Relationship Id="rId5" Type="http://schemas.openxmlformats.org/officeDocument/2006/relationships/tags" Target="../tags/tag31.xml"/><Relationship Id="rId4" Type="http://schemas.openxmlformats.org/officeDocument/2006/relationships/tags" Target="../tags/tag30.xml"/><Relationship Id="rId3" Type="http://schemas.openxmlformats.org/officeDocument/2006/relationships/tags" Target="../tags/tag29.xml"/><Relationship Id="rId2" Type="http://schemas.openxmlformats.org/officeDocument/2006/relationships/tags" Target="../tags/tag28.xml"/><Relationship Id="rId13" Type="http://schemas.openxmlformats.org/officeDocument/2006/relationships/slideLayout" Target="../slideLayouts/slideLayout8.xml"/><Relationship Id="rId12" Type="http://schemas.openxmlformats.org/officeDocument/2006/relationships/tags" Target="../tags/tag38.xml"/><Relationship Id="rId11" Type="http://schemas.openxmlformats.org/officeDocument/2006/relationships/tags" Target="../tags/tag37.xml"/><Relationship Id="rId10" Type="http://schemas.openxmlformats.org/officeDocument/2006/relationships/tags" Target="../tags/tag36.xml"/><Relationship Id="rId1" Type="http://schemas.openxmlformats.org/officeDocument/2006/relationships/tags" Target="../tags/tag27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8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8.xml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8.xml"/></Relationships>
</file>

<file path=ppt/slides/_rels/slide3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8.xml"/></Relationships>
</file>

<file path=ppt/slides/_rels/slide32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8.xml"/><Relationship Id="rId1" Type="http://schemas.openxmlformats.org/officeDocument/2006/relationships/image" Target="../media/image11.png"/></Relationships>
</file>

<file path=ppt/slides/_rels/slide3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8.xml"/></Relationships>
</file>

<file path=ppt/slides/_rels/slide3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8.xml"/></Relationships>
</file>

<file path=ppt/slides/_rels/slide3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8.xml"/></Relationships>
</file>

<file path=ppt/slides/_rels/slide3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8.xml"/></Relationships>
</file>

<file path=ppt/slides/_rels/slide3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8.xml"/></Relationships>
</file>

<file path=ppt/slides/_rels/slide3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8.xml"/></Relationships>
</file>

<file path=ppt/slides/_rels/slide3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8.xml"/></Relationships>
</file>

<file path=ppt/slides/_rels/slide4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8.xml"/></Relationships>
</file>

<file path=ppt/slides/_rels/slide4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8.xml"/></Relationships>
</file>

<file path=ppt/slides/_rels/slide4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8.xml"/></Relationships>
</file>

<file path=ppt/slides/_rels/slide4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8.xml"/></Relationships>
</file>

<file path=ppt/slides/_rels/slide4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8.xml"/></Relationships>
</file>

<file path=ppt/slides/_rels/slide4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8.xml"/></Relationships>
</file>

<file path=ppt/slides/_rels/slide4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8.xml"/></Relationships>
</file>

<file path=ppt/slides/_rels/slide4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8.xml"/></Relationships>
</file>

<file path=ppt/slides/_rels/slide4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8.xml"/></Relationships>
</file>

<file path=ppt/slides/_rels/slide49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8.xml"/><Relationship Id="rId1" Type="http://schemas.openxmlformats.org/officeDocument/2006/relationships/image" Target="../media/image12.png"/></Relationships>
</file>

<file path=ppt/slides/_rels/slide5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8.xml"/></Relationships>
</file>

<file path=ppt/slides/_rels/slide51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8.xml"/><Relationship Id="rId1" Type="http://schemas.openxmlformats.org/officeDocument/2006/relationships/image" Target="../media/image13.png"/></Relationships>
</file>

<file path=ppt/slides/_rels/slide5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8.xml"/></Relationships>
</file>

<file path=ppt/slides/_rels/slide5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8.xml"/></Relationships>
</file>

<file path=ppt/slides/_rels/slide54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8.xml"/><Relationship Id="rId1" Type="http://schemas.openxmlformats.org/officeDocument/2006/relationships/image" Target="../media/image14.png"/></Relationships>
</file>

<file path=ppt/slides/_rels/slide55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8.xml"/><Relationship Id="rId1" Type="http://schemas.openxmlformats.org/officeDocument/2006/relationships/image" Target="../media/image15.png"/></Relationships>
</file>

<file path=ppt/slides/_rels/slide5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8.xml"/></Relationships>
</file>

<file path=ppt/slides/_rels/slide5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8.xml"/></Relationships>
</file>

<file path=ppt/slides/_rels/slide5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8.xml"/></Relationships>
</file>

<file path=ppt/slides/_rels/slide5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8.xml"/></Relationships>
</file>

<file path=ppt/slides/_rels/slide6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8.xml"/></Relationships>
</file>

<file path=ppt/slides/_rels/slide6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8.xml"/></Relationships>
</file>

<file path=ppt/slides/_rels/slide6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8.xml"/></Relationships>
</file>

<file path=ppt/slides/_rels/slide6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8.xml"/></Relationships>
</file>

<file path=ppt/slides/_rels/slide6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8.xml"/></Relationships>
</file>

<file path=ppt/slides/_rels/slide6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8.xml"/></Relationships>
</file>

<file path=ppt/slides/_rels/slide6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8.xml"/></Relationships>
</file>

<file path=ppt/slides/_rels/slide6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8.xml"/></Relationships>
</file>

<file path=ppt/slides/_rels/slide6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8.xml"/></Relationships>
</file>

<file path=ppt/slides/_rels/slide6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8.xml"/></Relationships>
</file>

<file path=ppt/slides/_rels/slide7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8.xml"/></Relationships>
</file>

<file path=ppt/slides/_rels/slide7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8.xml"/></Relationships>
</file>

<file path=ppt/slides/_rels/slide72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8.xml"/><Relationship Id="rId1" Type="http://schemas.openxmlformats.org/officeDocument/2006/relationships/chart" Target="../charts/chart1.xml"/></Relationships>
</file>

<file path=ppt/slides/_rels/slide7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8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TextBox 8"/>
          <p:cNvSpPr txBox="1"/>
          <p:nvPr/>
        </p:nvSpPr>
        <p:spPr>
          <a:xfrm>
            <a:off x="-352107" y="1497217"/>
            <a:ext cx="12896215" cy="45078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4350" b="1" spc="600" dirty="0" smtClean="0">
                <a:solidFill>
                  <a:schemeClr val="bg1">
                    <a:lumMod val="95000"/>
                  </a:schemeClr>
                </a:solidFill>
                <a:latin typeface="庞门正道标题体" panose="02010600030101010101" charset="-122"/>
                <a:ea typeface="庞门正道标题体" panose="02010600030101010101" charset="-122"/>
                <a:cs typeface="Montserrat" panose="00000500000000000000" pitchFamily="50" charset="0"/>
              </a:rPr>
              <a:t>ENGINEERING</a:t>
            </a:r>
            <a:endParaRPr lang="en-US" sz="14350" b="1" spc="600" dirty="0" smtClean="0">
              <a:solidFill>
                <a:schemeClr val="bg1">
                  <a:lumMod val="95000"/>
                </a:schemeClr>
              </a:solidFill>
              <a:latin typeface="庞门正道标题体" panose="02010600030101010101" charset="-122"/>
              <a:ea typeface="庞门正道标题体" panose="02010600030101010101" charset="-122"/>
              <a:cs typeface="Montserrat" panose="00000500000000000000" pitchFamily="50" charset="0"/>
            </a:endParaRPr>
          </a:p>
          <a:p>
            <a:pPr algn="ctr"/>
            <a:r>
              <a:rPr lang="en-US" sz="14350" b="1" spc="600" dirty="0" smtClean="0">
                <a:solidFill>
                  <a:schemeClr val="bg1">
                    <a:lumMod val="95000"/>
                  </a:schemeClr>
                </a:solidFill>
                <a:latin typeface="庞门正道标题体" panose="02010600030101010101" charset="-122"/>
                <a:ea typeface="庞门正道标题体" panose="02010600030101010101" charset="-122"/>
                <a:cs typeface="Montserrat" panose="00000500000000000000" pitchFamily="50" charset="0"/>
              </a:rPr>
              <a:t>PRACTICE</a:t>
            </a:r>
            <a:endParaRPr lang="en-US" sz="14350" b="1" spc="600" dirty="0" smtClean="0">
              <a:solidFill>
                <a:schemeClr val="bg1">
                  <a:lumMod val="95000"/>
                </a:schemeClr>
              </a:solidFill>
              <a:latin typeface="庞门正道标题体" panose="02010600030101010101" charset="-122"/>
              <a:ea typeface="庞门正道标题体" panose="02010600030101010101" charset="-122"/>
              <a:cs typeface="Montserrat" panose="00000500000000000000" pitchFamily="50" charset="0"/>
            </a:endParaRPr>
          </a:p>
        </p:txBody>
      </p:sp>
      <p:sp>
        <p:nvSpPr>
          <p:cNvPr id="10" name="TextBox 9"/>
          <p:cNvSpPr txBox="1"/>
          <p:nvPr/>
        </p:nvSpPr>
        <p:spPr>
          <a:xfrm>
            <a:off x="2175510" y="2474595"/>
            <a:ext cx="7982585" cy="132207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sz="8000" b="1" spc="600" dirty="0" smtClean="0">
                <a:solidFill>
                  <a:schemeClr val="tx1"/>
                </a:solidFill>
                <a:latin typeface="方正明尚简体" panose="02000000000000000000" charset="-122"/>
                <a:ea typeface="方正明尚简体" panose="02000000000000000000" charset="-122"/>
                <a:cs typeface="Montserrat" panose="00000500000000000000" pitchFamily="50" charset="0"/>
              </a:rPr>
              <a:t>LLM</a:t>
            </a:r>
            <a:r>
              <a:rPr lang="zh-CN" altLang="en-US" sz="8000" b="1" spc="600" dirty="0" smtClean="0">
                <a:solidFill>
                  <a:schemeClr val="tx1"/>
                </a:solidFill>
                <a:latin typeface="方正明尚简体" panose="02000000000000000000" charset="-122"/>
                <a:ea typeface="方正明尚简体" panose="02000000000000000000" charset="-122"/>
                <a:cs typeface="Montserrat" panose="00000500000000000000" pitchFamily="50" charset="0"/>
              </a:rPr>
              <a:t>工程化实践</a:t>
            </a:r>
            <a:endParaRPr lang="zh-CN" altLang="en-US" sz="8000" b="1" spc="600" dirty="0" smtClean="0">
              <a:solidFill>
                <a:schemeClr val="tx1"/>
              </a:solidFill>
              <a:latin typeface="方正明尚简体" panose="02000000000000000000" charset="-122"/>
              <a:ea typeface="方正明尚简体" panose="02000000000000000000" charset="-122"/>
              <a:cs typeface="Montserrat" panose="00000500000000000000" pitchFamily="50" charset="0"/>
            </a:endParaRPr>
          </a:p>
        </p:txBody>
      </p:sp>
      <p:sp>
        <p:nvSpPr>
          <p:cNvPr id="13" name="TextBox 12"/>
          <p:cNvSpPr txBox="1"/>
          <p:nvPr/>
        </p:nvSpPr>
        <p:spPr>
          <a:xfrm>
            <a:off x="3607261" y="3770641"/>
            <a:ext cx="4988364" cy="9004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>
              <a:lnSpc>
                <a:spcPct val="150000"/>
              </a:lnSpc>
            </a:pPr>
            <a:r>
              <a:rPr lang="zh-CN" altLang="en-US" sz="2700" baseline="-25000" dirty="0" smtClean="0">
                <a:latin typeface="Dotum" panose="020B0600000101010101" charset="-127"/>
                <a:ea typeface="Dotum" panose="020B0600000101010101" charset="-127"/>
                <a:cs typeface="+mj-lt"/>
              </a:rPr>
              <a:t>于明</a:t>
            </a:r>
            <a:r>
              <a:rPr lang="zh-CN" altLang="en-US" sz="2700" baseline="-25000" dirty="0" smtClean="0">
                <a:latin typeface="Dotum" panose="020B0600000101010101" charset="-127"/>
                <a:ea typeface="Dotum" panose="020B0600000101010101" charset="-127"/>
                <a:cs typeface="+mj-lt"/>
              </a:rPr>
              <a:t>浩</a:t>
            </a:r>
            <a:endParaRPr lang="zh-CN" altLang="en-US" sz="2700" baseline="-25000" dirty="0" smtClean="0">
              <a:latin typeface="Dotum" panose="020B0600000101010101" charset="-127"/>
              <a:ea typeface="Dotum" panose="020B0600000101010101" charset="-127"/>
              <a:cs typeface="+mj-lt"/>
            </a:endParaRPr>
          </a:p>
          <a:p>
            <a:pPr algn="ctr">
              <a:lnSpc>
                <a:spcPct val="150000"/>
              </a:lnSpc>
            </a:pPr>
            <a:r>
              <a:rPr lang="en-US" altLang="zh-CN" sz="2700" baseline="-25000" dirty="0" smtClean="0">
                <a:latin typeface="Dotum" panose="020B0600000101010101" charset="-127"/>
                <a:ea typeface="Dotum" panose="020B0600000101010101" charset="-127"/>
                <a:cs typeface="+mj-lt"/>
              </a:rPr>
              <a:t>2026</a:t>
            </a:r>
            <a:r>
              <a:rPr lang="zh-CN" altLang="en-US" sz="2700" baseline="-25000" dirty="0" smtClean="0">
                <a:latin typeface="Dotum" panose="020B0600000101010101" charset="-127"/>
                <a:ea typeface="Dotum" panose="020B0600000101010101" charset="-127"/>
                <a:cs typeface="+mj-lt"/>
              </a:rPr>
              <a:t>年</a:t>
            </a:r>
            <a:r>
              <a:rPr lang="en-US" altLang="zh-CN" sz="2700" baseline="-25000" dirty="0" smtClean="0">
                <a:latin typeface="Dotum" panose="020B0600000101010101" charset="-127"/>
                <a:ea typeface="Dotum" panose="020B0600000101010101" charset="-127"/>
                <a:cs typeface="+mj-lt"/>
              </a:rPr>
              <a:t>4</a:t>
            </a:r>
            <a:r>
              <a:rPr lang="zh-CN" altLang="en-US" sz="2700" baseline="-25000" dirty="0" smtClean="0">
                <a:latin typeface="Dotum" panose="020B0600000101010101" charset="-127"/>
                <a:ea typeface="Dotum" panose="020B0600000101010101" charset="-127"/>
                <a:cs typeface="+mj-lt"/>
              </a:rPr>
              <a:t>月</a:t>
            </a:r>
            <a:r>
              <a:rPr lang="en-US" altLang="zh-CN" sz="2700" baseline="-25000" dirty="0" smtClean="0">
                <a:latin typeface="Dotum" panose="020B0600000101010101" charset="-127"/>
                <a:ea typeface="Dotum" panose="020B0600000101010101" charset="-127"/>
                <a:cs typeface="+mj-lt"/>
              </a:rPr>
              <a:t>14</a:t>
            </a:r>
            <a:r>
              <a:rPr lang="zh-CN" altLang="en-US" sz="2700" baseline="-25000" dirty="0" smtClean="0">
                <a:latin typeface="Dotum" panose="020B0600000101010101" charset="-127"/>
                <a:ea typeface="Dotum" panose="020B0600000101010101" charset="-127"/>
                <a:cs typeface="+mj-lt"/>
              </a:rPr>
              <a:t>日</a:t>
            </a:r>
            <a:endParaRPr lang="zh-CN" altLang="en-US" sz="2700" baseline="-25000" dirty="0" smtClean="0">
              <a:latin typeface="Dotum" panose="020B0600000101010101" charset="-127"/>
              <a:ea typeface="Dotum" panose="020B0600000101010101" charset="-127"/>
              <a:cs typeface="+mj-lt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0"/>
    </mc:Choice>
    <mc:Fallback>
      <p:transition/>
    </mc:Fallback>
  </mc:AlternateContent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6" name="Rectangle 5"/>
          <p:cNvSpPr/>
          <p:nvPr>
            <p:custDataLst>
              <p:tags r:id="rId1"/>
            </p:custDataLst>
          </p:nvPr>
        </p:nvSpPr>
        <p:spPr>
          <a:xfrm>
            <a:off x="1343024" y="2536171"/>
            <a:ext cx="2882611" cy="3485137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288000" tIns="0" rIns="251999" bIns="288000" numCol="1" spcCol="0" rtlCol="0" fromWordArt="0" anchor="b" anchorCtr="0" forceAA="0" compatLnSpc="1">
            <a:noAutofit/>
          </a:bodyPr>
          <a:lstStyle/>
          <a:p>
            <a:r>
              <a:rPr lang="en-US" sz="3600" b="1" dirty="0" smtClean="0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  <a:cs typeface="Open Sans SemiBold" panose="020B0706030804020204" charset="0"/>
              </a:rPr>
              <a:t>01</a:t>
            </a:r>
            <a:endParaRPr lang="en-US" sz="3600" b="1" dirty="0" smtClean="0">
              <a:solidFill>
                <a:schemeClr val="tx1"/>
              </a:solidFill>
              <a:latin typeface="微软雅黑" panose="020B0503020204020204" charset="-122"/>
              <a:ea typeface="微软雅黑" panose="020B0503020204020204" charset="-122"/>
              <a:cs typeface="Open Sans SemiBold" panose="020B0706030804020204" charset="0"/>
            </a:endParaRPr>
          </a:p>
          <a:p>
            <a:endParaRPr lang="en-US" sz="1200" b="1" dirty="0" smtClean="0">
              <a:solidFill>
                <a:schemeClr val="tx1"/>
              </a:solidFill>
              <a:latin typeface="微软雅黑" panose="020B0503020204020204" charset="-122"/>
              <a:ea typeface="微软雅黑" panose="020B0503020204020204" charset="-122"/>
              <a:cs typeface="Open Sans SemiBold" panose="020B0706030804020204" charset="0"/>
            </a:endParaRPr>
          </a:p>
          <a:p>
            <a:pPr>
              <a:lnSpc>
                <a:spcPct val="130000"/>
              </a:lnSpc>
            </a:pPr>
            <a:r>
              <a:rPr lang="en-US" b="1" dirty="0" smtClean="0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  <a:cs typeface="Open Sans SemiBold" panose="020B0706030804020204" charset="0"/>
              </a:rPr>
              <a:t>OpenClaw</a:t>
            </a:r>
            <a:endParaRPr lang="en-US" b="1" dirty="0" smtClean="0">
              <a:solidFill>
                <a:schemeClr val="tx1"/>
              </a:solidFill>
              <a:latin typeface="微软雅黑" panose="020B0503020204020204" charset="-122"/>
              <a:ea typeface="微软雅黑" panose="020B0503020204020204" charset="-122"/>
              <a:cs typeface="Open Sans SemiBold" panose="020B0706030804020204" charset="0"/>
            </a:endParaRPr>
          </a:p>
          <a:p>
            <a:pPr>
              <a:lnSpc>
                <a:spcPct val="130000"/>
              </a:lnSpc>
            </a:pPr>
            <a:endParaRPr lang="en-US" sz="1000" dirty="0">
              <a:solidFill>
                <a:schemeClr val="tx1">
                  <a:alpha val="70000"/>
                </a:schemeClr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>
              <a:lnSpc>
                <a:spcPct val="130000"/>
              </a:lnSpc>
            </a:pPr>
            <a:endParaRPr lang="en-US" sz="1000" dirty="0">
              <a:solidFill>
                <a:schemeClr val="tx1">
                  <a:alpha val="70000"/>
                </a:schemeClr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>
              <a:lnSpc>
                <a:spcPct val="130000"/>
              </a:lnSpc>
            </a:pPr>
            <a:endParaRPr lang="en-US" sz="1000" dirty="0">
              <a:solidFill>
                <a:schemeClr val="tx1">
                  <a:alpha val="70000"/>
                </a:schemeClr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>
              <a:lnSpc>
                <a:spcPct val="130000"/>
              </a:lnSpc>
            </a:pPr>
            <a:endParaRPr lang="en-US" sz="1000" dirty="0">
              <a:solidFill>
                <a:schemeClr val="tx1">
                  <a:alpha val="70000"/>
                </a:schemeClr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>
              <a:lnSpc>
                <a:spcPct val="130000"/>
              </a:lnSpc>
            </a:pPr>
            <a:endParaRPr lang="en-US" sz="1000" dirty="0">
              <a:solidFill>
                <a:schemeClr val="tx1">
                  <a:alpha val="70000"/>
                </a:schemeClr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>
              <a:lnSpc>
                <a:spcPct val="130000"/>
              </a:lnSpc>
            </a:pPr>
            <a:endParaRPr lang="en-US" sz="1000" dirty="0">
              <a:solidFill>
                <a:schemeClr val="tx1">
                  <a:alpha val="70000"/>
                </a:schemeClr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>
              <a:lnSpc>
                <a:spcPct val="130000"/>
              </a:lnSpc>
            </a:pPr>
            <a:endParaRPr lang="en-US" sz="1000" dirty="0">
              <a:solidFill>
                <a:schemeClr val="tx1">
                  <a:alpha val="70000"/>
                </a:schemeClr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>
              <a:lnSpc>
                <a:spcPct val="130000"/>
              </a:lnSpc>
            </a:pPr>
            <a:endParaRPr lang="en-US" sz="1000" dirty="0">
              <a:solidFill>
                <a:schemeClr val="tx1">
                  <a:alpha val="70000"/>
                </a:schemeClr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grpSp>
        <p:nvGrpSpPr>
          <p:cNvPr id="7" name="Group 6"/>
          <p:cNvGrpSpPr/>
          <p:nvPr>
            <p:custDataLst>
              <p:tags r:id="rId2"/>
            </p:custDataLst>
          </p:nvPr>
        </p:nvGrpSpPr>
        <p:grpSpPr>
          <a:xfrm>
            <a:off x="3903973" y="2722814"/>
            <a:ext cx="145143" cy="141514"/>
            <a:chOff x="4151086" y="3851729"/>
            <a:chExt cx="145143" cy="141514"/>
          </a:xfrm>
        </p:grpSpPr>
        <p:cxnSp>
          <p:nvCxnSpPr>
            <p:cNvPr id="8" name="Straight Connector 7"/>
            <p:cNvCxnSpPr/>
            <p:nvPr>
              <p:custDataLst>
                <p:tags r:id="rId3"/>
              </p:custDataLst>
            </p:nvPr>
          </p:nvCxnSpPr>
          <p:spPr>
            <a:xfrm>
              <a:off x="4151086" y="3922486"/>
              <a:ext cx="145143" cy="0"/>
            </a:xfrm>
            <a:prstGeom prst="line">
              <a:avLst/>
            </a:prstGeom>
            <a:ln w="127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" name="Straight Connector 8"/>
            <p:cNvCxnSpPr/>
            <p:nvPr>
              <p:custDataLst>
                <p:tags r:id="rId4"/>
              </p:custDataLst>
            </p:nvPr>
          </p:nvCxnSpPr>
          <p:spPr>
            <a:xfrm>
              <a:off x="4230915" y="3851729"/>
              <a:ext cx="0" cy="141514"/>
            </a:xfrm>
            <a:prstGeom prst="line">
              <a:avLst/>
            </a:prstGeom>
            <a:ln w="127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14" name="Rectangle 13"/>
          <p:cNvSpPr/>
          <p:nvPr>
            <p:custDataLst>
              <p:tags r:id="rId5"/>
            </p:custDataLst>
          </p:nvPr>
        </p:nvSpPr>
        <p:spPr>
          <a:xfrm>
            <a:off x="4668547" y="2536171"/>
            <a:ext cx="2882611" cy="3485137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288000" tIns="0" rIns="251999" bIns="288000" numCol="1" spcCol="0" rtlCol="0" fromWordArt="0" anchor="b" anchorCtr="0" forceAA="0" compatLnSpc="1">
            <a:noAutofit/>
          </a:bodyPr>
          <a:lstStyle/>
          <a:p>
            <a:r>
              <a:rPr lang="en-US" sz="3600" b="1" dirty="0" smtClean="0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  <a:cs typeface="Open Sans SemiBold" panose="020B0706030804020204" charset="0"/>
              </a:rPr>
              <a:t>02</a:t>
            </a:r>
            <a:endParaRPr lang="en-US" sz="3600" b="1" dirty="0" smtClean="0">
              <a:solidFill>
                <a:schemeClr val="tx1"/>
              </a:solidFill>
              <a:latin typeface="微软雅黑" panose="020B0503020204020204" charset="-122"/>
              <a:ea typeface="微软雅黑" panose="020B0503020204020204" charset="-122"/>
              <a:cs typeface="Open Sans SemiBold" panose="020B0706030804020204" charset="0"/>
            </a:endParaRPr>
          </a:p>
          <a:p>
            <a:endParaRPr lang="en-US" sz="1200" b="1" dirty="0" smtClean="0">
              <a:solidFill>
                <a:schemeClr val="tx1"/>
              </a:solidFill>
              <a:latin typeface="微软雅黑" panose="020B0503020204020204" charset="-122"/>
              <a:ea typeface="微软雅黑" panose="020B0503020204020204" charset="-122"/>
              <a:cs typeface="Open Sans SemiBold" panose="020B0706030804020204" charset="0"/>
            </a:endParaRPr>
          </a:p>
          <a:p>
            <a:pPr>
              <a:lnSpc>
                <a:spcPct val="130000"/>
              </a:lnSpc>
            </a:pPr>
            <a:r>
              <a:rPr lang="en-US" b="1" dirty="0" smtClean="0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  <a:cs typeface="Open Sans SemiBold" panose="020B0706030804020204" charset="0"/>
                <a:sym typeface="+mn-ea"/>
              </a:rPr>
              <a:t>Harness Engineer</a:t>
            </a:r>
            <a:endParaRPr lang="en-US" b="1" dirty="0" smtClean="0">
              <a:solidFill>
                <a:schemeClr val="tx1"/>
              </a:solidFill>
              <a:latin typeface="微软雅黑" panose="020B0503020204020204" charset="-122"/>
              <a:ea typeface="微软雅黑" panose="020B0503020204020204" charset="-122"/>
              <a:cs typeface="Open Sans SemiBold" panose="020B0706030804020204" charset="0"/>
            </a:endParaRPr>
          </a:p>
          <a:p>
            <a:pPr>
              <a:lnSpc>
                <a:spcPct val="130000"/>
              </a:lnSpc>
            </a:pPr>
            <a:endParaRPr lang="en-US" sz="1000" dirty="0">
              <a:solidFill>
                <a:schemeClr val="tx1">
                  <a:alpha val="70000"/>
                </a:schemeClr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>
              <a:lnSpc>
                <a:spcPct val="130000"/>
              </a:lnSpc>
            </a:pPr>
            <a:endParaRPr lang="en-US" sz="1000" dirty="0">
              <a:solidFill>
                <a:schemeClr val="tx1">
                  <a:alpha val="70000"/>
                </a:schemeClr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>
              <a:lnSpc>
                <a:spcPct val="130000"/>
              </a:lnSpc>
            </a:pPr>
            <a:endParaRPr lang="en-US" sz="1000" dirty="0">
              <a:solidFill>
                <a:schemeClr val="tx1">
                  <a:alpha val="70000"/>
                </a:schemeClr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>
              <a:lnSpc>
                <a:spcPct val="130000"/>
              </a:lnSpc>
            </a:pPr>
            <a:endParaRPr lang="en-US" sz="1000" dirty="0">
              <a:solidFill>
                <a:schemeClr val="tx1">
                  <a:alpha val="70000"/>
                </a:schemeClr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>
              <a:lnSpc>
                <a:spcPct val="130000"/>
              </a:lnSpc>
            </a:pPr>
            <a:endParaRPr lang="en-US" sz="1000" dirty="0">
              <a:solidFill>
                <a:schemeClr val="tx1">
                  <a:alpha val="70000"/>
                </a:schemeClr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>
              <a:lnSpc>
                <a:spcPct val="130000"/>
              </a:lnSpc>
            </a:pPr>
            <a:endParaRPr lang="en-US" sz="1000" dirty="0">
              <a:solidFill>
                <a:schemeClr val="tx1">
                  <a:alpha val="70000"/>
                </a:schemeClr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>
              <a:lnSpc>
                <a:spcPct val="130000"/>
              </a:lnSpc>
            </a:pPr>
            <a:endParaRPr lang="en-US" sz="1000" dirty="0">
              <a:solidFill>
                <a:schemeClr val="tx1">
                  <a:alpha val="70000"/>
                </a:schemeClr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>
              <a:lnSpc>
                <a:spcPct val="130000"/>
              </a:lnSpc>
            </a:pPr>
            <a:endParaRPr lang="en-US" sz="1000" dirty="0">
              <a:solidFill>
                <a:schemeClr val="tx1">
                  <a:alpha val="70000"/>
                </a:schemeClr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grpSp>
        <p:nvGrpSpPr>
          <p:cNvPr id="15" name="Group 14"/>
          <p:cNvGrpSpPr/>
          <p:nvPr>
            <p:custDataLst>
              <p:tags r:id="rId6"/>
            </p:custDataLst>
          </p:nvPr>
        </p:nvGrpSpPr>
        <p:grpSpPr>
          <a:xfrm>
            <a:off x="7229496" y="2722814"/>
            <a:ext cx="145143" cy="141514"/>
            <a:chOff x="4151086" y="3851729"/>
            <a:chExt cx="145143" cy="141514"/>
          </a:xfrm>
        </p:grpSpPr>
        <p:cxnSp>
          <p:nvCxnSpPr>
            <p:cNvPr id="16" name="Straight Connector 15"/>
            <p:cNvCxnSpPr/>
            <p:nvPr>
              <p:custDataLst>
                <p:tags r:id="rId7"/>
              </p:custDataLst>
            </p:nvPr>
          </p:nvCxnSpPr>
          <p:spPr>
            <a:xfrm>
              <a:off x="4151086" y="3922486"/>
              <a:ext cx="145143" cy="0"/>
            </a:xfrm>
            <a:prstGeom prst="line">
              <a:avLst/>
            </a:prstGeom>
            <a:ln w="127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7" name="Straight Connector 16"/>
            <p:cNvCxnSpPr/>
            <p:nvPr>
              <p:custDataLst>
                <p:tags r:id="rId8"/>
              </p:custDataLst>
            </p:nvPr>
          </p:nvCxnSpPr>
          <p:spPr>
            <a:xfrm>
              <a:off x="4230915" y="3851729"/>
              <a:ext cx="0" cy="141514"/>
            </a:xfrm>
            <a:prstGeom prst="line">
              <a:avLst/>
            </a:prstGeom>
            <a:ln w="127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19" name="Rectangle 18"/>
          <p:cNvSpPr/>
          <p:nvPr>
            <p:custDataLst>
              <p:tags r:id="rId9"/>
            </p:custDataLst>
          </p:nvPr>
        </p:nvSpPr>
        <p:spPr>
          <a:xfrm>
            <a:off x="7994070" y="2536171"/>
            <a:ext cx="2882611" cy="3485137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288000" tIns="0" rIns="251999" bIns="288000" numCol="1" spcCol="0" rtlCol="0" fromWordArt="0" anchor="b" anchorCtr="0" forceAA="0" compatLnSpc="1">
            <a:noAutofit/>
          </a:bodyPr>
          <a:lstStyle/>
          <a:p>
            <a:r>
              <a:rPr lang="en-US" sz="3600" b="1" dirty="0" smtClean="0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  <a:cs typeface="Open Sans SemiBold" panose="020B0706030804020204" charset="0"/>
              </a:rPr>
              <a:t>03</a:t>
            </a:r>
            <a:endParaRPr lang="en-US" sz="3600" b="1" dirty="0" smtClean="0">
              <a:solidFill>
                <a:schemeClr val="tx1"/>
              </a:solidFill>
              <a:latin typeface="微软雅黑" panose="020B0503020204020204" charset="-122"/>
              <a:ea typeface="微软雅黑" panose="020B0503020204020204" charset="-122"/>
              <a:cs typeface="Open Sans SemiBold" panose="020B0706030804020204" charset="0"/>
            </a:endParaRPr>
          </a:p>
          <a:p>
            <a:endParaRPr lang="en-US" sz="1200" b="1" dirty="0" smtClean="0">
              <a:solidFill>
                <a:schemeClr val="tx1"/>
              </a:solidFill>
              <a:latin typeface="微软雅黑" panose="020B0503020204020204" charset="-122"/>
              <a:ea typeface="微软雅黑" panose="020B0503020204020204" charset="-122"/>
              <a:cs typeface="Open Sans SemiBold" panose="020B0706030804020204" charset="0"/>
            </a:endParaRPr>
          </a:p>
          <a:p>
            <a:pPr>
              <a:lnSpc>
                <a:spcPct val="130000"/>
              </a:lnSpc>
            </a:pPr>
            <a:r>
              <a:rPr lang="en-US" b="1" dirty="0" smtClean="0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  <a:cs typeface="Open Sans SemiBold" panose="020B0706030804020204" charset="0"/>
                <a:sym typeface="+mn-ea"/>
              </a:rPr>
              <a:t>SKILLS</a:t>
            </a:r>
            <a:endParaRPr lang="en-US" sz="1600" b="1" dirty="0" smtClean="0">
              <a:solidFill>
                <a:schemeClr val="tx1"/>
              </a:solidFill>
              <a:latin typeface="微软雅黑" panose="020B0503020204020204" charset="-122"/>
              <a:ea typeface="微软雅黑" panose="020B0503020204020204" charset="-122"/>
              <a:cs typeface="Open Sans SemiBold" panose="020B0706030804020204" charset="0"/>
              <a:sym typeface="+mn-ea"/>
            </a:endParaRPr>
          </a:p>
          <a:p>
            <a:pPr>
              <a:lnSpc>
                <a:spcPct val="130000"/>
              </a:lnSpc>
            </a:pPr>
            <a:endParaRPr lang="en-US" sz="1000" dirty="0">
              <a:solidFill>
                <a:schemeClr val="tx1">
                  <a:alpha val="70000"/>
                </a:schemeClr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>
              <a:lnSpc>
                <a:spcPct val="130000"/>
              </a:lnSpc>
            </a:pPr>
            <a:endParaRPr lang="en-US" sz="1000" dirty="0">
              <a:solidFill>
                <a:schemeClr val="tx1">
                  <a:alpha val="70000"/>
                </a:schemeClr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>
              <a:lnSpc>
                <a:spcPct val="130000"/>
              </a:lnSpc>
            </a:pPr>
            <a:endParaRPr lang="en-US" sz="1000" dirty="0">
              <a:solidFill>
                <a:schemeClr val="tx1">
                  <a:alpha val="70000"/>
                </a:schemeClr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>
              <a:lnSpc>
                <a:spcPct val="130000"/>
              </a:lnSpc>
            </a:pPr>
            <a:endParaRPr lang="en-US" sz="1000" dirty="0">
              <a:solidFill>
                <a:schemeClr val="tx1">
                  <a:alpha val="70000"/>
                </a:schemeClr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>
              <a:lnSpc>
                <a:spcPct val="130000"/>
              </a:lnSpc>
            </a:pPr>
            <a:endParaRPr lang="en-US" sz="1000" dirty="0">
              <a:solidFill>
                <a:schemeClr val="tx1">
                  <a:alpha val="70000"/>
                </a:schemeClr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>
              <a:lnSpc>
                <a:spcPct val="130000"/>
              </a:lnSpc>
            </a:pPr>
            <a:endParaRPr lang="en-US" sz="1000" dirty="0">
              <a:solidFill>
                <a:schemeClr val="tx1">
                  <a:alpha val="70000"/>
                </a:schemeClr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>
              <a:lnSpc>
                <a:spcPct val="130000"/>
              </a:lnSpc>
            </a:pPr>
            <a:endParaRPr lang="en-US" sz="1000" dirty="0">
              <a:solidFill>
                <a:schemeClr val="tx1">
                  <a:alpha val="70000"/>
                </a:schemeClr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>
              <a:lnSpc>
                <a:spcPct val="130000"/>
              </a:lnSpc>
            </a:pPr>
            <a:endParaRPr lang="en-US" sz="1000" dirty="0">
              <a:solidFill>
                <a:schemeClr val="tx1">
                  <a:alpha val="70000"/>
                </a:schemeClr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grpSp>
        <p:nvGrpSpPr>
          <p:cNvPr id="20" name="Group 19"/>
          <p:cNvGrpSpPr/>
          <p:nvPr>
            <p:custDataLst>
              <p:tags r:id="rId10"/>
            </p:custDataLst>
          </p:nvPr>
        </p:nvGrpSpPr>
        <p:grpSpPr>
          <a:xfrm>
            <a:off x="10555019" y="2722814"/>
            <a:ext cx="145143" cy="141514"/>
            <a:chOff x="4151086" y="3851729"/>
            <a:chExt cx="145143" cy="141514"/>
          </a:xfrm>
        </p:grpSpPr>
        <p:cxnSp>
          <p:nvCxnSpPr>
            <p:cNvPr id="21" name="Straight Connector 20"/>
            <p:cNvCxnSpPr/>
            <p:nvPr>
              <p:custDataLst>
                <p:tags r:id="rId11"/>
              </p:custDataLst>
            </p:nvPr>
          </p:nvCxnSpPr>
          <p:spPr>
            <a:xfrm>
              <a:off x="4151086" y="3922486"/>
              <a:ext cx="145143" cy="0"/>
            </a:xfrm>
            <a:prstGeom prst="line">
              <a:avLst/>
            </a:prstGeom>
            <a:ln w="127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2" name="Straight Connector 21"/>
            <p:cNvCxnSpPr/>
            <p:nvPr>
              <p:custDataLst>
                <p:tags r:id="rId12"/>
              </p:custDataLst>
            </p:nvPr>
          </p:nvCxnSpPr>
          <p:spPr>
            <a:xfrm>
              <a:off x="4230915" y="3851729"/>
              <a:ext cx="0" cy="141514"/>
            </a:xfrm>
            <a:prstGeom prst="line">
              <a:avLst/>
            </a:prstGeom>
            <a:ln w="127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3" name="组合 2"/>
          <p:cNvGrpSpPr/>
          <p:nvPr/>
        </p:nvGrpSpPr>
        <p:grpSpPr>
          <a:xfrm>
            <a:off x="2035810" y="476250"/>
            <a:ext cx="8120380" cy="1938020"/>
            <a:chOff x="3206" y="98"/>
            <a:chExt cx="12788" cy="3052"/>
          </a:xfrm>
        </p:grpSpPr>
        <p:sp>
          <p:nvSpPr>
            <p:cNvPr id="4" name="TextBox 8"/>
            <p:cNvSpPr txBox="1"/>
            <p:nvPr/>
          </p:nvSpPr>
          <p:spPr>
            <a:xfrm>
              <a:off x="3206" y="98"/>
              <a:ext cx="12788" cy="305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p>
              <a:pPr algn="ctr"/>
              <a:r>
                <a:rPr lang="en-US" sz="6000" b="1" spc="600" dirty="0" smtClean="0">
                  <a:solidFill>
                    <a:schemeClr val="bg1">
                      <a:lumMod val="95000"/>
                    </a:schemeClr>
                  </a:solidFill>
                  <a:latin typeface="庞门正道标题体" panose="02010600030101010101" charset="-122"/>
                  <a:ea typeface="庞门正道标题体" panose="02010600030101010101" charset="-122"/>
                  <a:cs typeface="Montserrat" panose="00000500000000000000" pitchFamily="50" charset="0"/>
                </a:rPr>
                <a:t>ENGINEERING PRATICE</a:t>
              </a:r>
              <a:endParaRPr lang="en-US" sz="6000" b="1" spc="600" dirty="0" smtClean="0">
                <a:solidFill>
                  <a:schemeClr val="bg1">
                    <a:lumMod val="95000"/>
                  </a:schemeClr>
                </a:solidFill>
                <a:latin typeface="庞门正道标题体" panose="02010600030101010101" charset="-122"/>
                <a:ea typeface="庞门正道标题体" panose="02010600030101010101" charset="-122"/>
                <a:cs typeface="Montserrat" panose="00000500000000000000" pitchFamily="50" charset="0"/>
              </a:endParaRPr>
            </a:p>
          </p:txBody>
        </p:sp>
        <p:sp>
          <p:nvSpPr>
            <p:cNvPr id="2" name="TextBox 9"/>
            <p:cNvSpPr txBox="1"/>
            <p:nvPr/>
          </p:nvSpPr>
          <p:spPr>
            <a:xfrm>
              <a:off x="4143" y="653"/>
              <a:ext cx="10932" cy="130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p>
              <a:pPr algn="ctr"/>
              <a:r>
                <a:rPr lang="en-US" altLang="zh-CN" sz="4800" b="1" spc="600" dirty="0" smtClean="0">
                  <a:solidFill>
                    <a:schemeClr val="tx1"/>
                  </a:solidFill>
                  <a:latin typeface="方正明尚简体" panose="02000000000000000000" charset="-122"/>
                  <a:ea typeface="方正明尚简体" panose="02000000000000000000" charset="-122"/>
                  <a:cs typeface="Montserrat" panose="00000500000000000000" pitchFamily="50" charset="0"/>
                </a:rPr>
                <a:t>LLM</a:t>
              </a:r>
              <a:r>
                <a:rPr lang="zh-CN" altLang="en-US" sz="4800" b="1" spc="600" dirty="0" smtClean="0">
                  <a:solidFill>
                    <a:schemeClr val="tx1"/>
                  </a:solidFill>
                  <a:latin typeface="方正明尚简体" panose="02000000000000000000" charset="-122"/>
                  <a:ea typeface="方正明尚简体" panose="02000000000000000000" charset="-122"/>
                  <a:cs typeface="Montserrat" panose="00000500000000000000" pitchFamily="50" charset="0"/>
                </a:rPr>
                <a:t>工程化</a:t>
              </a:r>
              <a:r>
                <a:rPr lang="zh-CN" altLang="en-US" sz="4800" b="1" spc="600" dirty="0" smtClean="0">
                  <a:solidFill>
                    <a:schemeClr val="tx1"/>
                  </a:solidFill>
                  <a:latin typeface="方正明尚简体" panose="02000000000000000000" charset="-122"/>
                  <a:ea typeface="方正明尚简体" panose="02000000000000000000" charset="-122"/>
                  <a:cs typeface="Montserrat" panose="00000500000000000000" pitchFamily="50" charset="0"/>
                </a:rPr>
                <a:t>实践</a:t>
              </a:r>
              <a:endParaRPr lang="zh-CN" altLang="en-US" sz="4800" b="1" spc="600" dirty="0" smtClean="0">
                <a:solidFill>
                  <a:schemeClr val="tx1"/>
                </a:solidFill>
                <a:latin typeface="方正明尚简体" panose="02000000000000000000" charset="-122"/>
                <a:ea typeface="方正明尚简体" panose="02000000000000000000" charset="-122"/>
                <a:cs typeface="Montserrat" panose="00000500000000000000" pitchFamily="50" charset="0"/>
              </a:endParaRPr>
            </a:p>
          </p:txBody>
        </p:sp>
        <p:sp>
          <p:nvSpPr>
            <p:cNvPr id="10" name="TextBox 12"/>
            <p:cNvSpPr txBox="1"/>
            <p:nvPr/>
          </p:nvSpPr>
          <p:spPr>
            <a:xfrm>
              <a:off x="5681" y="1618"/>
              <a:ext cx="7856" cy="56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p>
              <a:pPr algn="ctr">
                <a:lnSpc>
                  <a:spcPct val="150000"/>
                </a:lnSpc>
              </a:pPr>
              <a:r>
                <a:rPr lang="en-US" altLang="zh-CN" baseline="-25000" dirty="0" smtClean="0">
                  <a:latin typeface="Dotum" panose="020B0600000101010101" charset="-127"/>
                  <a:ea typeface="Dotum" panose="020B0600000101010101" charset="-127"/>
                  <a:cs typeface="+mj-lt"/>
                </a:rPr>
                <a:t>LLM Engineering Practice</a:t>
              </a:r>
              <a:endParaRPr lang="en-US" altLang="zh-CN" baseline="-25000" dirty="0" smtClean="0">
                <a:latin typeface="Dotum" panose="020B0600000101010101" charset="-127"/>
                <a:ea typeface="Dotum" panose="020B0600000101010101" charset="-127"/>
                <a:cs typeface="+mj-lt"/>
              </a:endParaRPr>
            </a:p>
          </p:txBody>
        </p:sp>
      </p:grp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0"/>
    </mc:Choice>
    <mc:Fallback>
      <p:transition/>
    </mc:Fallback>
  </mc:AlternateContent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cxnSp>
        <p:nvCxnSpPr>
          <p:cNvPr id="23" name="Straight Connector 22"/>
          <p:cNvCxnSpPr/>
          <p:nvPr>
            <p:custDataLst>
              <p:tags r:id="rId1"/>
            </p:custDataLst>
          </p:nvPr>
        </p:nvCxnSpPr>
        <p:spPr>
          <a:xfrm flipV="1">
            <a:off x="6552367" y="3620493"/>
            <a:ext cx="2462722" cy="1283650"/>
          </a:xfrm>
          <a:prstGeom prst="line">
            <a:avLst/>
          </a:prstGeom>
          <a:ln>
            <a:solidFill>
              <a:schemeClr val="tx1">
                <a:alpha val="30000"/>
              </a:schemeClr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2" name="Straight Connector 21"/>
          <p:cNvCxnSpPr/>
          <p:nvPr>
            <p:custDataLst>
              <p:tags r:id="rId2"/>
            </p:custDataLst>
          </p:nvPr>
        </p:nvCxnSpPr>
        <p:spPr>
          <a:xfrm>
            <a:off x="2964873" y="3525821"/>
            <a:ext cx="2757054" cy="1493271"/>
          </a:xfrm>
          <a:prstGeom prst="line">
            <a:avLst/>
          </a:prstGeom>
          <a:ln>
            <a:solidFill>
              <a:schemeClr val="tx1">
                <a:alpha val="30000"/>
              </a:schemeClr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" name="Oval 5"/>
          <p:cNvSpPr/>
          <p:nvPr>
            <p:custDataLst>
              <p:tags r:id="rId3"/>
            </p:custDataLst>
          </p:nvPr>
        </p:nvSpPr>
        <p:spPr>
          <a:xfrm>
            <a:off x="1917270" y="2713871"/>
            <a:ext cx="1424470" cy="1424470"/>
          </a:xfrm>
          <a:prstGeom prst="ellipse">
            <a:avLst/>
          </a:prstGeom>
          <a:solidFill>
            <a:schemeClr val="bg1"/>
          </a:solidFill>
          <a:ln w="63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0" tIns="0" rIns="0" bIns="0" numCol="1" spcCol="0" rtlCol="0" fromWordArt="0" anchor="ctr" anchorCtr="0" forceAA="0" compatLnSpc="1">
            <a:noAutofit/>
          </a:bodyPr>
          <a:p>
            <a:pPr algn="ctr"/>
            <a:r>
              <a:rPr lang="en-US" altLang="zh-CN" sz="1600" dirty="0" smtClean="0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</a:rPr>
              <a:t>Prompt Engineering </a:t>
            </a:r>
            <a:endParaRPr lang="en-US" altLang="zh-CN" sz="1600" dirty="0" smtClean="0">
              <a:solidFill>
                <a:schemeClr val="tx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8" name="TextBox 7"/>
          <p:cNvSpPr txBox="1"/>
          <p:nvPr>
            <p:custDataLst>
              <p:tags r:id="rId4"/>
            </p:custDataLst>
          </p:nvPr>
        </p:nvSpPr>
        <p:spPr>
          <a:xfrm>
            <a:off x="1343025" y="5019092"/>
            <a:ext cx="2621038" cy="891540"/>
          </a:xfrm>
          <a:prstGeom prst="rect">
            <a:avLst/>
          </a:prstGeom>
          <a:noFill/>
        </p:spPr>
        <p:txBody>
          <a:bodyPr wrap="square" lIns="0" rIns="0" rtlCol="0">
            <a:spAutoFit/>
          </a:bodyPr>
          <a:p>
            <a:pPr algn="ctr">
              <a:lnSpc>
                <a:spcPct val="130000"/>
              </a:lnSpc>
            </a:pPr>
            <a:r>
              <a:rPr lang="zh-CN" altLang="en-US" sz="1000" dirty="0">
                <a:solidFill>
                  <a:schemeClr val="tx1">
                    <a:alpha val="70000"/>
                  </a:schemeClr>
                </a:solidFill>
                <a:latin typeface="微软雅黑" panose="020B0503020204020204" charset="-122"/>
                <a:ea typeface="微软雅黑" panose="020B0503020204020204" charset="-122"/>
              </a:rPr>
              <a:t>专注于单次指令的艺术。我们掌握了少样本学习、链式思维提示和角色扮演。目标是完善一次性输入，以获得最佳的一次性输出。这关乎如何写出完美的电子邮件。</a:t>
            </a:r>
            <a:endParaRPr lang="zh-CN" altLang="en-US" sz="1000" dirty="0">
              <a:solidFill>
                <a:schemeClr val="tx1">
                  <a:alpha val="70000"/>
                </a:schemeClr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9" name="TextBox 8"/>
          <p:cNvSpPr txBox="1"/>
          <p:nvPr>
            <p:custDataLst>
              <p:tags r:id="rId5"/>
            </p:custDataLst>
          </p:nvPr>
        </p:nvSpPr>
        <p:spPr>
          <a:xfrm>
            <a:off x="1694378" y="4575156"/>
            <a:ext cx="1918335" cy="306705"/>
          </a:xfrm>
          <a:prstGeom prst="rect">
            <a:avLst/>
          </a:prstGeom>
          <a:noFill/>
        </p:spPr>
        <p:txBody>
          <a:bodyPr wrap="none" lIns="0" rIns="0" rtlCol="0">
            <a:spAutoFit/>
          </a:bodyPr>
          <a:p>
            <a:pPr algn="ctr"/>
            <a:r>
              <a:rPr lang="zh-CN" altLang="en-US" sz="1400" b="1" dirty="0" smtClean="0">
                <a:latin typeface="微软雅黑" panose="020B0503020204020204" charset="-122"/>
                <a:ea typeface="微软雅黑" panose="020B0503020204020204" charset="-122"/>
                <a:cs typeface="Open Sans" panose="020B0606030504020204" charset="0"/>
                <a:sym typeface="+mn-ea"/>
              </a:rPr>
              <a:t>提示词工程</a:t>
            </a:r>
            <a:r>
              <a:rPr lang="en-US" altLang="zh-CN" sz="1400" dirty="0" smtClean="0">
                <a:latin typeface="微软雅黑" panose="020B0503020204020204" charset="-122"/>
                <a:ea typeface="微软雅黑" panose="020B0503020204020204" charset="-122"/>
                <a:sym typeface="+mn-ea"/>
              </a:rPr>
              <a:t>(2022-2024)</a:t>
            </a:r>
            <a:endParaRPr lang="zh-CN" altLang="en-US" sz="1400" b="1" dirty="0" smtClean="0">
              <a:latin typeface="微软雅黑" panose="020B0503020204020204" charset="-122"/>
              <a:ea typeface="微软雅黑" panose="020B0503020204020204" charset="-122"/>
              <a:cs typeface="Open Sans" panose="020B0606030504020204" charset="0"/>
              <a:sym typeface="+mn-ea"/>
            </a:endParaRPr>
          </a:p>
        </p:txBody>
      </p:sp>
      <p:cxnSp>
        <p:nvCxnSpPr>
          <p:cNvPr id="10" name="Straight Connector 9"/>
          <p:cNvCxnSpPr/>
          <p:nvPr>
            <p:custDataLst>
              <p:tags r:id="rId6"/>
            </p:custDataLst>
          </p:nvPr>
        </p:nvCxnSpPr>
        <p:spPr>
          <a:xfrm>
            <a:off x="2603001" y="3920957"/>
            <a:ext cx="0" cy="477078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1" name="TextBox 10"/>
          <p:cNvSpPr txBox="1"/>
          <p:nvPr>
            <p:custDataLst>
              <p:tags r:id="rId7"/>
            </p:custDataLst>
          </p:nvPr>
        </p:nvSpPr>
        <p:spPr>
          <a:xfrm>
            <a:off x="4785481" y="2694229"/>
            <a:ext cx="2621038" cy="691515"/>
          </a:xfrm>
          <a:prstGeom prst="rect">
            <a:avLst/>
          </a:prstGeom>
          <a:noFill/>
        </p:spPr>
        <p:txBody>
          <a:bodyPr wrap="square" lIns="0" rIns="0" rtlCol="0">
            <a:spAutoFit/>
          </a:bodyPr>
          <a:p>
            <a:pPr algn="ctr">
              <a:lnSpc>
                <a:spcPct val="130000"/>
              </a:lnSpc>
            </a:pPr>
            <a:r>
              <a:rPr lang="zh-CN" altLang="en-US" sz="1000" dirty="0">
                <a:solidFill>
                  <a:schemeClr val="tx1">
                    <a:alpha val="70000"/>
                  </a:schemeClr>
                </a:solidFill>
                <a:latin typeface="微软雅黑" panose="020B0503020204020204" charset="-122"/>
                <a:ea typeface="微软雅黑" panose="020B0503020204020204" charset="-122"/>
              </a:rPr>
              <a:t>为了做出明智的决策，模型需要一个动态构建的上下文窗口，其中包含相关文档、对话历史记录、工具定义和红黄绿（</a:t>
            </a:r>
            <a:r>
              <a:rPr lang="en-US" altLang="zh-CN" sz="1000" dirty="0">
                <a:solidFill>
                  <a:schemeClr val="tx1">
                    <a:alpha val="70000"/>
                  </a:schemeClr>
                </a:solidFill>
                <a:latin typeface="微软雅黑" panose="020B0503020204020204" charset="-122"/>
                <a:ea typeface="微软雅黑" panose="020B0503020204020204" charset="-122"/>
              </a:rPr>
              <a:t>RAG</a:t>
            </a:r>
            <a:r>
              <a:rPr lang="zh-CN" altLang="en-US" sz="1000" dirty="0">
                <a:solidFill>
                  <a:schemeClr val="tx1">
                    <a:alpha val="70000"/>
                  </a:schemeClr>
                </a:solidFill>
                <a:latin typeface="微软雅黑" panose="020B0503020204020204" charset="-122"/>
                <a:ea typeface="微软雅黑" panose="020B0503020204020204" charset="-122"/>
              </a:rPr>
              <a:t>）结果。</a:t>
            </a:r>
            <a:endParaRPr lang="zh-CN" altLang="en-US" sz="1000" dirty="0">
              <a:solidFill>
                <a:schemeClr val="tx1">
                  <a:alpha val="70000"/>
                </a:schemeClr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2" name="TextBox 11"/>
          <p:cNvSpPr txBox="1"/>
          <p:nvPr>
            <p:custDataLst>
              <p:tags r:id="rId8"/>
            </p:custDataLst>
          </p:nvPr>
        </p:nvSpPr>
        <p:spPr>
          <a:xfrm>
            <a:off x="5253991" y="3711648"/>
            <a:ext cx="1684020" cy="306705"/>
          </a:xfrm>
          <a:prstGeom prst="rect">
            <a:avLst/>
          </a:prstGeom>
          <a:noFill/>
        </p:spPr>
        <p:txBody>
          <a:bodyPr wrap="none" lIns="0" rIns="0" rtlCol="0">
            <a:spAutoFit/>
          </a:bodyPr>
          <a:p>
            <a:pPr algn="ctr"/>
            <a:r>
              <a:rPr lang="zh-CN" altLang="en-US" sz="1400" b="1" dirty="0" smtClean="0">
                <a:latin typeface="微软雅黑" panose="020B0503020204020204" charset="-122"/>
                <a:ea typeface="微软雅黑" panose="020B0503020204020204" charset="-122"/>
                <a:cs typeface="Open Sans" panose="020B0606030504020204" charset="0"/>
              </a:rPr>
              <a:t>上下文工程（</a:t>
            </a:r>
            <a:r>
              <a:rPr lang="en-US" altLang="zh-CN" sz="1400" b="1" dirty="0" smtClean="0">
                <a:latin typeface="微软雅黑" panose="020B0503020204020204" charset="-122"/>
                <a:ea typeface="微软雅黑" panose="020B0503020204020204" charset="-122"/>
                <a:cs typeface="Open Sans" panose="020B0606030504020204" charset="0"/>
              </a:rPr>
              <a:t>2025</a:t>
            </a:r>
            <a:r>
              <a:rPr lang="zh-CN" altLang="en-US" sz="1400" b="1" dirty="0" smtClean="0">
                <a:latin typeface="微软雅黑" panose="020B0503020204020204" charset="-122"/>
                <a:ea typeface="微软雅黑" panose="020B0503020204020204" charset="-122"/>
                <a:cs typeface="Open Sans" panose="020B0606030504020204" charset="0"/>
              </a:rPr>
              <a:t>）</a:t>
            </a:r>
            <a:endParaRPr lang="zh-CN" altLang="en-US" sz="1400" b="1" dirty="0" smtClean="0">
              <a:latin typeface="微软雅黑" panose="020B0503020204020204" charset="-122"/>
              <a:ea typeface="微软雅黑" panose="020B0503020204020204" charset="-122"/>
              <a:cs typeface="Open Sans" panose="020B0606030504020204" charset="0"/>
            </a:endParaRPr>
          </a:p>
        </p:txBody>
      </p:sp>
      <p:sp>
        <p:nvSpPr>
          <p:cNvPr id="14" name="Oval 13"/>
          <p:cNvSpPr/>
          <p:nvPr>
            <p:custDataLst>
              <p:tags r:id="rId9"/>
            </p:custDataLst>
          </p:nvPr>
        </p:nvSpPr>
        <p:spPr>
          <a:xfrm>
            <a:off x="5383765" y="4417899"/>
            <a:ext cx="1424470" cy="1424470"/>
          </a:xfrm>
          <a:prstGeom prst="ellipse">
            <a:avLst/>
          </a:prstGeom>
          <a:solidFill>
            <a:schemeClr val="bg1"/>
          </a:solidFill>
          <a:ln w="63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0" tIns="0" rIns="0" bIns="0" numCol="1" spcCol="0" rtlCol="0" fromWordArt="0" anchor="ctr" anchorCtr="0" forceAA="0" compatLnSpc="1">
            <a:noAutofit/>
          </a:bodyPr>
          <a:p>
            <a:pPr algn="ctr"/>
            <a:r>
              <a:rPr lang="en-US" altLang="zh-CN" dirty="0" smtClean="0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</a:rPr>
              <a:t>Context Engineering</a:t>
            </a:r>
            <a:endParaRPr lang="en-US" altLang="zh-CN" dirty="0" smtClean="0">
              <a:solidFill>
                <a:schemeClr val="tx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cxnSp>
        <p:nvCxnSpPr>
          <p:cNvPr id="15" name="Straight Connector 14"/>
          <p:cNvCxnSpPr/>
          <p:nvPr>
            <p:custDataLst>
              <p:tags r:id="rId10"/>
            </p:custDataLst>
          </p:nvPr>
        </p:nvCxnSpPr>
        <p:spPr>
          <a:xfrm>
            <a:off x="6094346" y="4170328"/>
            <a:ext cx="0" cy="477078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7" name="Oval 16"/>
          <p:cNvSpPr/>
          <p:nvPr>
            <p:custDataLst>
              <p:tags r:id="rId11"/>
            </p:custDataLst>
          </p:nvPr>
        </p:nvSpPr>
        <p:spPr>
          <a:xfrm>
            <a:off x="8691345" y="2713871"/>
            <a:ext cx="1424470" cy="1424470"/>
          </a:xfrm>
          <a:prstGeom prst="ellipse">
            <a:avLst/>
          </a:prstGeom>
          <a:solidFill>
            <a:schemeClr val="bg1"/>
          </a:solidFill>
          <a:ln w="63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0" tIns="0" rIns="0" bIns="0" numCol="1" spcCol="0" rtlCol="0" fromWordArt="0" anchor="ctr" anchorCtr="0" forceAA="0" compatLnSpc="1">
            <a:noAutofit/>
          </a:bodyPr>
          <a:p>
            <a:pPr algn="ctr"/>
            <a:r>
              <a:rPr lang="en-US" altLang="zh-CN" dirty="0" smtClean="0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</a:rPr>
              <a:t>Harness Engineering</a:t>
            </a:r>
            <a:endParaRPr lang="en-US" altLang="zh-CN" dirty="0" smtClean="0">
              <a:solidFill>
                <a:schemeClr val="tx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8" name="TextBox 17"/>
          <p:cNvSpPr txBox="1"/>
          <p:nvPr>
            <p:custDataLst>
              <p:tags r:id="rId12"/>
            </p:custDataLst>
          </p:nvPr>
        </p:nvSpPr>
        <p:spPr>
          <a:xfrm>
            <a:off x="8117100" y="5019092"/>
            <a:ext cx="2621038" cy="691515"/>
          </a:xfrm>
          <a:prstGeom prst="rect">
            <a:avLst/>
          </a:prstGeom>
          <a:noFill/>
        </p:spPr>
        <p:txBody>
          <a:bodyPr wrap="square" lIns="0" rIns="0" rtlCol="0">
            <a:spAutoFit/>
          </a:bodyPr>
          <a:p>
            <a:pPr algn="ctr">
              <a:lnSpc>
                <a:spcPct val="130000"/>
              </a:lnSpc>
            </a:pPr>
            <a:r>
              <a:rPr lang="en-US" altLang="zh-CN" sz="1000" dirty="0">
                <a:solidFill>
                  <a:schemeClr val="tx1">
                    <a:alpha val="70000"/>
                  </a:schemeClr>
                </a:solidFill>
                <a:latin typeface="微软雅黑" panose="020B0503020204020204" charset="-122"/>
                <a:ea typeface="微软雅黑" panose="020B0503020204020204" charset="-122"/>
              </a:rPr>
              <a:t>Harness</a:t>
            </a:r>
            <a:r>
              <a:rPr lang="zh-CN" altLang="en-US" sz="1000" dirty="0">
                <a:solidFill>
                  <a:schemeClr val="tx1">
                    <a:alpha val="70000"/>
                  </a:schemeClr>
                </a:solidFill>
                <a:latin typeface="微软雅黑" panose="020B0503020204020204" charset="-122"/>
                <a:ea typeface="微软雅黑" panose="020B0503020204020204" charset="-122"/>
              </a:rPr>
              <a:t>定义了</a:t>
            </a:r>
            <a:r>
              <a:rPr lang="en-US" altLang="zh-CN" sz="1000" dirty="0">
                <a:solidFill>
                  <a:schemeClr val="tx1">
                    <a:alpha val="70000"/>
                  </a:schemeClr>
                </a:solidFill>
                <a:latin typeface="微软雅黑" panose="020B0503020204020204" charset="-122"/>
                <a:ea typeface="微软雅黑" panose="020B0503020204020204" charset="-122"/>
              </a:rPr>
              <a:t>Agent</a:t>
            </a:r>
            <a:r>
              <a:rPr lang="zh-CN" altLang="en-US" sz="1000" dirty="0">
                <a:solidFill>
                  <a:schemeClr val="tx1">
                    <a:alpha val="70000"/>
                  </a:schemeClr>
                </a:solidFill>
                <a:latin typeface="微软雅黑" panose="020B0503020204020204" charset="-122"/>
                <a:ea typeface="微软雅黑" panose="020B0503020204020204" charset="-122"/>
              </a:rPr>
              <a:t>的工作流程、约束条件、反馈回路、工具链和生命周期。它使代理能够持续、可靠且高质量地工作。</a:t>
            </a:r>
            <a:endParaRPr lang="zh-CN" altLang="en-US" sz="1000" dirty="0">
              <a:solidFill>
                <a:schemeClr val="tx1">
                  <a:alpha val="70000"/>
                </a:schemeClr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9" name="TextBox 18"/>
          <p:cNvSpPr txBox="1"/>
          <p:nvPr>
            <p:custDataLst>
              <p:tags r:id="rId13"/>
            </p:custDataLst>
          </p:nvPr>
        </p:nvSpPr>
        <p:spPr>
          <a:xfrm>
            <a:off x="8493219" y="4575156"/>
            <a:ext cx="1868805" cy="306705"/>
          </a:xfrm>
          <a:prstGeom prst="rect">
            <a:avLst/>
          </a:prstGeom>
          <a:noFill/>
        </p:spPr>
        <p:txBody>
          <a:bodyPr wrap="none" lIns="0" rIns="0" rtlCol="0">
            <a:spAutoFit/>
          </a:bodyPr>
          <a:p>
            <a:pPr algn="ctr"/>
            <a:r>
              <a:rPr lang="en-US" altLang="zh-CN" sz="1400" b="1" dirty="0" smtClean="0">
                <a:latin typeface="微软雅黑" panose="020B0503020204020204" charset="-122"/>
                <a:ea typeface="微软雅黑" panose="020B0503020204020204" charset="-122"/>
                <a:cs typeface="Open Sans" panose="020B0606030504020204" charset="0"/>
                <a:sym typeface="+mn-ea"/>
              </a:rPr>
              <a:t>Harness</a:t>
            </a:r>
            <a:r>
              <a:rPr lang="zh-CN" altLang="en-US" sz="1400" b="1" dirty="0" smtClean="0">
                <a:latin typeface="微软雅黑" panose="020B0503020204020204" charset="-122"/>
                <a:ea typeface="微软雅黑" panose="020B0503020204020204" charset="-122"/>
                <a:cs typeface="Open Sans" panose="020B0606030504020204" charset="0"/>
                <a:sym typeface="+mn-ea"/>
              </a:rPr>
              <a:t>工程（</a:t>
            </a:r>
            <a:r>
              <a:rPr lang="en-US" altLang="zh-CN" sz="1400" b="1" dirty="0" smtClean="0">
                <a:latin typeface="微软雅黑" panose="020B0503020204020204" charset="-122"/>
                <a:ea typeface="微软雅黑" panose="020B0503020204020204" charset="-122"/>
                <a:cs typeface="Open Sans" panose="020B0606030504020204" charset="0"/>
                <a:sym typeface="+mn-ea"/>
              </a:rPr>
              <a:t>2026</a:t>
            </a:r>
            <a:r>
              <a:rPr lang="zh-CN" altLang="en-US" sz="1400" b="1" dirty="0" smtClean="0">
                <a:latin typeface="微软雅黑" panose="020B0503020204020204" charset="-122"/>
                <a:ea typeface="微软雅黑" panose="020B0503020204020204" charset="-122"/>
                <a:cs typeface="Open Sans" panose="020B0606030504020204" charset="0"/>
                <a:sym typeface="+mn-ea"/>
              </a:rPr>
              <a:t>）</a:t>
            </a:r>
            <a:endParaRPr lang="zh-CN" altLang="en-US" sz="1400" b="1" dirty="0" smtClean="0">
              <a:latin typeface="微软雅黑" panose="020B0503020204020204" charset="-122"/>
              <a:ea typeface="微软雅黑" panose="020B0503020204020204" charset="-122"/>
              <a:cs typeface="Open Sans" panose="020B0606030504020204" charset="0"/>
              <a:sym typeface="+mn-ea"/>
            </a:endParaRPr>
          </a:p>
        </p:txBody>
      </p:sp>
      <p:cxnSp>
        <p:nvCxnSpPr>
          <p:cNvPr id="20" name="Straight Connector 19"/>
          <p:cNvCxnSpPr/>
          <p:nvPr>
            <p:custDataLst>
              <p:tags r:id="rId14"/>
            </p:custDataLst>
          </p:nvPr>
        </p:nvCxnSpPr>
        <p:spPr>
          <a:xfrm>
            <a:off x="9377076" y="3920957"/>
            <a:ext cx="0" cy="477078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3" name="组合 2"/>
          <p:cNvGrpSpPr/>
          <p:nvPr/>
        </p:nvGrpSpPr>
        <p:grpSpPr>
          <a:xfrm>
            <a:off x="2035810" y="582930"/>
            <a:ext cx="8120380" cy="1326515"/>
            <a:chOff x="3206" y="98"/>
            <a:chExt cx="12788" cy="2089"/>
          </a:xfrm>
        </p:grpSpPr>
        <p:sp>
          <p:nvSpPr>
            <p:cNvPr id="4" name="TextBox 8"/>
            <p:cNvSpPr txBox="1"/>
            <p:nvPr/>
          </p:nvSpPr>
          <p:spPr>
            <a:xfrm>
              <a:off x="3206" y="98"/>
              <a:ext cx="12788" cy="1598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p>
              <a:pPr algn="ctr"/>
              <a:r>
                <a:rPr lang="en-US" sz="6000" b="1" spc="600" dirty="0" smtClean="0">
                  <a:solidFill>
                    <a:schemeClr val="bg1">
                      <a:lumMod val="95000"/>
                    </a:schemeClr>
                  </a:solidFill>
                  <a:latin typeface="庞门正道标题体" panose="02010600030101010101" charset="-122"/>
                  <a:ea typeface="庞门正道标题体" panose="02010600030101010101" charset="-122"/>
                  <a:cs typeface="Montserrat" panose="00000500000000000000" pitchFamily="50" charset="0"/>
                </a:rPr>
                <a:t>THREE CHANGE</a:t>
              </a:r>
              <a:endParaRPr lang="en-US" sz="6000" b="1" spc="600" dirty="0" smtClean="0">
                <a:solidFill>
                  <a:schemeClr val="bg1">
                    <a:lumMod val="95000"/>
                  </a:schemeClr>
                </a:solidFill>
                <a:latin typeface="庞门正道标题体" panose="02010600030101010101" charset="-122"/>
                <a:ea typeface="庞门正道标题体" panose="02010600030101010101" charset="-122"/>
                <a:cs typeface="Montserrat" panose="00000500000000000000" pitchFamily="50" charset="0"/>
              </a:endParaRPr>
            </a:p>
          </p:txBody>
        </p:sp>
        <p:sp>
          <p:nvSpPr>
            <p:cNvPr id="24" name="TextBox 9"/>
            <p:cNvSpPr txBox="1"/>
            <p:nvPr/>
          </p:nvSpPr>
          <p:spPr>
            <a:xfrm>
              <a:off x="4143" y="653"/>
              <a:ext cx="10932" cy="130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p>
              <a:pPr algn="ctr"/>
              <a:r>
                <a:rPr lang="zh-CN" altLang="zh-CN" sz="4800" b="1" spc="600" dirty="0" smtClean="0">
                  <a:solidFill>
                    <a:schemeClr val="tx1"/>
                  </a:solidFill>
                  <a:latin typeface="方正明尚简体" panose="02000000000000000000" charset="-122"/>
                  <a:ea typeface="方正明尚简体" panose="02000000000000000000" charset="-122"/>
                  <a:cs typeface="Montserrat" panose="00000500000000000000" pitchFamily="50" charset="0"/>
                </a:rPr>
                <a:t>三代工程</a:t>
              </a:r>
              <a:r>
                <a:rPr lang="zh-CN" altLang="zh-CN" sz="4800" b="1" spc="600" dirty="0" smtClean="0">
                  <a:solidFill>
                    <a:schemeClr val="tx1"/>
                  </a:solidFill>
                  <a:latin typeface="方正明尚简体" panose="02000000000000000000" charset="-122"/>
                  <a:ea typeface="方正明尚简体" panose="02000000000000000000" charset="-122"/>
                  <a:cs typeface="Montserrat" panose="00000500000000000000" pitchFamily="50" charset="0"/>
                </a:rPr>
                <a:t>变革</a:t>
              </a:r>
              <a:endParaRPr lang="zh-CN" altLang="zh-CN" sz="4800" b="1" spc="600" dirty="0" smtClean="0">
                <a:solidFill>
                  <a:schemeClr val="tx1"/>
                </a:solidFill>
                <a:latin typeface="方正明尚简体" panose="02000000000000000000" charset="-122"/>
                <a:ea typeface="方正明尚简体" panose="02000000000000000000" charset="-122"/>
                <a:cs typeface="Montserrat" panose="00000500000000000000" pitchFamily="50" charset="0"/>
              </a:endParaRPr>
            </a:p>
          </p:txBody>
        </p:sp>
        <p:sp>
          <p:nvSpPr>
            <p:cNvPr id="25" name="TextBox 12"/>
            <p:cNvSpPr txBox="1"/>
            <p:nvPr/>
          </p:nvSpPr>
          <p:spPr>
            <a:xfrm>
              <a:off x="5681" y="1618"/>
              <a:ext cx="7856" cy="56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p>
              <a:pPr algn="ctr">
                <a:lnSpc>
                  <a:spcPct val="150000"/>
                </a:lnSpc>
              </a:pPr>
              <a:r>
                <a:rPr lang="en-US" altLang="zh-CN" baseline="-25000" dirty="0" smtClean="0">
                  <a:latin typeface="Dotum" panose="020B0600000101010101" charset="-127"/>
                  <a:ea typeface="Dotum" panose="020B0600000101010101" charset="-127"/>
                  <a:cs typeface="+mj-lt"/>
                </a:rPr>
                <a:t>Three Generations of Change</a:t>
              </a:r>
              <a:endParaRPr lang="en-US" altLang="zh-CN" baseline="-25000" dirty="0" smtClean="0">
                <a:latin typeface="Dotum" panose="020B0600000101010101" charset="-127"/>
                <a:ea typeface="Dotum" panose="020B0600000101010101" charset="-127"/>
                <a:cs typeface="+mj-lt"/>
              </a:endParaRPr>
            </a:p>
          </p:txBody>
        </p:sp>
      </p:grp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0"/>
    </mc:Choice>
    <mc:Fallback>
      <p:transition/>
    </mc:Fallback>
  </mc:AlternateContent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grpSp>
        <p:nvGrpSpPr>
          <p:cNvPr id="3" name="组合 2"/>
          <p:cNvGrpSpPr/>
          <p:nvPr/>
        </p:nvGrpSpPr>
        <p:grpSpPr>
          <a:xfrm>
            <a:off x="2035810" y="582930"/>
            <a:ext cx="8120380" cy="1326515"/>
            <a:chOff x="3206" y="98"/>
            <a:chExt cx="12788" cy="2089"/>
          </a:xfrm>
        </p:grpSpPr>
        <p:sp>
          <p:nvSpPr>
            <p:cNvPr id="4" name="TextBox 8"/>
            <p:cNvSpPr txBox="1"/>
            <p:nvPr/>
          </p:nvSpPr>
          <p:spPr>
            <a:xfrm>
              <a:off x="3206" y="98"/>
              <a:ext cx="12788" cy="1598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p>
              <a:pPr algn="ctr"/>
              <a:r>
                <a:rPr lang="en-US" sz="6000" b="1" spc="600" dirty="0" smtClean="0">
                  <a:solidFill>
                    <a:schemeClr val="bg1">
                      <a:lumMod val="95000"/>
                    </a:schemeClr>
                  </a:solidFill>
                  <a:latin typeface="庞门正道标题体" panose="02010600030101010101" charset="-122"/>
                  <a:ea typeface="庞门正道标题体" panose="02010600030101010101" charset="-122"/>
                  <a:cs typeface="Montserrat" panose="00000500000000000000" pitchFamily="50" charset="0"/>
                </a:rPr>
                <a:t>THREE CHANGE</a:t>
              </a:r>
              <a:endParaRPr lang="en-US" sz="6000" b="1" spc="600" dirty="0" smtClean="0">
                <a:solidFill>
                  <a:schemeClr val="bg1">
                    <a:lumMod val="95000"/>
                  </a:schemeClr>
                </a:solidFill>
                <a:latin typeface="庞门正道标题体" panose="02010600030101010101" charset="-122"/>
                <a:ea typeface="庞门正道标题体" panose="02010600030101010101" charset="-122"/>
                <a:cs typeface="Montserrat" panose="00000500000000000000" pitchFamily="50" charset="0"/>
              </a:endParaRPr>
            </a:p>
          </p:txBody>
        </p:sp>
        <p:sp>
          <p:nvSpPr>
            <p:cNvPr id="24" name="TextBox 9"/>
            <p:cNvSpPr txBox="1"/>
            <p:nvPr/>
          </p:nvSpPr>
          <p:spPr>
            <a:xfrm>
              <a:off x="4143" y="653"/>
              <a:ext cx="10932" cy="130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p>
              <a:pPr algn="ctr"/>
              <a:r>
                <a:rPr lang="zh-CN" altLang="zh-CN" sz="4800" b="1" spc="600" dirty="0" smtClean="0">
                  <a:solidFill>
                    <a:schemeClr val="tx1"/>
                  </a:solidFill>
                  <a:latin typeface="方正明尚简体" panose="02000000000000000000" charset="-122"/>
                  <a:ea typeface="方正明尚简体" panose="02000000000000000000" charset="-122"/>
                  <a:cs typeface="Montserrat" panose="00000500000000000000" pitchFamily="50" charset="0"/>
                </a:rPr>
                <a:t>三代工程</a:t>
              </a:r>
              <a:r>
                <a:rPr lang="zh-CN" altLang="zh-CN" sz="4800" b="1" spc="600" dirty="0" smtClean="0">
                  <a:solidFill>
                    <a:schemeClr val="tx1"/>
                  </a:solidFill>
                  <a:latin typeface="方正明尚简体" panose="02000000000000000000" charset="-122"/>
                  <a:ea typeface="方正明尚简体" panose="02000000000000000000" charset="-122"/>
                  <a:cs typeface="Montserrat" panose="00000500000000000000" pitchFamily="50" charset="0"/>
                </a:rPr>
                <a:t>变革</a:t>
              </a:r>
              <a:endParaRPr lang="zh-CN" altLang="zh-CN" sz="4800" b="1" spc="600" dirty="0" smtClean="0">
                <a:solidFill>
                  <a:schemeClr val="tx1"/>
                </a:solidFill>
                <a:latin typeface="方正明尚简体" panose="02000000000000000000" charset="-122"/>
                <a:ea typeface="方正明尚简体" panose="02000000000000000000" charset="-122"/>
                <a:cs typeface="Montserrat" panose="00000500000000000000" pitchFamily="50" charset="0"/>
              </a:endParaRPr>
            </a:p>
          </p:txBody>
        </p:sp>
        <p:sp>
          <p:nvSpPr>
            <p:cNvPr id="25" name="TextBox 12"/>
            <p:cNvSpPr txBox="1"/>
            <p:nvPr/>
          </p:nvSpPr>
          <p:spPr>
            <a:xfrm>
              <a:off x="5681" y="1618"/>
              <a:ext cx="7856" cy="56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p>
              <a:pPr algn="ctr">
                <a:lnSpc>
                  <a:spcPct val="150000"/>
                </a:lnSpc>
              </a:pPr>
              <a:r>
                <a:rPr lang="en-US" altLang="zh-CN" baseline="-25000" dirty="0" smtClean="0">
                  <a:latin typeface="Dotum" panose="020B0600000101010101" charset="-127"/>
                  <a:ea typeface="Dotum" panose="020B0600000101010101" charset="-127"/>
                  <a:cs typeface="+mj-lt"/>
                </a:rPr>
                <a:t>Three Generations of Change</a:t>
              </a:r>
              <a:endParaRPr lang="en-US" altLang="zh-CN" baseline="-25000" dirty="0" smtClean="0">
                <a:latin typeface="Dotum" panose="020B0600000101010101" charset="-127"/>
                <a:ea typeface="Dotum" panose="020B0600000101010101" charset="-127"/>
                <a:cs typeface="+mj-lt"/>
              </a:endParaRPr>
            </a:p>
          </p:txBody>
        </p:sp>
      </p:grpSp>
      <p:pic>
        <p:nvPicPr>
          <p:cNvPr id="2" name="图片 1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714500" y="1992630"/>
            <a:ext cx="8999220" cy="4523105"/>
          </a:xfrm>
          <a:prstGeom prst="rect">
            <a:avLst/>
          </a:prstGeom>
        </p:spPr>
      </p:pic>
      <p:sp>
        <p:nvSpPr>
          <p:cNvPr id="5" name="文本框 4"/>
          <p:cNvSpPr txBox="1"/>
          <p:nvPr/>
        </p:nvSpPr>
        <p:spPr>
          <a:xfrm>
            <a:off x="2401570" y="3623310"/>
            <a:ext cx="4064000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zh-CN" altLang="en-US"/>
              <a:t>怎么让</a:t>
            </a:r>
            <a:r>
              <a:rPr lang="en-US" altLang="zh-CN"/>
              <a:t>AI</a:t>
            </a:r>
            <a:r>
              <a:rPr lang="zh-CN" altLang="en-US"/>
              <a:t>干活更</a:t>
            </a:r>
            <a:r>
              <a:rPr lang="zh-CN" altLang="en-US"/>
              <a:t>靠谱</a:t>
            </a:r>
            <a:endParaRPr lang="zh-CN" altLang="en-US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0"/>
    </mc:Choice>
    <mc:Fallback>
      <p:transition/>
    </mc:Fallback>
  </mc:AlternateContent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3" name="TextBox 8"/>
          <p:cNvSpPr txBox="1"/>
          <p:nvPr/>
        </p:nvSpPr>
        <p:spPr>
          <a:xfrm>
            <a:off x="-352107" y="1611517"/>
            <a:ext cx="12896215" cy="229933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pPr algn="ctr"/>
            <a:r>
              <a:rPr lang="en-US" sz="14350" b="1" spc="600" dirty="0" smtClean="0">
                <a:solidFill>
                  <a:srgbClr val="F7F7F7"/>
                </a:solidFill>
                <a:latin typeface="庞门正道标题体" panose="02010600030101010101" charset="-122"/>
                <a:ea typeface="庞门正道标题体" panose="02010600030101010101" charset="-122"/>
                <a:cs typeface="Montserrat" panose="00000500000000000000" pitchFamily="50" charset="0"/>
              </a:rPr>
              <a:t>HARNESS</a:t>
            </a:r>
            <a:endParaRPr lang="en-US" sz="14350" b="1" spc="600" dirty="0" smtClean="0">
              <a:solidFill>
                <a:srgbClr val="F7F7F7"/>
              </a:solidFill>
              <a:latin typeface="庞门正道标题体" panose="02010600030101010101" charset="-122"/>
              <a:ea typeface="庞门正道标题体" panose="02010600030101010101" charset="-122"/>
              <a:cs typeface="Montserrat" panose="00000500000000000000" pitchFamily="50" charset="0"/>
            </a:endParaRPr>
          </a:p>
        </p:txBody>
      </p:sp>
      <p:sp>
        <p:nvSpPr>
          <p:cNvPr id="4" name="TextBox 9"/>
          <p:cNvSpPr txBox="1"/>
          <p:nvPr/>
        </p:nvSpPr>
        <p:spPr>
          <a:xfrm>
            <a:off x="2630577" y="2421142"/>
            <a:ext cx="6941730" cy="132207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pPr algn="ctr"/>
            <a:r>
              <a:rPr lang="en-US" altLang="zh-CN" sz="8000" b="1" spc="600" dirty="0" smtClean="0">
                <a:solidFill>
                  <a:schemeClr val="tx1"/>
                </a:solidFill>
                <a:latin typeface="方正明尚简体" panose="02000000000000000000" charset="-122"/>
                <a:ea typeface="方正明尚简体" panose="02000000000000000000" charset="-122"/>
                <a:cs typeface="Montserrat" panose="00000500000000000000" pitchFamily="50" charset="0"/>
              </a:rPr>
              <a:t>H</a:t>
            </a:r>
            <a:r>
              <a:rPr lang="en-US" altLang="zh-CN" sz="8000" b="1" spc="600" dirty="0" smtClean="0">
                <a:solidFill>
                  <a:schemeClr val="tx1"/>
                </a:solidFill>
                <a:latin typeface="方正明尚简体" panose="02000000000000000000" charset="-122"/>
                <a:ea typeface="方正明尚简体" panose="02000000000000000000" charset="-122"/>
                <a:cs typeface="Montserrat" panose="00000500000000000000" pitchFamily="50" charset="0"/>
              </a:rPr>
              <a:t>arness</a:t>
            </a:r>
            <a:endParaRPr lang="en-US" altLang="zh-CN" sz="8000" b="1" spc="600" dirty="0" smtClean="0">
              <a:solidFill>
                <a:schemeClr val="tx1"/>
              </a:solidFill>
              <a:latin typeface="方正明尚简体" panose="02000000000000000000" charset="-122"/>
              <a:ea typeface="方正明尚简体" panose="02000000000000000000" charset="-122"/>
              <a:cs typeface="Montserrat" panose="00000500000000000000" pitchFamily="50" charset="0"/>
            </a:endParaRPr>
          </a:p>
        </p:txBody>
      </p:sp>
      <p:sp>
        <p:nvSpPr>
          <p:cNvPr id="5" name="TextBox 12"/>
          <p:cNvSpPr txBox="1"/>
          <p:nvPr/>
        </p:nvSpPr>
        <p:spPr>
          <a:xfrm>
            <a:off x="3607261" y="3592841"/>
            <a:ext cx="4988364" cy="49593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pPr algn="ctr">
              <a:lnSpc>
                <a:spcPct val="150000"/>
              </a:lnSpc>
            </a:pPr>
            <a:r>
              <a:rPr lang="en-US" sz="2700" baseline="-25000" dirty="0" smtClean="0">
                <a:latin typeface="Dotum" panose="020B0600000101010101" charset="-127"/>
                <a:ea typeface="Dotum" panose="020B0600000101010101" charset="-127"/>
                <a:cs typeface="+mj-lt"/>
              </a:rPr>
              <a:t>harness </a:t>
            </a:r>
            <a:r>
              <a:rPr lang="en-US" sz="2700" baseline="-25000" dirty="0" smtClean="0">
                <a:latin typeface="Dotum" panose="020B0600000101010101" charset="-127"/>
                <a:ea typeface="Dotum" panose="020B0600000101010101" charset="-127"/>
                <a:cs typeface="+mj-lt"/>
              </a:rPr>
              <a:t>engineer</a:t>
            </a:r>
            <a:endParaRPr lang="en-US" sz="2700" baseline="-25000" dirty="0" smtClean="0">
              <a:latin typeface="Dotum" panose="020B0600000101010101" charset="-127"/>
              <a:ea typeface="Dotum" panose="020B0600000101010101" charset="-127"/>
              <a:cs typeface="+mj-lt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0"/>
    </mc:Choice>
    <mc:Fallback>
      <p:transition/>
    </mc:Fallback>
  </mc:AlternateContent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34" name="Oval 133"/>
          <p:cNvSpPr/>
          <p:nvPr/>
        </p:nvSpPr>
        <p:spPr>
          <a:xfrm>
            <a:off x="8080375" y="2608580"/>
            <a:ext cx="377190" cy="382270"/>
          </a:xfrm>
          <a:prstGeom prst="ellipse">
            <a:avLst/>
          </a:prstGeom>
          <a:solidFill>
            <a:schemeClr val="accent2"/>
          </a:solidFill>
          <a:ln w="635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r>
              <a:rPr lang="en-US" sz="1000" b="1" dirty="0" smtClean="0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Open Sans SemiBold" panose="020B0706030804020204" charset="0"/>
              </a:rPr>
              <a:t>2</a:t>
            </a:r>
            <a:endParaRPr lang="en-US" sz="1000" b="1" dirty="0" smtClean="0">
              <a:solidFill>
                <a:srgbClr val="FFFFFF"/>
              </a:solidFill>
              <a:latin typeface="微软雅黑" panose="020B0503020204020204" charset="-122"/>
              <a:ea typeface="微软雅黑" panose="020B0503020204020204" charset="-122"/>
              <a:cs typeface="Open Sans SemiBold" panose="020B0706030804020204" charset="0"/>
            </a:endParaRPr>
          </a:p>
        </p:txBody>
      </p:sp>
      <p:sp>
        <p:nvSpPr>
          <p:cNvPr id="49" name="Freeform 51"/>
          <p:cNvSpPr>
            <a:spLocks noEditPoints="1"/>
          </p:cNvSpPr>
          <p:nvPr/>
        </p:nvSpPr>
        <p:spPr bwMode="auto">
          <a:xfrm>
            <a:off x="4263533" y="2657222"/>
            <a:ext cx="3670300" cy="3648075"/>
          </a:xfrm>
          <a:custGeom>
            <a:avLst/>
            <a:gdLst>
              <a:gd name="T0" fmla="*/ 2311 w 2312"/>
              <a:gd name="T1" fmla="*/ 1217 h 2298"/>
              <a:gd name="T2" fmla="*/ 2176 w 2312"/>
              <a:gd name="T3" fmla="*/ 665 h 2298"/>
              <a:gd name="T4" fmla="*/ 2077 w 2312"/>
              <a:gd name="T5" fmla="*/ 502 h 2298"/>
              <a:gd name="T6" fmla="*/ 1763 w 2312"/>
              <a:gd name="T7" fmla="*/ 187 h 2298"/>
              <a:gd name="T8" fmla="*/ 1386 w 2312"/>
              <a:gd name="T9" fmla="*/ 42 h 2298"/>
              <a:gd name="T10" fmla="*/ 1378 w 2312"/>
              <a:gd name="T11" fmla="*/ 41 h 2298"/>
              <a:gd name="T12" fmla="*/ 645 w 2312"/>
              <a:gd name="T13" fmla="*/ 93 h 2298"/>
              <a:gd name="T14" fmla="*/ 124 w 2312"/>
              <a:gd name="T15" fmla="*/ 696 h 2298"/>
              <a:gd name="T16" fmla="*/ 4 w 2312"/>
              <a:gd name="T17" fmla="*/ 1189 h 2298"/>
              <a:gd name="T18" fmla="*/ 168 w 2312"/>
              <a:gd name="T19" fmla="*/ 1703 h 2298"/>
              <a:gd name="T20" fmla="*/ 306 w 2312"/>
              <a:gd name="T21" fmla="*/ 1876 h 2298"/>
              <a:gd name="T22" fmla="*/ 947 w 2312"/>
              <a:gd name="T23" fmla="*/ 2269 h 2298"/>
              <a:gd name="T24" fmla="*/ 958 w 2312"/>
              <a:gd name="T25" fmla="*/ 2272 h 2298"/>
              <a:gd name="T26" fmla="*/ 1149 w 2312"/>
              <a:gd name="T27" fmla="*/ 2298 h 2298"/>
              <a:gd name="T28" fmla="*/ 1652 w 2312"/>
              <a:gd name="T29" fmla="*/ 2210 h 2298"/>
              <a:gd name="T30" fmla="*/ 2078 w 2312"/>
              <a:gd name="T31" fmla="*/ 1797 h 2298"/>
              <a:gd name="T32" fmla="*/ 1149 w 2312"/>
              <a:gd name="T33" fmla="*/ 2288 h 2298"/>
              <a:gd name="T34" fmla="*/ 346 w 2312"/>
              <a:gd name="T35" fmla="*/ 1898 h 2298"/>
              <a:gd name="T36" fmla="*/ 2157 w 2312"/>
              <a:gd name="T37" fmla="*/ 654 h 2298"/>
              <a:gd name="T38" fmla="*/ 2010 w 2312"/>
              <a:gd name="T39" fmla="*/ 1213 h 2298"/>
              <a:gd name="T40" fmla="*/ 1637 w 2312"/>
              <a:gd name="T41" fmla="*/ 2205 h 2298"/>
              <a:gd name="T42" fmla="*/ 1637 w 2312"/>
              <a:gd name="T43" fmla="*/ 2205 h 2298"/>
              <a:gd name="T44" fmla="*/ 961 w 2312"/>
              <a:gd name="T45" fmla="*/ 2258 h 2298"/>
              <a:gd name="T46" fmla="*/ 961 w 2312"/>
              <a:gd name="T47" fmla="*/ 2258 h 2298"/>
              <a:gd name="T48" fmla="*/ 1153 w 2312"/>
              <a:gd name="T49" fmla="*/ 474 h 2298"/>
              <a:gd name="T50" fmla="*/ 1175 w 2312"/>
              <a:gd name="T51" fmla="*/ 1202 h 2298"/>
              <a:gd name="T52" fmla="*/ 1481 w 2312"/>
              <a:gd name="T53" fmla="*/ 693 h 2298"/>
              <a:gd name="T54" fmla="*/ 796 w 2312"/>
              <a:gd name="T55" fmla="*/ 1839 h 2298"/>
              <a:gd name="T56" fmla="*/ 523 w 2312"/>
              <a:gd name="T57" fmla="*/ 1200 h 2298"/>
              <a:gd name="T58" fmla="*/ 523 w 2312"/>
              <a:gd name="T59" fmla="*/ 1200 h 2298"/>
              <a:gd name="T60" fmla="*/ 1090 w 2312"/>
              <a:gd name="T61" fmla="*/ 478 h 2298"/>
              <a:gd name="T62" fmla="*/ 631 w 2312"/>
              <a:gd name="T63" fmla="*/ 756 h 2298"/>
              <a:gd name="T64" fmla="*/ 1585 w 2312"/>
              <a:gd name="T65" fmla="*/ 533 h 2298"/>
              <a:gd name="T66" fmla="*/ 1396 w 2312"/>
              <a:gd name="T67" fmla="*/ 66 h 2298"/>
              <a:gd name="T68" fmla="*/ 370 w 2312"/>
              <a:gd name="T69" fmla="*/ 1181 h 2298"/>
              <a:gd name="T70" fmla="*/ 360 w 2312"/>
              <a:gd name="T71" fmla="*/ 1200 h 2298"/>
              <a:gd name="T72" fmla="*/ 360 w 2312"/>
              <a:gd name="T73" fmla="*/ 1200 h 2298"/>
              <a:gd name="T74" fmla="*/ 2009 w 2312"/>
              <a:gd name="T75" fmla="*/ 1203 h 2298"/>
              <a:gd name="T76" fmla="*/ 2009 w 2312"/>
              <a:gd name="T77" fmla="*/ 1203 h 2298"/>
              <a:gd name="T78" fmla="*/ 809 w 2312"/>
              <a:gd name="T79" fmla="*/ 430 h 2298"/>
              <a:gd name="T80" fmla="*/ 643 w 2312"/>
              <a:gd name="T81" fmla="*/ 111 h 2298"/>
              <a:gd name="T82" fmla="*/ 545 w 2312"/>
              <a:gd name="T83" fmla="*/ 225 h 2298"/>
              <a:gd name="T84" fmla="*/ 91 w 2312"/>
              <a:gd name="T85" fmla="*/ 971 h 2298"/>
              <a:gd name="T86" fmla="*/ 1930 w 2312"/>
              <a:gd name="T87" fmla="*/ 526 h 2298"/>
              <a:gd name="T88" fmla="*/ 1962 w 2312"/>
              <a:gd name="T89" fmla="*/ 563 h 2298"/>
              <a:gd name="T90" fmla="*/ 1957 w 2312"/>
              <a:gd name="T91" fmla="*/ 543 h 2298"/>
              <a:gd name="T92" fmla="*/ 534 w 2312"/>
              <a:gd name="T93" fmla="*/ 223 h 2298"/>
              <a:gd name="T94" fmla="*/ 206 w 2312"/>
              <a:gd name="T95" fmla="*/ 606 h 2298"/>
              <a:gd name="T96" fmla="*/ 199 w 2312"/>
              <a:gd name="T97" fmla="*/ 630 h 2298"/>
              <a:gd name="T98" fmla="*/ 288 w 2312"/>
              <a:gd name="T99" fmla="*/ 1836 h 2298"/>
              <a:gd name="T100" fmla="*/ 1522 w 2312"/>
              <a:gd name="T101" fmla="*/ 1955 h 2298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  <a:cxn ang="0">
                <a:pos x="T54" y="T55"/>
              </a:cxn>
              <a:cxn ang="0">
                <a:pos x="T56" y="T57"/>
              </a:cxn>
              <a:cxn ang="0">
                <a:pos x="T58" y="T59"/>
              </a:cxn>
              <a:cxn ang="0">
                <a:pos x="T60" y="T61"/>
              </a:cxn>
              <a:cxn ang="0">
                <a:pos x="T62" y="T63"/>
              </a:cxn>
              <a:cxn ang="0">
                <a:pos x="T64" y="T65"/>
              </a:cxn>
              <a:cxn ang="0">
                <a:pos x="T66" y="T67"/>
              </a:cxn>
              <a:cxn ang="0">
                <a:pos x="T68" y="T69"/>
              </a:cxn>
              <a:cxn ang="0">
                <a:pos x="T70" y="T71"/>
              </a:cxn>
              <a:cxn ang="0">
                <a:pos x="T72" y="T73"/>
              </a:cxn>
              <a:cxn ang="0">
                <a:pos x="T74" y="T75"/>
              </a:cxn>
              <a:cxn ang="0">
                <a:pos x="T76" y="T77"/>
              </a:cxn>
              <a:cxn ang="0">
                <a:pos x="T78" y="T79"/>
              </a:cxn>
              <a:cxn ang="0">
                <a:pos x="T80" y="T81"/>
              </a:cxn>
              <a:cxn ang="0">
                <a:pos x="T82" y="T83"/>
              </a:cxn>
              <a:cxn ang="0">
                <a:pos x="T84" y="T85"/>
              </a:cxn>
              <a:cxn ang="0">
                <a:pos x="T86" y="T87"/>
              </a:cxn>
              <a:cxn ang="0">
                <a:pos x="T88" y="T89"/>
              </a:cxn>
              <a:cxn ang="0">
                <a:pos x="T90" y="T91"/>
              </a:cxn>
              <a:cxn ang="0">
                <a:pos x="T92" y="T93"/>
              </a:cxn>
              <a:cxn ang="0">
                <a:pos x="T94" y="T95"/>
              </a:cxn>
              <a:cxn ang="0">
                <a:pos x="T96" y="T97"/>
              </a:cxn>
              <a:cxn ang="0">
                <a:pos x="T98" y="T99"/>
              </a:cxn>
              <a:cxn ang="0">
                <a:pos x="T100" y="T101"/>
              </a:cxn>
            </a:cxnLst>
            <a:rect l="0" t="0" r="r" b="b"/>
            <a:pathLst>
              <a:path w="2312" h="2298">
                <a:moveTo>
                  <a:pt x="2079" y="1794"/>
                </a:moveTo>
                <a:lnTo>
                  <a:pt x="2309" y="1221"/>
                </a:lnTo>
                <a:lnTo>
                  <a:pt x="2312" y="1221"/>
                </a:lnTo>
                <a:lnTo>
                  <a:pt x="2311" y="1220"/>
                </a:lnTo>
                <a:lnTo>
                  <a:pt x="2311" y="1217"/>
                </a:lnTo>
                <a:lnTo>
                  <a:pt x="2311" y="1217"/>
                </a:lnTo>
                <a:lnTo>
                  <a:pt x="2310" y="1215"/>
                </a:lnTo>
                <a:lnTo>
                  <a:pt x="2179" y="677"/>
                </a:lnTo>
                <a:lnTo>
                  <a:pt x="2186" y="680"/>
                </a:lnTo>
                <a:lnTo>
                  <a:pt x="2176" y="665"/>
                </a:lnTo>
                <a:lnTo>
                  <a:pt x="2176" y="663"/>
                </a:lnTo>
                <a:lnTo>
                  <a:pt x="2175" y="663"/>
                </a:lnTo>
                <a:lnTo>
                  <a:pt x="2081" y="508"/>
                </a:lnTo>
                <a:lnTo>
                  <a:pt x="2082" y="507"/>
                </a:lnTo>
                <a:lnTo>
                  <a:pt x="2077" y="502"/>
                </a:lnTo>
                <a:lnTo>
                  <a:pt x="2075" y="499"/>
                </a:lnTo>
                <a:lnTo>
                  <a:pt x="2074" y="499"/>
                </a:lnTo>
                <a:lnTo>
                  <a:pt x="1764" y="188"/>
                </a:lnTo>
                <a:lnTo>
                  <a:pt x="1763" y="187"/>
                </a:lnTo>
                <a:lnTo>
                  <a:pt x="1763" y="187"/>
                </a:lnTo>
                <a:lnTo>
                  <a:pt x="1758" y="182"/>
                </a:lnTo>
                <a:lnTo>
                  <a:pt x="1755" y="184"/>
                </a:lnTo>
                <a:lnTo>
                  <a:pt x="1394" y="46"/>
                </a:lnTo>
                <a:lnTo>
                  <a:pt x="1401" y="41"/>
                </a:lnTo>
                <a:lnTo>
                  <a:pt x="1386" y="42"/>
                </a:lnTo>
                <a:lnTo>
                  <a:pt x="1385" y="40"/>
                </a:lnTo>
                <a:lnTo>
                  <a:pt x="1383" y="41"/>
                </a:lnTo>
                <a:lnTo>
                  <a:pt x="1382" y="41"/>
                </a:lnTo>
                <a:lnTo>
                  <a:pt x="1381" y="42"/>
                </a:lnTo>
                <a:lnTo>
                  <a:pt x="1378" y="41"/>
                </a:lnTo>
                <a:lnTo>
                  <a:pt x="1378" y="42"/>
                </a:lnTo>
                <a:lnTo>
                  <a:pt x="1150" y="0"/>
                </a:lnTo>
                <a:lnTo>
                  <a:pt x="1149" y="0"/>
                </a:lnTo>
                <a:lnTo>
                  <a:pt x="647" y="96"/>
                </a:lnTo>
                <a:lnTo>
                  <a:pt x="645" y="93"/>
                </a:lnTo>
                <a:lnTo>
                  <a:pt x="641" y="97"/>
                </a:lnTo>
                <a:lnTo>
                  <a:pt x="636" y="97"/>
                </a:lnTo>
                <a:lnTo>
                  <a:pt x="638" y="101"/>
                </a:lnTo>
                <a:lnTo>
                  <a:pt x="184" y="569"/>
                </a:lnTo>
                <a:lnTo>
                  <a:pt x="124" y="696"/>
                </a:lnTo>
                <a:lnTo>
                  <a:pt x="124" y="697"/>
                </a:lnTo>
                <a:lnTo>
                  <a:pt x="124" y="697"/>
                </a:lnTo>
                <a:lnTo>
                  <a:pt x="120" y="704"/>
                </a:lnTo>
                <a:lnTo>
                  <a:pt x="122" y="705"/>
                </a:lnTo>
                <a:lnTo>
                  <a:pt x="4" y="1189"/>
                </a:lnTo>
                <a:lnTo>
                  <a:pt x="0" y="1189"/>
                </a:lnTo>
                <a:lnTo>
                  <a:pt x="3" y="1195"/>
                </a:lnTo>
                <a:lnTo>
                  <a:pt x="1" y="1200"/>
                </a:lnTo>
                <a:lnTo>
                  <a:pt x="5" y="1200"/>
                </a:lnTo>
                <a:lnTo>
                  <a:pt x="168" y="1703"/>
                </a:lnTo>
                <a:lnTo>
                  <a:pt x="299" y="1866"/>
                </a:lnTo>
                <a:lnTo>
                  <a:pt x="293" y="1866"/>
                </a:lnTo>
                <a:lnTo>
                  <a:pt x="304" y="1873"/>
                </a:lnTo>
                <a:lnTo>
                  <a:pt x="304" y="1876"/>
                </a:lnTo>
                <a:lnTo>
                  <a:pt x="306" y="1876"/>
                </a:lnTo>
                <a:lnTo>
                  <a:pt x="313" y="1890"/>
                </a:lnTo>
                <a:lnTo>
                  <a:pt x="314" y="1881"/>
                </a:lnTo>
                <a:lnTo>
                  <a:pt x="598" y="2157"/>
                </a:lnTo>
                <a:lnTo>
                  <a:pt x="947" y="2268"/>
                </a:lnTo>
                <a:lnTo>
                  <a:pt x="947" y="2269"/>
                </a:lnTo>
                <a:lnTo>
                  <a:pt x="953" y="2270"/>
                </a:lnTo>
                <a:lnTo>
                  <a:pt x="954" y="2271"/>
                </a:lnTo>
                <a:lnTo>
                  <a:pt x="955" y="2271"/>
                </a:lnTo>
                <a:lnTo>
                  <a:pt x="956" y="2273"/>
                </a:lnTo>
                <a:lnTo>
                  <a:pt x="958" y="2272"/>
                </a:lnTo>
                <a:lnTo>
                  <a:pt x="969" y="2278"/>
                </a:lnTo>
                <a:lnTo>
                  <a:pt x="967" y="2272"/>
                </a:lnTo>
                <a:lnTo>
                  <a:pt x="967" y="2272"/>
                </a:lnTo>
                <a:lnTo>
                  <a:pt x="1148" y="2298"/>
                </a:lnTo>
                <a:lnTo>
                  <a:pt x="1149" y="2298"/>
                </a:lnTo>
                <a:lnTo>
                  <a:pt x="1642" y="2215"/>
                </a:lnTo>
                <a:lnTo>
                  <a:pt x="1644" y="2218"/>
                </a:lnTo>
                <a:lnTo>
                  <a:pt x="1648" y="2214"/>
                </a:lnTo>
                <a:lnTo>
                  <a:pt x="1653" y="2214"/>
                </a:lnTo>
                <a:lnTo>
                  <a:pt x="1652" y="2210"/>
                </a:lnTo>
                <a:lnTo>
                  <a:pt x="2074" y="1801"/>
                </a:lnTo>
                <a:lnTo>
                  <a:pt x="2076" y="1801"/>
                </a:lnTo>
                <a:lnTo>
                  <a:pt x="2077" y="1799"/>
                </a:lnTo>
                <a:lnTo>
                  <a:pt x="2079" y="1799"/>
                </a:lnTo>
                <a:lnTo>
                  <a:pt x="2078" y="1797"/>
                </a:lnTo>
                <a:lnTo>
                  <a:pt x="2080" y="1795"/>
                </a:lnTo>
                <a:lnTo>
                  <a:pt x="2079" y="1794"/>
                </a:lnTo>
                <a:close/>
                <a:moveTo>
                  <a:pt x="1421" y="2233"/>
                </a:moveTo>
                <a:lnTo>
                  <a:pt x="1524" y="2225"/>
                </a:lnTo>
                <a:lnTo>
                  <a:pt x="1149" y="2288"/>
                </a:lnTo>
                <a:lnTo>
                  <a:pt x="1005" y="2267"/>
                </a:lnTo>
                <a:lnTo>
                  <a:pt x="1421" y="2233"/>
                </a:lnTo>
                <a:close/>
                <a:moveTo>
                  <a:pt x="920" y="2248"/>
                </a:moveTo>
                <a:lnTo>
                  <a:pt x="604" y="2148"/>
                </a:lnTo>
                <a:lnTo>
                  <a:pt x="346" y="1898"/>
                </a:lnTo>
                <a:lnTo>
                  <a:pt x="920" y="2248"/>
                </a:lnTo>
                <a:close/>
                <a:moveTo>
                  <a:pt x="2082" y="614"/>
                </a:moveTo>
                <a:lnTo>
                  <a:pt x="1962" y="552"/>
                </a:lnTo>
                <a:lnTo>
                  <a:pt x="2071" y="512"/>
                </a:lnTo>
                <a:lnTo>
                  <a:pt x="2157" y="654"/>
                </a:lnTo>
                <a:lnTo>
                  <a:pt x="2082" y="614"/>
                </a:lnTo>
                <a:close/>
                <a:moveTo>
                  <a:pt x="2298" y="1221"/>
                </a:moveTo>
                <a:lnTo>
                  <a:pt x="2076" y="1774"/>
                </a:lnTo>
                <a:lnTo>
                  <a:pt x="2076" y="1772"/>
                </a:lnTo>
                <a:lnTo>
                  <a:pt x="2010" y="1213"/>
                </a:lnTo>
                <a:lnTo>
                  <a:pt x="2014" y="1214"/>
                </a:lnTo>
                <a:lnTo>
                  <a:pt x="2014" y="1213"/>
                </a:lnTo>
                <a:lnTo>
                  <a:pt x="2172" y="1218"/>
                </a:lnTo>
                <a:lnTo>
                  <a:pt x="2298" y="1221"/>
                </a:lnTo>
                <a:close/>
                <a:moveTo>
                  <a:pt x="1637" y="2205"/>
                </a:moveTo>
                <a:lnTo>
                  <a:pt x="982" y="2259"/>
                </a:lnTo>
                <a:lnTo>
                  <a:pt x="1470" y="1982"/>
                </a:lnTo>
                <a:lnTo>
                  <a:pt x="1512" y="1958"/>
                </a:lnTo>
                <a:lnTo>
                  <a:pt x="1631" y="2193"/>
                </a:lnTo>
                <a:lnTo>
                  <a:pt x="1637" y="2205"/>
                </a:lnTo>
                <a:close/>
                <a:moveTo>
                  <a:pt x="2001" y="1225"/>
                </a:moveTo>
                <a:lnTo>
                  <a:pt x="2067" y="1791"/>
                </a:lnTo>
                <a:lnTo>
                  <a:pt x="1526" y="1942"/>
                </a:lnTo>
                <a:lnTo>
                  <a:pt x="2001" y="1225"/>
                </a:lnTo>
                <a:close/>
                <a:moveTo>
                  <a:pt x="961" y="2258"/>
                </a:moveTo>
                <a:lnTo>
                  <a:pt x="867" y="2025"/>
                </a:lnTo>
                <a:lnTo>
                  <a:pt x="795" y="1850"/>
                </a:lnTo>
                <a:lnTo>
                  <a:pt x="1499" y="1954"/>
                </a:lnTo>
                <a:lnTo>
                  <a:pt x="1256" y="2091"/>
                </a:lnTo>
                <a:lnTo>
                  <a:pt x="961" y="2258"/>
                </a:lnTo>
                <a:close/>
                <a:moveTo>
                  <a:pt x="839" y="427"/>
                </a:moveTo>
                <a:lnTo>
                  <a:pt x="1380" y="56"/>
                </a:lnTo>
                <a:lnTo>
                  <a:pt x="1452" y="234"/>
                </a:lnTo>
                <a:lnTo>
                  <a:pt x="1567" y="521"/>
                </a:lnTo>
                <a:lnTo>
                  <a:pt x="1153" y="474"/>
                </a:lnTo>
                <a:lnTo>
                  <a:pt x="823" y="437"/>
                </a:lnTo>
                <a:lnTo>
                  <a:pt x="839" y="427"/>
                </a:lnTo>
                <a:close/>
                <a:moveTo>
                  <a:pt x="1995" y="1213"/>
                </a:moveTo>
                <a:lnTo>
                  <a:pt x="1515" y="1940"/>
                </a:lnTo>
                <a:lnTo>
                  <a:pt x="1175" y="1202"/>
                </a:lnTo>
                <a:lnTo>
                  <a:pt x="1995" y="1213"/>
                </a:lnTo>
                <a:close/>
                <a:moveTo>
                  <a:pt x="1993" y="1202"/>
                </a:moveTo>
                <a:lnTo>
                  <a:pt x="1468" y="1196"/>
                </a:lnTo>
                <a:lnTo>
                  <a:pt x="1177" y="1192"/>
                </a:lnTo>
                <a:lnTo>
                  <a:pt x="1481" y="693"/>
                </a:lnTo>
                <a:lnTo>
                  <a:pt x="1575" y="537"/>
                </a:lnTo>
                <a:lnTo>
                  <a:pt x="1576" y="537"/>
                </a:lnTo>
                <a:lnTo>
                  <a:pt x="1993" y="1202"/>
                </a:lnTo>
                <a:close/>
                <a:moveTo>
                  <a:pt x="1506" y="1944"/>
                </a:moveTo>
                <a:lnTo>
                  <a:pt x="796" y="1839"/>
                </a:lnTo>
                <a:lnTo>
                  <a:pt x="945" y="1586"/>
                </a:lnTo>
                <a:lnTo>
                  <a:pt x="1167" y="1209"/>
                </a:lnTo>
                <a:lnTo>
                  <a:pt x="1498" y="1928"/>
                </a:lnTo>
                <a:lnTo>
                  <a:pt x="1506" y="1944"/>
                </a:lnTo>
                <a:close/>
                <a:moveTo>
                  <a:pt x="523" y="1200"/>
                </a:moveTo>
                <a:lnTo>
                  <a:pt x="1158" y="1203"/>
                </a:lnTo>
                <a:lnTo>
                  <a:pt x="1028" y="1424"/>
                </a:lnTo>
                <a:lnTo>
                  <a:pt x="788" y="1833"/>
                </a:lnTo>
                <a:lnTo>
                  <a:pt x="378" y="1200"/>
                </a:lnTo>
                <a:lnTo>
                  <a:pt x="523" y="1200"/>
                </a:lnTo>
                <a:close/>
                <a:moveTo>
                  <a:pt x="1567" y="531"/>
                </a:moveTo>
                <a:lnTo>
                  <a:pt x="1282" y="999"/>
                </a:lnTo>
                <a:lnTo>
                  <a:pt x="1168" y="1186"/>
                </a:lnTo>
                <a:lnTo>
                  <a:pt x="817" y="447"/>
                </a:lnTo>
                <a:lnTo>
                  <a:pt x="1090" y="478"/>
                </a:lnTo>
                <a:lnTo>
                  <a:pt x="1567" y="531"/>
                </a:lnTo>
                <a:close/>
                <a:moveTo>
                  <a:pt x="808" y="452"/>
                </a:moveTo>
                <a:lnTo>
                  <a:pt x="1159" y="1192"/>
                </a:lnTo>
                <a:lnTo>
                  <a:pt x="378" y="1189"/>
                </a:lnTo>
                <a:lnTo>
                  <a:pt x="631" y="756"/>
                </a:lnTo>
                <a:lnTo>
                  <a:pt x="808" y="452"/>
                </a:lnTo>
                <a:close/>
                <a:moveTo>
                  <a:pt x="1585" y="533"/>
                </a:moveTo>
                <a:lnTo>
                  <a:pt x="1945" y="556"/>
                </a:lnTo>
                <a:lnTo>
                  <a:pt x="1997" y="1187"/>
                </a:lnTo>
                <a:lnTo>
                  <a:pt x="1585" y="533"/>
                </a:lnTo>
                <a:close/>
                <a:moveTo>
                  <a:pt x="779" y="1839"/>
                </a:moveTo>
                <a:lnTo>
                  <a:pt x="315" y="1865"/>
                </a:lnTo>
                <a:lnTo>
                  <a:pt x="373" y="1210"/>
                </a:lnTo>
                <a:lnTo>
                  <a:pt x="779" y="1839"/>
                </a:lnTo>
                <a:close/>
                <a:moveTo>
                  <a:pt x="1396" y="66"/>
                </a:moveTo>
                <a:lnTo>
                  <a:pt x="1934" y="545"/>
                </a:lnTo>
                <a:lnTo>
                  <a:pt x="1579" y="522"/>
                </a:lnTo>
                <a:lnTo>
                  <a:pt x="1396" y="66"/>
                </a:lnTo>
                <a:close/>
                <a:moveTo>
                  <a:pt x="798" y="449"/>
                </a:moveTo>
                <a:lnTo>
                  <a:pt x="370" y="1181"/>
                </a:lnTo>
                <a:lnTo>
                  <a:pt x="246" y="713"/>
                </a:lnTo>
                <a:lnTo>
                  <a:pt x="218" y="611"/>
                </a:lnTo>
                <a:lnTo>
                  <a:pt x="334" y="579"/>
                </a:lnTo>
                <a:lnTo>
                  <a:pt x="798" y="449"/>
                </a:lnTo>
                <a:close/>
                <a:moveTo>
                  <a:pt x="360" y="1200"/>
                </a:moveTo>
                <a:lnTo>
                  <a:pt x="360" y="1200"/>
                </a:lnTo>
                <a:lnTo>
                  <a:pt x="363" y="1200"/>
                </a:lnTo>
                <a:lnTo>
                  <a:pt x="306" y="1850"/>
                </a:lnTo>
                <a:lnTo>
                  <a:pt x="16" y="1200"/>
                </a:lnTo>
                <a:lnTo>
                  <a:pt x="360" y="1200"/>
                </a:lnTo>
                <a:close/>
                <a:moveTo>
                  <a:pt x="785" y="1849"/>
                </a:moveTo>
                <a:lnTo>
                  <a:pt x="948" y="2253"/>
                </a:lnTo>
                <a:lnTo>
                  <a:pt x="326" y="1874"/>
                </a:lnTo>
                <a:lnTo>
                  <a:pt x="785" y="1849"/>
                </a:lnTo>
                <a:close/>
                <a:moveTo>
                  <a:pt x="2009" y="1203"/>
                </a:moveTo>
                <a:lnTo>
                  <a:pt x="1960" y="612"/>
                </a:lnTo>
                <a:lnTo>
                  <a:pt x="1956" y="576"/>
                </a:lnTo>
                <a:lnTo>
                  <a:pt x="2296" y="1211"/>
                </a:lnTo>
                <a:lnTo>
                  <a:pt x="2140" y="1206"/>
                </a:lnTo>
                <a:lnTo>
                  <a:pt x="2009" y="1203"/>
                </a:lnTo>
                <a:close/>
                <a:moveTo>
                  <a:pt x="1364" y="54"/>
                </a:moveTo>
                <a:lnTo>
                  <a:pt x="1319" y="85"/>
                </a:lnTo>
                <a:lnTo>
                  <a:pt x="811" y="433"/>
                </a:lnTo>
                <a:lnTo>
                  <a:pt x="809" y="430"/>
                </a:lnTo>
                <a:lnTo>
                  <a:pt x="809" y="430"/>
                </a:lnTo>
                <a:lnTo>
                  <a:pt x="752" y="312"/>
                </a:lnTo>
                <a:lnTo>
                  <a:pt x="652" y="107"/>
                </a:lnTo>
                <a:lnTo>
                  <a:pt x="870" y="91"/>
                </a:lnTo>
                <a:lnTo>
                  <a:pt x="1364" y="54"/>
                </a:lnTo>
                <a:close/>
                <a:moveTo>
                  <a:pt x="643" y="111"/>
                </a:moveTo>
                <a:lnTo>
                  <a:pt x="776" y="384"/>
                </a:lnTo>
                <a:lnTo>
                  <a:pt x="801" y="437"/>
                </a:lnTo>
                <a:lnTo>
                  <a:pt x="301" y="577"/>
                </a:lnTo>
                <a:lnTo>
                  <a:pt x="227" y="598"/>
                </a:lnTo>
                <a:lnTo>
                  <a:pt x="545" y="225"/>
                </a:lnTo>
                <a:lnTo>
                  <a:pt x="643" y="111"/>
                </a:lnTo>
                <a:close/>
                <a:moveTo>
                  <a:pt x="211" y="625"/>
                </a:moveTo>
                <a:lnTo>
                  <a:pt x="362" y="1189"/>
                </a:lnTo>
                <a:lnTo>
                  <a:pt x="16" y="1189"/>
                </a:lnTo>
                <a:lnTo>
                  <a:pt x="91" y="971"/>
                </a:lnTo>
                <a:lnTo>
                  <a:pt x="211" y="625"/>
                </a:lnTo>
                <a:close/>
                <a:moveTo>
                  <a:pt x="1930" y="526"/>
                </a:moveTo>
                <a:lnTo>
                  <a:pt x="1407" y="63"/>
                </a:lnTo>
                <a:lnTo>
                  <a:pt x="1756" y="195"/>
                </a:lnTo>
                <a:lnTo>
                  <a:pt x="1930" y="526"/>
                </a:lnTo>
                <a:close/>
                <a:moveTo>
                  <a:pt x="1962" y="563"/>
                </a:moveTo>
                <a:lnTo>
                  <a:pt x="2035" y="602"/>
                </a:lnTo>
                <a:lnTo>
                  <a:pt x="2167" y="670"/>
                </a:lnTo>
                <a:lnTo>
                  <a:pt x="2291" y="1178"/>
                </a:lnTo>
                <a:lnTo>
                  <a:pt x="1962" y="563"/>
                </a:lnTo>
                <a:close/>
                <a:moveTo>
                  <a:pt x="1957" y="543"/>
                </a:moveTo>
                <a:lnTo>
                  <a:pt x="1953" y="545"/>
                </a:lnTo>
                <a:lnTo>
                  <a:pt x="1780" y="219"/>
                </a:lnTo>
                <a:lnTo>
                  <a:pt x="2064" y="503"/>
                </a:lnTo>
                <a:lnTo>
                  <a:pt x="1957" y="543"/>
                </a:lnTo>
                <a:close/>
                <a:moveTo>
                  <a:pt x="731" y="90"/>
                </a:moveTo>
                <a:lnTo>
                  <a:pt x="1149" y="10"/>
                </a:lnTo>
                <a:lnTo>
                  <a:pt x="1342" y="46"/>
                </a:lnTo>
                <a:lnTo>
                  <a:pt x="731" y="90"/>
                </a:lnTo>
                <a:close/>
                <a:moveTo>
                  <a:pt x="534" y="223"/>
                </a:moveTo>
                <a:lnTo>
                  <a:pt x="214" y="597"/>
                </a:lnTo>
                <a:lnTo>
                  <a:pt x="212" y="590"/>
                </a:lnTo>
                <a:lnTo>
                  <a:pt x="208" y="603"/>
                </a:lnTo>
                <a:lnTo>
                  <a:pt x="205" y="604"/>
                </a:lnTo>
                <a:lnTo>
                  <a:pt x="206" y="606"/>
                </a:lnTo>
                <a:lnTo>
                  <a:pt x="189" y="625"/>
                </a:lnTo>
                <a:lnTo>
                  <a:pt x="147" y="671"/>
                </a:lnTo>
                <a:lnTo>
                  <a:pt x="192" y="575"/>
                </a:lnTo>
                <a:lnTo>
                  <a:pt x="534" y="223"/>
                </a:lnTo>
                <a:close/>
                <a:moveTo>
                  <a:pt x="199" y="630"/>
                </a:moveTo>
                <a:lnTo>
                  <a:pt x="38" y="1092"/>
                </a:lnTo>
                <a:lnTo>
                  <a:pt x="133" y="702"/>
                </a:lnTo>
                <a:lnTo>
                  <a:pt x="199" y="630"/>
                </a:lnTo>
                <a:close/>
                <a:moveTo>
                  <a:pt x="235" y="1715"/>
                </a:moveTo>
                <a:lnTo>
                  <a:pt x="288" y="1836"/>
                </a:lnTo>
                <a:lnTo>
                  <a:pt x="178" y="1698"/>
                </a:lnTo>
                <a:lnTo>
                  <a:pt x="43" y="1287"/>
                </a:lnTo>
                <a:lnTo>
                  <a:pt x="235" y="1715"/>
                </a:lnTo>
                <a:close/>
                <a:moveTo>
                  <a:pt x="1647" y="2201"/>
                </a:moveTo>
                <a:lnTo>
                  <a:pt x="1522" y="1955"/>
                </a:lnTo>
                <a:lnTo>
                  <a:pt x="2055" y="1805"/>
                </a:lnTo>
                <a:lnTo>
                  <a:pt x="1647" y="2201"/>
                </a:lnTo>
                <a:close/>
              </a:path>
            </a:pathLst>
          </a:custGeom>
          <a:solidFill>
            <a:schemeClr val="tx1">
              <a:alpha val="25000"/>
            </a:schemeClr>
          </a:solidFill>
          <a:ln>
            <a:noFill/>
          </a:ln>
        </p:spPr>
        <p:txBody>
          <a:bodyPr vert="horz" wrap="square" lIns="91440" tIns="45720" rIns="91440" bIns="45720" numCol="1" anchor="t" anchorCtr="0" compatLnSpc="1"/>
          <a:p>
            <a:endParaRPr lang="en-US"/>
          </a:p>
        </p:txBody>
      </p:sp>
      <p:grpSp>
        <p:nvGrpSpPr>
          <p:cNvPr id="50" name="Group 49"/>
          <p:cNvGrpSpPr/>
          <p:nvPr/>
        </p:nvGrpSpPr>
        <p:grpSpPr>
          <a:xfrm>
            <a:off x="4228608" y="2606422"/>
            <a:ext cx="3746501" cy="3740151"/>
            <a:chOff x="2144713" y="1752600"/>
            <a:chExt cx="3746501" cy="3740151"/>
          </a:xfrm>
          <a:solidFill>
            <a:schemeClr val="tx1"/>
          </a:solidFill>
        </p:grpSpPr>
        <p:sp>
          <p:nvSpPr>
            <p:cNvPr id="51" name="Oval 52"/>
            <p:cNvSpPr>
              <a:spLocks noChangeArrowheads="1"/>
            </p:cNvSpPr>
            <p:nvPr/>
          </p:nvSpPr>
          <p:spPr bwMode="auto">
            <a:xfrm>
              <a:off x="5778501" y="3678238"/>
              <a:ext cx="112713" cy="112713"/>
            </a:xfrm>
            <a:prstGeom prst="ellipse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p>
              <a:endParaRPr lang="en-US"/>
            </a:p>
          </p:txBody>
        </p:sp>
        <p:sp>
          <p:nvSpPr>
            <p:cNvPr id="52" name="Oval 53"/>
            <p:cNvSpPr>
              <a:spLocks noChangeArrowheads="1"/>
            </p:cNvSpPr>
            <p:nvPr/>
          </p:nvSpPr>
          <p:spPr bwMode="auto">
            <a:xfrm>
              <a:off x="5297488" y="3657600"/>
              <a:ext cx="123825" cy="123825"/>
            </a:xfrm>
            <a:prstGeom prst="ellipse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p>
              <a:endParaRPr lang="en-US"/>
            </a:p>
          </p:txBody>
        </p:sp>
        <p:sp>
          <p:nvSpPr>
            <p:cNvPr id="53" name="Oval 54"/>
            <p:cNvSpPr>
              <a:spLocks noChangeArrowheads="1"/>
            </p:cNvSpPr>
            <p:nvPr/>
          </p:nvSpPr>
          <p:spPr bwMode="auto">
            <a:xfrm>
              <a:off x="4518026" y="4841875"/>
              <a:ext cx="122238" cy="123825"/>
            </a:xfrm>
            <a:prstGeom prst="ellipse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p>
              <a:endParaRPr lang="en-US"/>
            </a:p>
          </p:txBody>
        </p:sp>
        <p:sp>
          <p:nvSpPr>
            <p:cNvPr id="54" name="Oval 55"/>
            <p:cNvSpPr>
              <a:spLocks noChangeArrowheads="1"/>
            </p:cNvSpPr>
            <p:nvPr/>
          </p:nvSpPr>
          <p:spPr bwMode="auto">
            <a:xfrm>
              <a:off x="5410201" y="4583113"/>
              <a:ext cx="122238" cy="123825"/>
            </a:xfrm>
            <a:prstGeom prst="ellipse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p>
              <a:endParaRPr lang="en-US"/>
            </a:p>
          </p:txBody>
        </p:sp>
        <p:sp>
          <p:nvSpPr>
            <p:cNvPr id="55" name="Oval 56"/>
            <p:cNvSpPr>
              <a:spLocks noChangeArrowheads="1"/>
            </p:cNvSpPr>
            <p:nvPr/>
          </p:nvSpPr>
          <p:spPr bwMode="auto">
            <a:xfrm>
              <a:off x="4738688" y="5259388"/>
              <a:ext cx="106363" cy="107950"/>
            </a:xfrm>
            <a:prstGeom prst="ellipse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p>
              <a:endParaRPr lang="en-US"/>
            </a:p>
          </p:txBody>
        </p:sp>
        <p:sp>
          <p:nvSpPr>
            <p:cNvPr id="56" name="Oval 57"/>
            <p:cNvSpPr>
              <a:spLocks noChangeArrowheads="1"/>
            </p:cNvSpPr>
            <p:nvPr/>
          </p:nvSpPr>
          <p:spPr bwMode="auto">
            <a:xfrm>
              <a:off x="3951288" y="5395913"/>
              <a:ext cx="96838" cy="96838"/>
            </a:xfrm>
            <a:prstGeom prst="ellipse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p>
              <a:endParaRPr lang="en-US"/>
            </a:p>
          </p:txBody>
        </p:sp>
        <p:sp>
          <p:nvSpPr>
            <p:cNvPr id="57" name="Oval 58"/>
            <p:cNvSpPr>
              <a:spLocks noChangeArrowheads="1"/>
            </p:cNvSpPr>
            <p:nvPr/>
          </p:nvSpPr>
          <p:spPr bwMode="auto">
            <a:xfrm>
              <a:off x="3635376" y="5341938"/>
              <a:ext cx="122238" cy="122238"/>
            </a:xfrm>
            <a:prstGeom prst="ellipse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p>
              <a:endParaRPr lang="en-US"/>
            </a:p>
          </p:txBody>
        </p:sp>
        <p:sp>
          <p:nvSpPr>
            <p:cNvPr id="58" name="Oval 59"/>
            <p:cNvSpPr>
              <a:spLocks noChangeArrowheads="1"/>
            </p:cNvSpPr>
            <p:nvPr/>
          </p:nvSpPr>
          <p:spPr bwMode="auto">
            <a:xfrm>
              <a:off x="3074988" y="5172075"/>
              <a:ext cx="101600" cy="101600"/>
            </a:xfrm>
            <a:prstGeom prst="ellipse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p>
              <a:endParaRPr lang="en-US"/>
            </a:p>
          </p:txBody>
        </p:sp>
        <p:sp>
          <p:nvSpPr>
            <p:cNvPr id="59" name="Oval 60"/>
            <p:cNvSpPr>
              <a:spLocks noChangeArrowheads="1"/>
            </p:cNvSpPr>
            <p:nvPr/>
          </p:nvSpPr>
          <p:spPr bwMode="auto">
            <a:xfrm>
              <a:off x="3367088" y="4672013"/>
              <a:ext cx="120650" cy="122238"/>
            </a:xfrm>
            <a:prstGeom prst="ellipse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p>
              <a:endParaRPr lang="en-US"/>
            </a:p>
          </p:txBody>
        </p:sp>
        <p:sp>
          <p:nvSpPr>
            <p:cNvPr id="60" name="Oval 61"/>
            <p:cNvSpPr>
              <a:spLocks noChangeArrowheads="1"/>
            </p:cNvSpPr>
            <p:nvPr/>
          </p:nvSpPr>
          <p:spPr bwMode="auto">
            <a:xfrm>
              <a:off x="2606676" y="4711700"/>
              <a:ext cx="122238" cy="123825"/>
            </a:xfrm>
            <a:prstGeom prst="ellipse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p>
              <a:endParaRPr lang="en-US"/>
            </a:p>
          </p:txBody>
        </p:sp>
        <p:sp>
          <p:nvSpPr>
            <p:cNvPr id="61" name="Oval 62"/>
            <p:cNvSpPr>
              <a:spLocks noChangeArrowheads="1"/>
            </p:cNvSpPr>
            <p:nvPr/>
          </p:nvSpPr>
          <p:spPr bwMode="auto">
            <a:xfrm>
              <a:off x="3973513" y="3640138"/>
              <a:ext cx="122238" cy="123825"/>
            </a:xfrm>
            <a:prstGeom prst="ellipse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p>
              <a:endParaRPr lang="en-US"/>
            </a:p>
          </p:txBody>
        </p:sp>
        <p:sp>
          <p:nvSpPr>
            <p:cNvPr id="62" name="Oval 63"/>
            <p:cNvSpPr>
              <a:spLocks noChangeArrowheads="1"/>
            </p:cNvSpPr>
            <p:nvPr/>
          </p:nvSpPr>
          <p:spPr bwMode="auto">
            <a:xfrm>
              <a:off x="2705101" y="3643313"/>
              <a:ext cx="122238" cy="123825"/>
            </a:xfrm>
            <a:prstGeom prst="ellipse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p>
              <a:endParaRPr lang="en-US"/>
            </a:p>
          </p:txBody>
        </p:sp>
        <p:sp>
          <p:nvSpPr>
            <p:cNvPr id="85" name="Oval 64"/>
            <p:cNvSpPr>
              <a:spLocks noChangeArrowheads="1"/>
            </p:cNvSpPr>
            <p:nvPr/>
          </p:nvSpPr>
          <p:spPr bwMode="auto">
            <a:xfrm>
              <a:off x="2144713" y="3649663"/>
              <a:ext cx="98425" cy="98425"/>
            </a:xfrm>
            <a:prstGeom prst="ellipse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p>
              <a:endParaRPr lang="en-US"/>
            </a:p>
          </p:txBody>
        </p:sp>
        <p:sp>
          <p:nvSpPr>
            <p:cNvPr id="86" name="Freeform 65"/>
            <p:cNvSpPr/>
            <p:nvPr/>
          </p:nvSpPr>
          <p:spPr bwMode="auto">
            <a:xfrm>
              <a:off x="2425701" y="2651125"/>
              <a:ext cx="155575" cy="182563"/>
            </a:xfrm>
            <a:custGeom>
              <a:avLst/>
              <a:gdLst>
                <a:gd name="T0" fmla="*/ 66 w 98"/>
                <a:gd name="T1" fmla="*/ 38 h 115"/>
                <a:gd name="T2" fmla="*/ 66 w 98"/>
                <a:gd name="T3" fmla="*/ 33 h 115"/>
                <a:gd name="T4" fmla="*/ 33 w 98"/>
                <a:gd name="T5" fmla="*/ 0 h 115"/>
                <a:gd name="T6" fmla="*/ 0 w 98"/>
                <a:gd name="T7" fmla="*/ 33 h 115"/>
                <a:gd name="T8" fmla="*/ 22 w 98"/>
                <a:gd name="T9" fmla="*/ 64 h 115"/>
                <a:gd name="T10" fmla="*/ 20 w 98"/>
                <a:gd name="T11" fmla="*/ 76 h 115"/>
                <a:gd name="T12" fmla="*/ 59 w 98"/>
                <a:gd name="T13" fmla="*/ 115 h 115"/>
                <a:gd name="T14" fmla="*/ 98 w 98"/>
                <a:gd name="T15" fmla="*/ 76 h 115"/>
                <a:gd name="T16" fmla="*/ 66 w 98"/>
                <a:gd name="T17" fmla="*/ 38 h 11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</a:cxnLst>
              <a:rect l="0" t="0" r="r" b="b"/>
              <a:pathLst>
                <a:path w="98" h="115">
                  <a:moveTo>
                    <a:pt x="66" y="38"/>
                  </a:moveTo>
                  <a:cubicBezTo>
                    <a:pt x="66" y="36"/>
                    <a:pt x="66" y="35"/>
                    <a:pt x="66" y="33"/>
                  </a:cubicBezTo>
                  <a:cubicBezTo>
                    <a:pt x="66" y="15"/>
                    <a:pt x="51" y="0"/>
                    <a:pt x="33" y="0"/>
                  </a:cubicBezTo>
                  <a:cubicBezTo>
                    <a:pt x="15" y="0"/>
                    <a:pt x="0" y="15"/>
                    <a:pt x="0" y="33"/>
                  </a:cubicBezTo>
                  <a:cubicBezTo>
                    <a:pt x="0" y="48"/>
                    <a:pt x="9" y="60"/>
                    <a:pt x="22" y="64"/>
                  </a:cubicBezTo>
                  <a:cubicBezTo>
                    <a:pt x="20" y="68"/>
                    <a:pt x="20" y="72"/>
                    <a:pt x="20" y="76"/>
                  </a:cubicBezTo>
                  <a:cubicBezTo>
                    <a:pt x="20" y="97"/>
                    <a:pt x="37" y="115"/>
                    <a:pt x="59" y="115"/>
                  </a:cubicBezTo>
                  <a:cubicBezTo>
                    <a:pt x="80" y="115"/>
                    <a:pt x="98" y="97"/>
                    <a:pt x="98" y="76"/>
                  </a:cubicBezTo>
                  <a:cubicBezTo>
                    <a:pt x="98" y="57"/>
                    <a:pt x="84" y="41"/>
                    <a:pt x="66" y="38"/>
                  </a:cubicBezTo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p>
              <a:endParaRPr lang="en-US"/>
            </a:p>
          </p:txBody>
        </p:sp>
        <p:sp>
          <p:nvSpPr>
            <p:cNvPr id="87" name="Oval 66"/>
            <p:cNvSpPr>
              <a:spLocks noChangeArrowheads="1"/>
            </p:cNvSpPr>
            <p:nvPr/>
          </p:nvSpPr>
          <p:spPr bwMode="auto">
            <a:xfrm>
              <a:off x="3406776" y="2444750"/>
              <a:ext cx="120650" cy="122238"/>
            </a:xfrm>
            <a:prstGeom prst="ellipse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p>
              <a:endParaRPr lang="en-US"/>
            </a:p>
          </p:txBody>
        </p:sp>
        <p:sp>
          <p:nvSpPr>
            <p:cNvPr id="88" name="Oval 67"/>
            <p:cNvSpPr>
              <a:spLocks noChangeArrowheads="1"/>
            </p:cNvSpPr>
            <p:nvPr/>
          </p:nvSpPr>
          <p:spPr bwMode="auto">
            <a:xfrm>
              <a:off x="3141663" y="1908175"/>
              <a:ext cx="122238" cy="122238"/>
            </a:xfrm>
            <a:prstGeom prst="ellipse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p>
              <a:endParaRPr lang="en-US"/>
            </a:p>
          </p:txBody>
        </p:sp>
        <p:sp>
          <p:nvSpPr>
            <p:cNvPr id="89" name="Oval 68"/>
            <p:cNvSpPr>
              <a:spLocks noChangeArrowheads="1"/>
            </p:cNvSpPr>
            <p:nvPr/>
          </p:nvSpPr>
          <p:spPr bwMode="auto">
            <a:xfrm>
              <a:off x="3956051" y="1752600"/>
              <a:ext cx="104775" cy="106363"/>
            </a:xfrm>
            <a:prstGeom prst="ellipse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p>
              <a:endParaRPr lang="en-US"/>
            </a:p>
          </p:txBody>
        </p:sp>
        <p:sp>
          <p:nvSpPr>
            <p:cNvPr id="90" name="Oval 69"/>
            <p:cNvSpPr>
              <a:spLocks noChangeArrowheads="1"/>
            </p:cNvSpPr>
            <p:nvPr/>
          </p:nvSpPr>
          <p:spPr bwMode="auto">
            <a:xfrm>
              <a:off x="4314826" y="1824038"/>
              <a:ext cx="123825" cy="123825"/>
            </a:xfrm>
            <a:prstGeom prst="ellipse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p>
              <a:endParaRPr lang="en-US"/>
            </a:p>
          </p:txBody>
        </p:sp>
        <p:sp>
          <p:nvSpPr>
            <p:cNvPr id="91" name="Oval 70"/>
            <p:cNvSpPr>
              <a:spLocks noChangeArrowheads="1"/>
            </p:cNvSpPr>
            <p:nvPr/>
          </p:nvSpPr>
          <p:spPr bwMode="auto">
            <a:xfrm>
              <a:off x="4908551" y="2039938"/>
              <a:ext cx="114300" cy="114300"/>
            </a:xfrm>
            <a:prstGeom prst="ellipse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p>
              <a:endParaRPr lang="en-US"/>
            </a:p>
          </p:txBody>
        </p:sp>
        <p:sp>
          <p:nvSpPr>
            <p:cNvPr id="92" name="Oval 71"/>
            <p:cNvSpPr>
              <a:spLocks noChangeArrowheads="1"/>
            </p:cNvSpPr>
            <p:nvPr/>
          </p:nvSpPr>
          <p:spPr bwMode="auto">
            <a:xfrm>
              <a:off x="5211763" y="2619375"/>
              <a:ext cx="122238" cy="122238"/>
            </a:xfrm>
            <a:prstGeom prst="ellipse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p>
              <a:endParaRPr lang="en-US"/>
            </a:p>
          </p:txBody>
        </p:sp>
        <p:sp>
          <p:nvSpPr>
            <p:cNvPr id="93" name="Oval 72"/>
            <p:cNvSpPr>
              <a:spLocks noChangeArrowheads="1"/>
            </p:cNvSpPr>
            <p:nvPr/>
          </p:nvSpPr>
          <p:spPr bwMode="auto">
            <a:xfrm>
              <a:off x="5421313" y="2554288"/>
              <a:ext cx="103188" cy="104775"/>
            </a:xfrm>
            <a:prstGeom prst="ellipse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p>
              <a:endParaRPr lang="en-US"/>
            </a:p>
          </p:txBody>
        </p:sp>
        <p:sp>
          <p:nvSpPr>
            <p:cNvPr id="97" name="Oval 73"/>
            <p:cNvSpPr>
              <a:spLocks noChangeArrowheads="1"/>
            </p:cNvSpPr>
            <p:nvPr/>
          </p:nvSpPr>
          <p:spPr bwMode="auto">
            <a:xfrm>
              <a:off x="5570538" y="2800350"/>
              <a:ext cx="122238" cy="122238"/>
            </a:xfrm>
            <a:prstGeom prst="ellipse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p>
              <a:endParaRPr lang="en-US"/>
            </a:p>
          </p:txBody>
        </p:sp>
        <p:sp>
          <p:nvSpPr>
            <p:cNvPr id="98" name="Oval 74"/>
            <p:cNvSpPr>
              <a:spLocks noChangeArrowheads="1"/>
            </p:cNvSpPr>
            <p:nvPr/>
          </p:nvSpPr>
          <p:spPr bwMode="auto">
            <a:xfrm>
              <a:off x="2327276" y="2867025"/>
              <a:ext cx="96838" cy="100013"/>
            </a:xfrm>
            <a:prstGeom prst="ellipse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p>
              <a:endParaRPr lang="en-US"/>
            </a:p>
          </p:txBody>
        </p:sp>
      </p:grpSp>
      <p:sp>
        <p:nvSpPr>
          <p:cNvPr id="99" name="Oval 75"/>
          <p:cNvSpPr>
            <a:spLocks noChangeArrowheads="1"/>
          </p:cNvSpPr>
          <p:nvPr/>
        </p:nvSpPr>
        <p:spPr bwMode="auto">
          <a:xfrm>
            <a:off x="6671771" y="3396997"/>
            <a:ext cx="184150" cy="187325"/>
          </a:xfrm>
          <a:prstGeom prst="ellipse">
            <a:avLst/>
          </a:prstGeom>
          <a:solidFill>
            <a:schemeClr val="accent2"/>
          </a:solidFill>
          <a:ln>
            <a:noFill/>
          </a:ln>
        </p:spPr>
        <p:txBody>
          <a:bodyPr vert="horz" wrap="square" lIns="91440" tIns="45720" rIns="91440" bIns="45720" numCol="1" anchor="t" anchorCtr="0" compatLnSpc="1"/>
          <a:p>
            <a:endParaRPr lang="en-US"/>
          </a:p>
        </p:txBody>
      </p:sp>
      <p:sp>
        <p:nvSpPr>
          <p:cNvPr id="104" name="Freeform 76"/>
          <p:cNvSpPr/>
          <p:nvPr/>
        </p:nvSpPr>
        <p:spPr bwMode="auto">
          <a:xfrm>
            <a:off x="6770196" y="2796922"/>
            <a:ext cx="1411288" cy="688975"/>
          </a:xfrm>
          <a:custGeom>
            <a:avLst/>
            <a:gdLst>
              <a:gd name="T0" fmla="*/ 0 w 889"/>
              <a:gd name="T1" fmla="*/ 434 h 434"/>
              <a:gd name="T2" fmla="*/ 430 w 889"/>
              <a:gd name="T3" fmla="*/ 0 h 434"/>
              <a:gd name="T4" fmla="*/ 889 w 889"/>
              <a:gd name="T5" fmla="*/ 0 h 434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</a:cxnLst>
            <a:rect l="0" t="0" r="r" b="b"/>
            <a:pathLst>
              <a:path w="889" h="434">
                <a:moveTo>
                  <a:pt x="0" y="434"/>
                </a:moveTo>
                <a:lnTo>
                  <a:pt x="430" y="0"/>
                </a:lnTo>
                <a:lnTo>
                  <a:pt x="889" y="0"/>
                </a:lnTo>
              </a:path>
            </a:pathLst>
          </a:custGeom>
          <a:noFill/>
          <a:ln w="12700" cap="flat">
            <a:solidFill>
              <a:schemeClr val="accent2"/>
            </a:solidFill>
            <a:prstDash val="solid"/>
            <a:miter lim="800000"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/>
          <a:p>
            <a:endParaRPr lang="en-US"/>
          </a:p>
        </p:txBody>
      </p:sp>
      <p:sp>
        <p:nvSpPr>
          <p:cNvPr id="111" name="Oval 78"/>
          <p:cNvSpPr>
            <a:spLocks noChangeArrowheads="1"/>
          </p:cNvSpPr>
          <p:nvPr/>
        </p:nvSpPr>
        <p:spPr bwMode="auto">
          <a:xfrm>
            <a:off x="4463558" y="5279772"/>
            <a:ext cx="160338" cy="163513"/>
          </a:xfrm>
          <a:prstGeom prst="ellipse">
            <a:avLst/>
          </a:prstGeom>
          <a:solidFill>
            <a:schemeClr val="accent3"/>
          </a:solidFill>
          <a:ln>
            <a:noFill/>
          </a:ln>
        </p:spPr>
        <p:txBody>
          <a:bodyPr vert="horz" wrap="square" lIns="91440" tIns="45720" rIns="91440" bIns="45720" numCol="1" anchor="t" anchorCtr="0" compatLnSpc="1"/>
          <a:p>
            <a:endParaRPr lang="en-US"/>
          </a:p>
        </p:txBody>
      </p:sp>
      <p:sp>
        <p:nvSpPr>
          <p:cNvPr id="112" name="Freeform 79"/>
          <p:cNvSpPr/>
          <p:nvPr/>
        </p:nvSpPr>
        <p:spPr bwMode="auto">
          <a:xfrm>
            <a:off x="3963496" y="5352797"/>
            <a:ext cx="582613" cy="296863"/>
          </a:xfrm>
          <a:custGeom>
            <a:avLst/>
            <a:gdLst>
              <a:gd name="T0" fmla="*/ 367 w 367"/>
              <a:gd name="T1" fmla="*/ 0 h 187"/>
              <a:gd name="T2" fmla="*/ 181 w 367"/>
              <a:gd name="T3" fmla="*/ 187 h 187"/>
              <a:gd name="T4" fmla="*/ 0 w 367"/>
              <a:gd name="T5" fmla="*/ 187 h 187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</a:cxnLst>
            <a:rect l="0" t="0" r="r" b="b"/>
            <a:pathLst>
              <a:path w="367" h="187">
                <a:moveTo>
                  <a:pt x="367" y="0"/>
                </a:moveTo>
                <a:lnTo>
                  <a:pt x="181" y="187"/>
                </a:lnTo>
                <a:lnTo>
                  <a:pt x="0" y="187"/>
                </a:lnTo>
              </a:path>
            </a:pathLst>
          </a:custGeom>
          <a:noFill/>
          <a:ln w="12700" cap="flat">
            <a:solidFill>
              <a:schemeClr val="accent3"/>
            </a:solidFill>
            <a:prstDash val="solid"/>
            <a:miter lim="800000"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/>
          <a:p>
            <a:endParaRPr lang="en-US"/>
          </a:p>
        </p:txBody>
      </p:sp>
      <p:sp>
        <p:nvSpPr>
          <p:cNvPr id="126" name="Oval 81"/>
          <p:cNvSpPr>
            <a:spLocks noChangeArrowheads="1"/>
          </p:cNvSpPr>
          <p:nvPr/>
        </p:nvSpPr>
        <p:spPr bwMode="auto">
          <a:xfrm>
            <a:off x="5193808" y="2730247"/>
            <a:ext cx="185738" cy="185738"/>
          </a:xfrm>
          <a:prstGeom prst="ellipse">
            <a:avLst/>
          </a:prstGeom>
          <a:solidFill>
            <a:schemeClr val="tx1"/>
          </a:solidFill>
          <a:ln>
            <a:noFill/>
          </a:ln>
        </p:spPr>
        <p:txBody>
          <a:bodyPr vert="horz" wrap="square" lIns="91440" tIns="45720" rIns="91440" bIns="45720" numCol="1" anchor="t" anchorCtr="0" compatLnSpc="1"/>
          <a:p>
            <a:endParaRPr lang="en-US"/>
          </a:p>
        </p:txBody>
      </p:sp>
      <p:sp>
        <p:nvSpPr>
          <p:cNvPr id="127" name="Freeform 82"/>
          <p:cNvSpPr/>
          <p:nvPr/>
        </p:nvSpPr>
        <p:spPr bwMode="auto">
          <a:xfrm>
            <a:off x="4280996" y="2265110"/>
            <a:ext cx="1017588" cy="561975"/>
          </a:xfrm>
          <a:custGeom>
            <a:avLst/>
            <a:gdLst>
              <a:gd name="T0" fmla="*/ 641 w 641"/>
              <a:gd name="T1" fmla="*/ 354 h 354"/>
              <a:gd name="T2" fmla="*/ 290 w 641"/>
              <a:gd name="T3" fmla="*/ 0 h 354"/>
              <a:gd name="T4" fmla="*/ 0 w 641"/>
              <a:gd name="T5" fmla="*/ 0 h 354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</a:cxnLst>
            <a:rect l="0" t="0" r="r" b="b"/>
            <a:pathLst>
              <a:path w="641" h="354">
                <a:moveTo>
                  <a:pt x="641" y="354"/>
                </a:moveTo>
                <a:lnTo>
                  <a:pt x="290" y="0"/>
                </a:lnTo>
                <a:lnTo>
                  <a:pt x="0" y="0"/>
                </a:lnTo>
              </a:path>
            </a:pathLst>
          </a:custGeom>
          <a:noFill/>
          <a:ln w="12700" cap="flat">
            <a:solidFill>
              <a:schemeClr val="tx1"/>
            </a:solidFill>
            <a:prstDash val="solid"/>
            <a:miter lim="800000"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/>
          <a:p>
            <a:endParaRPr lang="en-US"/>
          </a:p>
        </p:txBody>
      </p:sp>
      <p:sp>
        <p:nvSpPr>
          <p:cNvPr id="137" name="Oval 136"/>
          <p:cNvSpPr/>
          <p:nvPr/>
        </p:nvSpPr>
        <p:spPr>
          <a:xfrm>
            <a:off x="3921125" y="2055495"/>
            <a:ext cx="377190" cy="382270"/>
          </a:xfrm>
          <a:prstGeom prst="ellipse">
            <a:avLst/>
          </a:prstGeom>
          <a:solidFill>
            <a:schemeClr val="tx1"/>
          </a:solidFill>
          <a:ln w="635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r>
              <a:rPr lang="en-US" sz="1000" b="1" dirty="0" smtClean="0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Open Sans SemiBold" panose="020B0706030804020204" charset="0"/>
              </a:rPr>
              <a:t>1</a:t>
            </a:r>
            <a:endParaRPr lang="en-US" sz="1000" b="1" dirty="0" smtClean="0">
              <a:solidFill>
                <a:srgbClr val="FFFFFF"/>
              </a:solidFill>
              <a:latin typeface="微软雅黑" panose="020B0503020204020204" charset="-122"/>
              <a:ea typeface="微软雅黑" panose="020B0503020204020204" charset="-122"/>
              <a:cs typeface="Open Sans SemiBold" panose="020B0706030804020204" charset="0"/>
            </a:endParaRPr>
          </a:p>
        </p:txBody>
      </p:sp>
      <p:sp>
        <p:nvSpPr>
          <p:cNvPr id="140" name="Oval 139"/>
          <p:cNvSpPr/>
          <p:nvPr/>
        </p:nvSpPr>
        <p:spPr>
          <a:xfrm>
            <a:off x="3602355" y="5445760"/>
            <a:ext cx="377190" cy="382270"/>
          </a:xfrm>
          <a:prstGeom prst="ellipse">
            <a:avLst/>
          </a:prstGeom>
          <a:solidFill>
            <a:schemeClr val="accent3"/>
          </a:solidFill>
          <a:ln w="635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r>
              <a:rPr lang="en-US" sz="1000" b="1" dirty="0" smtClean="0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Open Sans SemiBold" panose="020B0706030804020204" charset="0"/>
              </a:rPr>
              <a:t>3</a:t>
            </a:r>
            <a:endParaRPr lang="en-US" sz="1000" b="1" dirty="0" smtClean="0">
              <a:solidFill>
                <a:srgbClr val="FFFFFF"/>
              </a:solidFill>
              <a:latin typeface="微软雅黑" panose="020B0503020204020204" charset="-122"/>
              <a:ea typeface="微软雅黑" panose="020B0503020204020204" charset="-122"/>
              <a:cs typeface="Open Sans SemiBold" panose="020B0706030804020204" charset="0"/>
            </a:endParaRPr>
          </a:p>
        </p:txBody>
      </p:sp>
      <p:grpSp>
        <p:nvGrpSpPr>
          <p:cNvPr id="3" name="组合 2"/>
          <p:cNvGrpSpPr/>
          <p:nvPr/>
        </p:nvGrpSpPr>
        <p:grpSpPr>
          <a:xfrm>
            <a:off x="2035810" y="582930"/>
            <a:ext cx="8120380" cy="1326515"/>
            <a:chOff x="3206" y="98"/>
            <a:chExt cx="12788" cy="2089"/>
          </a:xfrm>
        </p:grpSpPr>
        <p:sp>
          <p:nvSpPr>
            <p:cNvPr id="4" name="TextBox 8"/>
            <p:cNvSpPr txBox="1"/>
            <p:nvPr/>
          </p:nvSpPr>
          <p:spPr>
            <a:xfrm>
              <a:off x="3206" y="98"/>
              <a:ext cx="12788" cy="1598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p>
              <a:pPr algn="ctr"/>
              <a:r>
                <a:rPr lang="en-US" sz="6000" b="1" spc="600" dirty="0" smtClean="0">
                  <a:solidFill>
                    <a:schemeClr val="bg1">
                      <a:lumMod val="95000"/>
                    </a:schemeClr>
                  </a:solidFill>
                  <a:latin typeface="庞门正道标题体" panose="02010600030101010101" charset="-122"/>
                  <a:ea typeface="庞门正道标题体" panose="02010600030101010101" charset="-122"/>
                  <a:cs typeface="Montserrat" panose="00000500000000000000" pitchFamily="50" charset="0"/>
                </a:rPr>
                <a:t>HARNESS ENGINEER</a:t>
              </a:r>
              <a:endParaRPr lang="en-US" sz="6000" b="1" spc="600" dirty="0" smtClean="0">
                <a:solidFill>
                  <a:schemeClr val="bg1">
                    <a:lumMod val="95000"/>
                  </a:schemeClr>
                </a:solidFill>
                <a:latin typeface="庞门正道标题体" panose="02010600030101010101" charset="-122"/>
                <a:ea typeface="庞门正道标题体" panose="02010600030101010101" charset="-122"/>
                <a:cs typeface="Montserrat" panose="00000500000000000000" pitchFamily="50" charset="0"/>
              </a:endParaRPr>
            </a:p>
          </p:txBody>
        </p:sp>
        <p:sp>
          <p:nvSpPr>
            <p:cNvPr id="2" name="TextBox 9"/>
            <p:cNvSpPr txBox="1"/>
            <p:nvPr/>
          </p:nvSpPr>
          <p:spPr>
            <a:xfrm>
              <a:off x="4143" y="653"/>
              <a:ext cx="10932" cy="130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p>
              <a:pPr algn="ctr"/>
              <a:r>
                <a:rPr lang="en-US" altLang="zh-CN" sz="4800" b="1" spc="600" dirty="0" smtClean="0">
                  <a:solidFill>
                    <a:schemeClr val="tx1"/>
                  </a:solidFill>
                  <a:latin typeface="方正明尚简体" panose="02000000000000000000" charset="-122"/>
                  <a:ea typeface="方正明尚简体" panose="02000000000000000000" charset="-122"/>
                  <a:cs typeface="Montserrat" panose="00000500000000000000" pitchFamily="50" charset="0"/>
                </a:rPr>
                <a:t>Harness</a:t>
              </a:r>
              <a:r>
                <a:rPr lang="zh-CN" altLang="en-US" sz="4800" b="1" spc="600" dirty="0" smtClean="0">
                  <a:solidFill>
                    <a:schemeClr val="tx1"/>
                  </a:solidFill>
                  <a:latin typeface="方正明尚简体" panose="02000000000000000000" charset="-122"/>
                  <a:ea typeface="方正明尚简体" panose="02000000000000000000" charset="-122"/>
                  <a:cs typeface="Montserrat" panose="00000500000000000000" pitchFamily="50" charset="0"/>
                </a:rPr>
                <a:t>工程</a:t>
              </a:r>
              <a:endParaRPr lang="zh-CN" altLang="en-US" sz="4800" b="1" spc="600" dirty="0" smtClean="0">
                <a:solidFill>
                  <a:schemeClr val="tx1"/>
                </a:solidFill>
                <a:latin typeface="方正明尚简体" panose="02000000000000000000" charset="-122"/>
                <a:ea typeface="方正明尚简体" panose="02000000000000000000" charset="-122"/>
                <a:cs typeface="Montserrat" panose="00000500000000000000" pitchFamily="50" charset="0"/>
              </a:endParaRPr>
            </a:p>
          </p:txBody>
        </p:sp>
        <p:sp>
          <p:nvSpPr>
            <p:cNvPr id="10" name="TextBox 12"/>
            <p:cNvSpPr txBox="1"/>
            <p:nvPr/>
          </p:nvSpPr>
          <p:spPr>
            <a:xfrm>
              <a:off x="5681" y="1618"/>
              <a:ext cx="7856" cy="56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p>
              <a:pPr algn="ctr">
                <a:lnSpc>
                  <a:spcPct val="150000"/>
                </a:lnSpc>
              </a:pPr>
              <a:r>
                <a:rPr lang="en-US" baseline="-25000" dirty="0" smtClean="0">
                  <a:latin typeface="Dotum" panose="020B0600000101010101" charset="-127"/>
                  <a:ea typeface="Dotum" panose="020B0600000101010101" charset="-127"/>
                  <a:cs typeface="+mj-lt"/>
                </a:rPr>
                <a:t>Harness Engin</a:t>
              </a:r>
              <a:r>
                <a:rPr lang="en-US" baseline="-25000" dirty="0" smtClean="0">
                  <a:latin typeface="Dotum" panose="020B0600000101010101" charset="-127"/>
                  <a:ea typeface="Dotum" panose="020B0600000101010101" charset="-127"/>
                  <a:cs typeface="+mj-lt"/>
                </a:rPr>
                <a:t>eer</a:t>
              </a:r>
              <a:endParaRPr lang="en-US" baseline="-25000" dirty="0" smtClean="0">
                <a:latin typeface="Dotum" panose="020B0600000101010101" charset="-127"/>
                <a:ea typeface="Dotum" panose="020B0600000101010101" charset="-127"/>
                <a:cs typeface="+mj-lt"/>
              </a:endParaRPr>
            </a:p>
          </p:txBody>
        </p:sp>
      </p:grpSp>
      <p:grpSp>
        <p:nvGrpSpPr>
          <p:cNvPr id="63" name="Group 62"/>
          <p:cNvGrpSpPr/>
          <p:nvPr/>
        </p:nvGrpSpPr>
        <p:grpSpPr>
          <a:xfrm>
            <a:off x="2498886" y="2371086"/>
            <a:ext cx="2266316" cy="998220"/>
            <a:chOff x="11228244" y="845282"/>
            <a:chExt cx="2266316" cy="998220"/>
          </a:xfrm>
        </p:grpSpPr>
        <p:sp>
          <p:nvSpPr>
            <p:cNvPr id="65" name="TextBox 64"/>
            <p:cNvSpPr txBox="1"/>
            <p:nvPr/>
          </p:nvSpPr>
          <p:spPr>
            <a:xfrm>
              <a:off x="11228245" y="1151987"/>
              <a:ext cx="2266315" cy="691515"/>
            </a:xfrm>
            <a:prstGeom prst="rect">
              <a:avLst/>
            </a:prstGeom>
            <a:noFill/>
          </p:spPr>
          <p:txBody>
            <a:bodyPr wrap="square" lIns="0" rIns="0" rtlCol="0">
              <a:spAutoFit/>
            </a:bodyPr>
            <a:p>
              <a:pPr marL="171450" indent="-171450" algn="l">
                <a:lnSpc>
                  <a:spcPct val="130000"/>
                </a:lnSpc>
                <a:buFont typeface="Arial" panose="020B0604020202020204" pitchFamily="34" charset="0"/>
                <a:buChar char="•"/>
              </a:pPr>
              <a:r>
                <a:rPr lang="en-US" sz="1000" dirty="0">
                  <a:solidFill>
                    <a:schemeClr val="tx1">
                      <a:alpha val="70000"/>
                    </a:schemeClr>
                  </a:solidFill>
                  <a:latin typeface="微软雅黑" panose="020B0503020204020204" charset="-122"/>
                  <a:ea typeface="微软雅黑" panose="020B0503020204020204" charset="-122"/>
                  <a:sym typeface="+mn-ea"/>
                </a:rPr>
                <a:t>Skills</a:t>
              </a:r>
              <a:endParaRPr lang="en-US" sz="1000" dirty="0">
                <a:solidFill>
                  <a:schemeClr val="tx1">
                    <a:alpha val="70000"/>
                  </a:schemeClr>
                </a:solidFill>
                <a:latin typeface="微软雅黑" panose="020B0503020204020204" charset="-122"/>
                <a:ea typeface="微软雅黑" panose="020B0503020204020204" charset="-122"/>
              </a:endParaRPr>
            </a:p>
            <a:p>
              <a:pPr marL="171450" indent="-171450" algn="l">
                <a:lnSpc>
                  <a:spcPct val="130000"/>
                </a:lnSpc>
                <a:buFont typeface="Arial" panose="020B0604020202020204" pitchFamily="34" charset="0"/>
                <a:buChar char="•"/>
              </a:pPr>
              <a:r>
                <a:rPr lang="en-US" sz="1000" dirty="0">
                  <a:solidFill>
                    <a:schemeClr val="tx1">
                      <a:alpha val="70000"/>
                    </a:schemeClr>
                  </a:solidFill>
                  <a:latin typeface="微软雅黑" panose="020B0503020204020204" charset="-122"/>
                  <a:ea typeface="微软雅黑" panose="020B0503020204020204" charset="-122"/>
                  <a:sym typeface="+mn-ea"/>
                </a:rPr>
                <a:t>Protocols</a:t>
              </a:r>
              <a:endParaRPr lang="en-US" sz="1000" dirty="0">
                <a:solidFill>
                  <a:schemeClr val="tx1">
                    <a:alpha val="70000"/>
                  </a:schemeClr>
                </a:solidFill>
                <a:latin typeface="微软雅黑" panose="020B0503020204020204" charset="-122"/>
                <a:ea typeface="微软雅黑" panose="020B0503020204020204" charset="-122"/>
              </a:endParaRPr>
            </a:p>
            <a:p>
              <a:pPr marL="171450" indent="-171450" algn="l">
                <a:lnSpc>
                  <a:spcPct val="130000"/>
                </a:lnSpc>
                <a:buFont typeface="Arial" panose="020B0604020202020204" pitchFamily="34" charset="0"/>
                <a:buChar char="•"/>
              </a:pPr>
              <a:r>
                <a:rPr lang="en-US" sz="1000" dirty="0">
                  <a:solidFill>
                    <a:schemeClr val="tx1">
                      <a:alpha val="70000"/>
                    </a:schemeClr>
                  </a:solidFill>
                  <a:latin typeface="微软雅黑" panose="020B0503020204020204" charset="-122"/>
                  <a:ea typeface="微软雅黑" panose="020B0503020204020204" charset="-122"/>
                  <a:sym typeface="+mn-ea"/>
                </a:rPr>
                <a:t>Memory</a:t>
              </a:r>
              <a:endParaRPr lang="en-US" sz="1000" dirty="0">
                <a:solidFill>
                  <a:schemeClr val="tx1">
                    <a:alpha val="70000"/>
                  </a:schemeClr>
                </a:solidFill>
                <a:latin typeface="微软雅黑" panose="020B0503020204020204" charset="-122"/>
                <a:ea typeface="微软雅黑" panose="020B0503020204020204" charset="-122"/>
              </a:endParaRPr>
            </a:p>
          </p:txBody>
        </p:sp>
        <p:sp>
          <p:nvSpPr>
            <p:cNvPr id="66" name="TextBox 65"/>
            <p:cNvSpPr txBox="1"/>
            <p:nvPr/>
          </p:nvSpPr>
          <p:spPr>
            <a:xfrm>
              <a:off x="11228244" y="845282"/>
              <a:ext cx="1422400" cy="306705"/>
            </a:xfrm>
            <a:prstGeom prst="rect">
              <a:avLst/>
            </a:prstGeom>
            <a:noFill/>
          </p:spPr>
          <p:txBody>
            <a:bodyPr wrap="none" lIns="0" rIns="0" rtlCol="0">
              <a:spAutoFit/>
            </a:bodyPr>
            <a:p>
              <a:pPr algn="ctr"/>
              <a:r>
                <a:rPr lang="zh-CN" altLang="en-US" sz="1400" b="1" dirty="0" smtClean="0">
                  <a:latin typeface="微软雅黑" panose="020B0503020204020204" charset="-122"/>
                  <a:ea typeface="微软雅黑" panose="020B0503020204020204" charset="-122"/>
                  <a:cs typeface="Open Sans" panose="020B0606030504020204" charset="0"/>
                  <a:sym typeface="+mn-ea"/>
                </a:rPr>
                <a:t>三大核心组成部分</a:t>
              </a:r>
              <a:endParaRPr lang="zh-CN" altLang="en-US" sz="1400" b="1" dirty="0">
                <a:latin typeface="微软雅黑" panose="020B0503020204020204" charset="-122"/>
                <a:ea typeface="微软雅黑" panose="020B0503020204020204" charset="-122"/>
                <a:cs typeface="Open Sans" panose="020B0606030504020204" charset="0"/>
              </a:endParaRPr>
            </a:p>
          </p:txBody>
        </p:sp>
      </p:grpSp>
      <p:sp>
        <p:nvSpPr>
          <p:cNvPr id="73" name="TextBox 72"/>
          <p:cNvSpPr txBox="1"/>
          <p:nvPr/>
        </p:nvSpPr>
        <p:spPr>
          <a:xfrm>
            <a:off x="1800225" y="5219065"/>
            <a:ext cx="1600200" cy="306705"/>
          </a:xfrm>
          <a:prstGeom prst="rect">
            <a:avLst/>
          </a:prstGeom>
          <a:noFill/>
        </p:spPr>
        <p:txBody>
          <a:bodyPr wrap="none" lIns="0" rIns="0" rtlCol="0">
            <a:spAutoFit/>
          </a:bodyPr>
          <a:p>
            <a:pPr algn="r"/>
            <a:r>
              <a:rPr lang="zh-CN" altLang="en-US" sz="1400" b="1">
                <a:latin typeface="微软雅黑" panose="020B0503020204020204" charset="-122"/>
                <a:ea typeface="微软雅黑" panose="020B0503020204020204" charset="-122"/>
                <a:cs typeface="Open Sans" panose="020B0606030504020204" charset="0"/>
              </a:rPr>
              <a:t>边界约束与验证闭环</a:t>
            </a:r>
            <a:endParaRPr lang="zh-CN" altLang="en-US" sz="1400" b="1">
              <a:latin typeface="微软雅黑" panose="020B0503020204020204" charset="-122"/>
              <a:ea typeface="微软雅黑" panose="020B0503020204020204" charset="-122"/>
              <a:cs typeface="Open Sans" panose="020B0606030504020204" charset="0"/>
            </a:endParaRPr>
          </a:p>
        </p:txBody>
      </p:sp>
      <p:grpSp>
        <p:nvGrpSpPr>
          <p:cNvPr id="11" name="Group 69"/>
          <p:cNvGrpSpPr/>
          <p:nvPr/>
        </p:nvGrpSpPr>
        <p:grpSpPr>
          <a:xfrm>
            <a:off x="8773956" y="2945720"/>
            <a:ext cx="2152650" cy="1029335"/>
            <a:chOff x="9130839" y="866237"/>
            <a:chExt cx="2152650" cy="1029335"/>
          </a:xfrm>
        </p:grpSpPr>
        <p:sp>
          <p:nvSpPr>
            <p:cNvPr id="16" name="TextBox 71"/>
            <p:cNvSpPr txBox="1"/>
            <p:nvPr/>
          </p:nvSpPr>
          <p:spPr>
            <a:xfrm>
              <a:off x="9130839" y="1204057"/>
              <a:ext cx="2152650" cy="691515"/>
            </a:xfrm>
            <a:prstGeom prst="rect">
              <a:avLst/>
            </a:prstGeom>
            <a:noFill/>
          </p:spPr>
          <p:txBody>
            <a:bodyPr wrap="square" lIns="0" rIns="0" rtlCol="0">
              <a:spAutoFit/>
            </a:bodyPr>
            <a:p>
              <a:pPr marL="171450" indent="-171450">
                <a:lnSpc>
                  <a:spcPct val="130000"/>
                </a:lnSpc>
                <a:buFont typeface="Arial" panose="020B0604020202020204" pitchFamily="34" charset="0"/>
                <a:buChar char="•"/>
              </a:pPr>
              <a:r>
                <a:rPr lang="en-US" altLang="zh-CN" sz="1000" dirty="0">
                  <a:solidFill>
                    <a:schemeClr val="tx1">
                      <a:alpha val="70000"/>
                    </a:schemeClr>
                  </a:solidFill>
                  <a:latin typeface="微软雅黑" panose="020B0503020204020204" charset="-122"/>
                  <a:ea typeface="微软雅黑" panose="020B0503020204020204" charset="-122"/>
                </a:rPr>
                <a:t>Planner</a:t>
              </a:r>
              <a:endParaRPr lang="en-US" altLang="zh-CN" sz="1000" dirty="0">
                <a:solidFill>
                  <a:schemeClr val="tx1">
                    <a:alpha val="70000"/>
                  </a:schemeClr>
                </a:solidFill>
                <a:latin typeface="微软雅黑" panose="020B0503020204020204" charset="-122"/>
                <a:ea typeface="微软雅黑" panose="020B0503020204020204" charset="-122"/>
              </a:endParaRPr>
            </a:p>
            <a:p>
              <a:pPr marL="171450" indent="-171450">
                <a:lnSpc>
                  <a:spcPct val="130000"/>
                </a:lnSpc>
                <a:buFont typeface="Arial" panose="020B0604020202020204" pitchFamily="34" charset="0"/>
                <a:buChar char="•"/>
              </a:pPr>
              <a:r>
                <a:rPr lang="en-US" altLang="zh-CN" sz="1000" dirty="0">
                  <a:solidFill>
                    <a:schemeClr val="tx1">
                      <a:alpha val="70000"/>
                    </a:schemeClr>
                  </a:solidFill>
                  <a:latin typeface="微软雅黑" panose="020B0503020204020204" charset="-122"/>
                  <a:ea typeface="微软雅黑" panose="020B0503020204020204" charset="-122"/>
                </a:rPr>
                <a:t>Generator</a:t>
              </a:r>
              <a:endParaRPr lang="en-US" altLang="zh-CN" sz="1000" dirty="0">
                <a:solidFill>
                  <a:schemeClr val="tx1">
                    <a:alpha val="70000"/>
                  </a:schemeClr>
                </a:solidFill>
                <a:latin typeface="微软雅黑" panose="020B0503020204020204" charset="-122"/>
                <a:ea typeface="微软雅黑" panose="020B0503020204020204" charset="-122"/>
              </a:endParaRPr>
            </a:p>
            <a:p>
              <a:pPr marL="171450" indent="-171450">
                <a:lnSpc>
                  <a:spcPct val="130000"/>
                </a:lnSpc>
                <a:buFont typeface="Arial" panose="020B0604020202020204" pitchFamily="34" charset="0"/>
                <a:buChar char="•"/>
              </a:pPr>
              <a:r>
                <a:rPr lang="en-US" altLang="zh-CN" sz="1000" dirty="0">
                  <a:solidFill>
                    <a:schemeClr val="tx1">
                      <a:alpha val="70000"/>
                    </a:schemeClr>
                  </a:solidFill>
                  <a:latin typeface="微软雅黑" panose="020B0503020204020204" charset="-122"/>
                  <a:ea typeface="微软雅黑" panose="020B0503020204020204" charset="-122"/>
                </a:rPr>
                <a:t>Evaluator</a:t>
              </a:r>
              <a:endParaRPr lang="en-US" altLang="zh-CN" sz="1000" dirty="0">
                <a:solidFill>
                  <a:schemeClr val="tx1">
                    <a:alpha val="70000"/>
                  </a:schemeClr>
                </a:solidFill>
                <a:latin typeface="微软雅黑" panose="020B0503020204020204" charset="-122"/>
                <a:ea typeface="微软雅黑" panose="020B0503020204020204" charset="-122"/>
              </a:endParaRPr>
            </a:p>
          </p:txBody>
        </p:sp>
        <p:sp>
          <p:nvSpPr>
            <p:cNvPr id="17" name="TextBox 72"/>
            <p:cNvSpPr txBox="1"/>
            <p:nvPr/>
          </p:nvSpPr>
          <p:spPr>
            <a:xfrm>
              <a:off x="9130839" y="866237"/>
              <a:ext cx="1422400" cy="306705"/>
            </a:xfrm>
            <a:prstGeom prst="rect">
              <a:avLst/>
            </a:prstGeom>
            <a:noFill/>
          </p:spPr>
          <p:txBody>
            <a:bodyPr wrap="none" lIns="0" rIns="0" rtlCol="0">
              <a:spAutoFit/>
            </a:bodyPr>
            <a:p>
              <a:pPr algn="l"/>
              <a:r>
                <a:rPr lang="zh-CN" altLang="en-US" sz="1400" b="1" dirty="0">
                  <a:latin typeface="微软雅黑" panose="020B0503020204020204" charset="-122"/>
                  <a:ea typeface="微软雅黑" panose="020B0503020204020204" charset="-122"/>
                  <a:cs typeface="Open Sans" panose="020B0606030504020204" charset="0"/>
                  <a:sym typeface="+mn-ea"/>
                </a:rPr>
                <a:t>多智能体对抗</a:t>
              </a:r>
              <a:r>
                <a:rPr lang="zh-CN" altLang="en-US" sz="1400" b="1" dirty="0">
                  <a:latin typeface="微软雅黑" panose="020B0503020204020204" charset="-122"/>
                  <a:ea typeface="微软雅黑" panose="020B0503020204020204" charset="-122"/>
                  <a:cs typeface="Open Sans" panose="020B0606030504020204" charset="0"/>
                  <a:sym typeface="+mn-ea"/>
                </a:rPr>
                <a:t>模式</a:t>
              </a:r>
              <a:endParaRPr lang="zh-CN" altLang="en-US" sz="1400" b="1" dirty="0">
                <a:latin typeface="微软雅黑" panose="020B0503020204020204" charset="-122"/>
                <a:ea typeface="微软雅黑" panose="020B0503020204020204" charset="-122"/>
                <a:cs typeface="Open Sans" panose="020B0606030504020204" charset="0"/>
                <a:sym typeface="+mn-ea"/>
              </a:endParaRPr>
            </a:p>
          </p:txBody>
        </p:sp>
      </p:grpSp>
      <p:sp>
        <p:nvSpPr>
          <p:cNvPr id="5" name="TextBox 64"/>
          <p:cNvSpPr txBox="1"/>
          <p:nvPr/>
        </p:nvSpPr>
        <p:spPr>
          <a:xfrm>
            <a:off x="1962312" y="5565771"/>
            <a:ext cx="2266315" cy="491490"/>
          </a:xfrm>
          <a:prstGeom prst="rect">
            <a:avLst/>
          </a:prstGeom>
          <a:noFill/>
        </p:spPr>
        <p:txBody>
          <a:bodyPr wrap="square" lIns="0" rIns="0" rtlCol="0">
            <a:spAutoFit/>
          </a:bodyPr>
          <a:p>
            <a:pPr marL="171450" indent="-171450" algn="l">
              <a:lnSpc>
                <a:spcPct val="130000"/>
              </a:lnSpc>
              <a:buFont typeface="Arial" panose="020B0604020202020204" pitchFamily="34" charset="0"/>
              <a:buChar char="•"/>
            </a:pPr>
            <a:r>
              <a:rPr lang="en-US" altLang="zh-CN" sz="1000" dirty="0">
                <a:solidFill>
                  <a:schemeClr val="tx1">
                    <a:alpha val="70000"/>
                  </a:schemeClr>
                </a:solidFill>
                <a:latin typeface="微软雅黑" panose="020B0503020204020204" charset="-122"/>
                <a:ea typeface="微软雅黑" panose="020B0503020204020204" charset="-122"/>
                <a:sym typeface="+mn-ea"/>
              </a:rPr>
              <a:t>Boundary Constraints</a:t>
            </a:r>
            <a:endParaRPr lang="en-US" altLang="zh-CN" sz="1000" dirty="0">
              <a:solidFill>
                <a:schemeClr val="tx1">
                  <a:alpha val="70000"/>
                </a:schemeClr>
              </a:solidFill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  <a:p>
            <a:pPr marL="171450" indent="-171450" algn="l">
              <a:lnSpc>
                <a:spcPct val="130000"/>
              </a:lnSpc>
              <a:buFont typeface="Arial" panose="020B0604020202020204" pitchFamily="34" charset="0"/>
              <a:buChar char="•"/>
            </a:pPr>
            <a:r>
              <a:rPr lang="en-US" altLang="zh-CN" sz="1000" dirty="0">
                <a:solidFill>
                  <a:schemeClr val="tx1">
                    <a:alpha val="70000"/>
                  </a:schemeClr>
                </a:solidFill>
                <a:latin typeface="微软雅黑" panose="020B0503020204020204" charset="-122"/>
                <a:ea typeface="微软雅黑" panose="020B0503020204020204" charset="-122"/>
              </a:rPr>
              <a:t>Verification Loop</a:t>
            </a:r>
            <a:endParaRPr lang="en-US" altLang="zh-CN" sz="1000" dirty="0">
              <a:solidFill>
                <a:schemeClr val="tx1">
                  <a:alpha val="70000"/>
                </a:schemeClr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0"/>
    </mc:Choice>
    <mc:Fallback>
      <p:transition/>
    </mc:Fallback>
  </mc:AlternateContent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grpSp>
        <p:nvGrpSpPr>
          <p:cNvPr id="2" name="组合 1"/>
          <p:cNvGrpSpPr/>
          <p:nvPr/>
        </p:nvGrpSpPr>
        <p:grpSpPr>
          <a:xfrm>
            <a:off x="-1386840" y="62865"/>
            <a:ext cx="8120380" cy="1326515"/>
            <a:chOff x="-2184" y="-721"/>
            <a:chExt cx="12788" cy="2089"/>
          </a:xfrm>
        </p:grpSpPr>
        <p:sp>
          <p:nvSpPr>
            <p:cNvPr id="3" name="TextBox 8"/>
            <p:cNvSpPr txBox="1"/>
            <p:nvPr/>
          </p:nvSpPr>
          <p:spPr>
            <a:xfrm>
              <a:off x="-2184" y="-721"/>
              <a:ext cx="12788" cy="1598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p>
              <a:pPr algn="ctr"/>
              <a:r>
                <a:rPr lang="en-US" sz="6000" b="1" spc="600" dirty="0" smtClean="0">
                  <a:solidFill>
                    <a:schemeClr val="bg1">
                      <a:lumMod val="95000"/>
                    </a:schemeClr>
                  </a:solidFill>
                  <a:latin typeface="庞门正道标题体" panose="02010600030101010101" charset="-122"/>
                  <a:ea typeface="庞门正道标题体" panose="02010600030101010101" charset="-122"/>
                  <a:cs typeface="Montserrat" panose="00000500000000000000" pitchFamily="50" charset="0"/>
                </a:rPr>
                <a:t>FOREWORD</a:t>
              </a:r>
              <a:endParaRPr lang="en-US" sz="6000" b="1" spc="600" dirty="0" smtClean="0">
                <a:solidFill>
                  <a:schemeClr val="bg1">
                    <a:lumMod val="95000"/>
                  </a:schemeClr>
                </a:solidFill>
                <a:latin typeface="庞门正道标题体" panose="02010600030101010101" charset="-122"/>
                <a:ea typeface="庞门正道标题体" panose="02010600030101010101" charset="-122"/>
                <a:cs typeface="Montserrat" panose="00000500000000000000" pitchFamily="50" charset="0"/>
              </a:endParaRPr>
            </a:p>
          </p:txBody>
        </p:sp>
        <p:sp>
          <p:nvSpPr>
            <p:cNvPr id="24" name="TextBox 9"/>
            <p:cNvSpPr txBox="1"/>
            <p:nvPr/>
          </p:nvSpPr>
          <p:spPr>
            <a:xfrm>
              <a:off x="-1247" y="-166"/>
              <a:ext cx="10932" cy="130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p>
              <a:pPr algn="ctr"/>
              <a:r>
                <a:rPr lang="zh-CN" altLang="en-US" sz="4800" b="1" spc="600" dirty="0" smtClean="0">
                  <a:latin typeface="方正明尚简体" panose="02000000000000000000" charset="-122"/>
                  <a:ea typeface="方正明尚简体" panose="02000000000000000000" charset="-122"/>
                  <a:cs typeface="Montserrat" panose="00000500000000000000" pitchFamily="50" charset="0"/>
                  <a:sym typeface="+mn-ea"/>
                </a:rPr>
                <a:t>前言</a:t>
              </a:r>
              <a:endParaRPr lang="zh-CN" altLang="en-US" sz="4800" b="1" spc="600" dirty="0" smtClean="0">
                <a:latin typeface="方正明尚简体" panose="02000000000000000000" charset="-122"/>
                <a:ea typeface="方正明尚简体" panose="02000000000000000000" charset="-122"/>
                <a:cs typeface="Montserrat" panose="00000500000000000000" pitchFamily="50" charset="0"/>
                <a:sym typeface="+mn-ea"/>
              </a:endParaRPr>
            </a:p>
          </p:txBody>
        </p:sp>
        <p:sp>
          <p:nvSpPr>
            <p:cNvPr id="25" name="TextBox 12"/>
            <p:cNvSpPr txBox="1"/>
            <p:nvPr/>
          </p:nvSpPr>
          <p:spPr>
            <a:xfrm>
              <a:off x="291" y="799"/>
              <a:ext cx="7856" cy="56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p>
              <a:pPr algn="ctr">
                <a:lnSpc>
                  <a:spcPct val="150000"/>
                </a:lnSpc>
              </a:pPr>
              <a:endParaRPr lang="en-US" baseline="-25000" dirty="0" smtClean="0">
                <a:latin typeface="Dotum" panose="020B0600000101010101" charset="-127"/>
                <a:ea typeface="Dotum" panose="020B0600000101010101" charset="-127"/>
                <a:cs typeface="+mj-lt"/>
              </a:endParaRPr>
            </a:p>
          </p:txBody>
        </p:sp>
      </p:grpSp>
      <p:sp>
        <p:nvSpPr>
          <p:cNvPr id="14" name="文本框 13"/>
          <p:cNvSpPr txBox="1"/>
          <p:nvPr/>
        </p:nvSpPr>
        <p:spPr>
          <a:xfrm>
            <a:off x="226695" y="1245235"/>
            <a:ext cx="6342380" cy="501586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zh-CN" altLang="en-US" sz="1600" b="1">
                <a:latin typeface="黑体" panose="02010609060101010101" charset="-122"/>
                <a:ea typeface="黑体" panose="02010609060101010101" charset="-122"/>
              </a:rPr>
              <a:t>什么是</a:t>
            </a:r>
            <a:r>
              <a:rPr lang="en-US" altLang="zh-CN" sz="1600" b="1">
                <a:latin typeface="黑体" panose="02010609060101010101" charset="-122"/>
                <a:ea typeface="黑体" panose="02010609060101010101" charset="-122"/>
              </a:rPr>
              <a:t>Harness</a:t>
            </a:r>
            <a:r>
              <a:rPr lang="zh-CN" altLang="en-US" sz="1600" b="1">
                <a:latin typeface="黑体" panose="02010609060101010101" charset="-122"/>
                <a:ea typeface="黑体" panose="02010609060101010101" charset="-122"/>
              </a:rPr>
              <a:t>工程？</a:t>
            </a:r>
            <a:endParaRPr lang="zh-CN" altLang="en-US" sz="1600" b="1">
              <a:latin typeface="黑体" panose="02010609060101010101" charset="-122"/>
              <a:ea typeface="黑体" panose="02010609060101010101" charset="-122"/>
            </a:endParaRPr>
          </a:p>
          <a:p>
            <a:endParaRPr lang="en-US" altLang="zh-CN" sz="1600"/>
          </a:p>
          <a:p>
            <a:r>
              <a:rPr lang="en-US" altLang="zh-CN" sz="1600"/>
              <a:t>A</a:t>
            </a:r>
            <a:r>
              <a:rPr lang="en-US" altLang="zh-CN" sz="1600"/>
              <a:t>gent = Model + Harness ; Harness</a:t>
            </a:r>
            <a:r>
              <a:rPr lang="zh-CN" altLang="en-US" sz="1600"/>
              <a:t>工程是指围绕人工智能</a:t>
            </a:r>
            <a:r>
              <a:rPr lang="en-US" altLang="zh-CN" sz="1600"/>
              <a:t>Agent</a:t>
            </a:r>
            <a:r>
              <a:rPr lang="zh-CN" altLang="en-US" sz="1600"/>
              <a:t>构建完整的运行环境。这包括定义其约束条件、工具链、反馈回路和生命周期管理系统，以确保其能够持续、可靠且安全地执行任务，而不仅仅关注一次性的提示或上下文。</a:t>
            </a:r>
            <a:endParaRPr lang="zh-CN" altLang="en-US" sz="1600"/>
          </a:p>
          <a:p>
            <a:endParaRPr lang="en-US" altLang="zh-CN" sz="1600"/>
          </a:p>
          <a:p>
            <a:r>
              <a:rPr lang="en-US" altLang="zh-CN" sz="1600" b="1"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</a:rPr>
              <a:t>Harness</a:t>
            </a:r>
            <a:r>
              <a:rPr lang="zh-CN" altLang="en-US" sz="1600" b="1"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</a:rPr>
              <a:t>工程与</a:t>
            </a:r>
            <a:r>
              <a:rPr lang="en-US" altLang="zh-CN" sz="1600" b="1"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</a:rPr>
              <a:t>Prompt</a:t>
            </a:r>
            <a:r>
              <a:rPr lang="en-US" altLang="zh-CN" sz="1600" b="1"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</a:rPr>
              <a:t>/Context</a:t>
            </a:r>
            <a:r>
              <a:rPr lang="zh-CN" altLang="en-US" sz="1600" b="1"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</a:rPr>
              <a:t>工程有何不同？</a:t>
            </a:r>
            <a:endParaRPr lang="zh-CN" altLang="en-US" sz="1600" b="1">
              <a:latin typeface="黑体" panose="02010609060101010101" charset="-122"/>
              <a:ea typeface="黑体" panose="02010609060101010101" charset="-122"/>
              <a:cs typeface="黑体" panose="02010609060101010101" charset="-122"/>
            </a:endParaRPr>
          </a:p>
          <a:p>
            <a:endParaRPr lang="en-US" altLang="zh-CN" sz="1600"/>
          </a:p>
          <a:p>
            <a:r>
              <a:rPr lang="en-US" altLang="zh-CN" sz="1600"/>
              <a:t>Prompt</a:t>
            </a:r>
            <a:r>
              <a:rPr lang="zh-CN" altLang="en-US" sz="1600"/>
              <a:t>工程专注于编写完美的单条指令。</a:t>
            </a:r>
            <a:r>
              <a:rPr lang="en-US" altLang="zh-CN" sz="1600" b="1"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  <a:sym typeface="+mn-ea"/>
              </a:rPr>
              <a:t>Context</a:t>
            </a:r>
            <a:r>
              <a:rPr lang="zh-CN" altLang="en-US" sz="1600"/>
              <a:t>工程专注于为单个决策提供所有相关信息。而</a:t>
            </a:r>
            <a:r>
              <a:rPr lang="en-US" altLang="zh-CN" sz="1600"/>
              <a:t>Harness</a:t>
            </a:r>
            <a:r>
              <a:rPr lang="zh-CN" altLang="en-US" sz="1600"/>
              <a:t>工程则在更高的层面上运作，它构建了整个规则、反馈和基础设施系统，该系统管理着</a:t>
            </a:r>
            <a:r>
              <a:rPr lang="en-US" altLang="zh-CN" sz="1600"/>
              <a:t>Agent</a:t>
            </a:r>
            <a:r>
              <a:rPr lang="zh-CN" altLang="en-US" sz="1600"/>
              <a:t>的持续工作并防止其犯错。</a:t>
            </a:r>
            <a:endParaRPr lang="zh-CN" altLang="en-US" sz="1600"/>
          </a:p>
          <a:p>
            <a:endParaRPr lang="en-US" altLang="zh-CN" sz="1600"/>
          </a:p>
          <a:p>
            <a:r>
              <a:rPr lang="zh-CN" altLang="en-US" sz="1600" b="1"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</a:rPr>
              <a:t>为什么人工智能</a:t>
            </a:r>
            <a:r>
              <a:rPr lang="en-US" altLang="zh-CN" sz="1600" b="1"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</a:rPr>
              <a:t>Agent</a:t>
            </a:r>
            <a:r>
              <a:rPr lang="zh-CN" altLang="en-US" sz="1600" b="1"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</a:rPr>
              <a:t>需要</a:t>
            </a:r>
            <a:r>
              <a:rPr lang="en-US" altLang="zh-CN" sz="1600" b="1"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</a:rPr>
              <a:t>“H</a:t>
            </a:r>
            <a:r>
              <a:rPr lang="en-US" altLang="zh-CN" sz="1600" b="1"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</a:rPr>
              <a:t>arness”</a:t>
            </a:r>
            <a:r>
              <a:rPr lang="zh-CN" altLang="en-US" sz="1600" b="1"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</a:rPr>
              <a:t>？</a:t>
            </a:r>
            <a:endParaRPr lang="zh-CN" altLang="en-US" sz="1600" b="1">
              <a:latin typeface="黑体" panose="02010609060101010101" charset="-122"/>
              <a:ea typeface="黑体" panose="02010609060101010101" charset="-122"/>
              <a:cs typeface="黑体" panose="02010609060101010101" charset="-122"/>
            </a:endParaRPr>
          </a:p>
          <a:p>
            <a:endParaRPr lang="en-US" altLang="zh-CN" sz="1600"/>
          </a:p>
          <a:p>
            <a:r>
              <a:rPr lang="zh-CN" altLang="en-US" sz="1600"/>
              <a:t>之所以需要安全约束，是因为正如</a:t>
            </a:r>
            <a:r>
              <a:rPr lang="en-US" altLang="zh-CN" sz="1600"/>
              <a:t> Anthropic </a:t>
            </a:r>
            <a:r>
              <a:rPr lang="zh-CN" altLang="en-US" sz="1600"/>
              <a:t>的研究表明，人工智能模型无法可靠地评估自身的工作。它们缺乏自我意识，容易犯错或误入歧途。安全约束提供了外部控制、约束和反馈回路，从而确保自主运行的一致性、高质量和安全性。</a:t>
            </a:r>
            <a:endParaRPr lang="zh-CN" altLang="en-US" sz="1600"/>
          </a:p>
        </p:txBody>
      </p:sp>
      <p:pic>
        <p:nvPicPr>
          <p:cNvPr id="19" name="图片 18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277735" y="1245235"/>
            <a:ext cx="4001135" cy="4618355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0"/>
    </mc:Choice>
    <mc:Fallback>
      <p:transition/>
    </mc:Fallback>
  </mc:AlternateContent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grpSp>
        <p:nvGrpSpPr>
          <p:cNvPr id="2" name="组合 1"/>
          <p:cNvGrpSpPr/>
          <p:nvPr/>
        </p:nvGrpSpPr>
        <p:grpSpPr>
          <a:xfrm>
            <a:off x="-1386840" y="62865"/>
            <a:ext cx="8120380" cy="1326515"/>
            <a:chOff x="-2184" y="-721"/>
            <a:chExt cx="12788" cy="2089"/>
          </a:xfrm>
        </p:grpSpPr>
        <p:sp>
          <p:nvSpPr>
            <p:cNvPr id="3" name="TextBox 8"/>
            <p:cNvSpPr txBox="1"/>
            <p:nvPr/>
          </p:nvSpPr>
          <p:spPr>
            <a:xfrm>
              <a:off x="-2184" y="-721"/>
              <a:ext cx="12788" cy="1598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p>
              <a:pPr algn="ctr"/>
              <a:r>
                <a:rPr lang="en-US" sz="6000" b="1" spc="600" dirty="0" smtClean="0">
                  <a:solidFill>
                    <a:schemeClr val="bg1">
                      <a:lumMod val="95000"/>
                    </a:schemeClr>
                  </a:solidFill>
                  <a:latin typeface="庞门正道标题体" panose="02010600030101010101" charset="-122"/>
                  <a:ea typeface="庞门正道标题体" panose="02010600030101010101" charset="-122"/>
                  <a:cs typeface="Montserrat" panose="00000500000000000000" pitchFamily="50" charset="0"/>
                </a:rPr>
                <a:t>MINIMALIST</a:t>
              </a:r>
              <a:endParaRPr lang="en-US" sz="6000" b="1" spc="600" dirty="0" smtClean="0">
                <a:solidFill>
                  <a:schemeClr val="bg1">
                    <a:lumMod val="95000"/>
                  </a:schemeClr>
                </a:solidFill>
                <a:latin typeface="庞门正道标题体" panose="02010600030101010101" charset="-122"/>
                <a:ea typeface="庞门正道标题体" panose="02010600030101010101" charset="-122"/>
                <a:cs typeface="Montserrat" panose="00000500000000000000" pitchFamily="50" charset="0"/>
              </a:endParaRPr>
            </a:p>
          </p:txBody>
        </p:sp>
        <p:sp>
          <p:nvSpPr>
            <p:cNvPr id="24" name="TextBox 9"/>
            <p:cNvSpPr txBox="1"/>
            <p:nvPr/>
          </p:nvSpPr>
          <p:spPr>
            <a:xfrm>
              <a:off x="-1247" y="-166"/>
              <a:ext cx="10932" cy="130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p>
              <a:pPr algn="ctr"/>
              <a:r>
                <a:rPr lang="zh-CN" altLang="en-US" sz="4800" b="1" spc="600" dirty="0" smtClean="0">
                  <a:latin typeface="方正明尚简体" panose="02000000000000000000" charset="-122"/>
                  <a:ea typeface="方正明尚简体" panose="02000000000000000000" charset="-122"/>
                  <a:cs typeface="Montserrat" panose="00000500000000000000" pitchFamily="50" charset="0"/>
                  <a:sym typeface="+mn-ea"/>
                </a:rPr>
                <a:t>核心</a:t>
              </a:r>
              <a:r>
                <a:rPr lang="zh-CN" altLang="en-US" sz="4800" b="1" spc="600" dirty="0" smtClean="0">
                  <a:latin typeface="方正明尚简体" panose="02000000000000000000" charset="-122"/>
                  <a:ea typeface="方正明尚简体" panose="02000000000000000000" charset="-122"/>
                  <a:cs typeface="Montserrat" panose="00000500000000000000" pitchFamily="50" charset="0"/>
                  <a:sym typeface="+mn-ea"/>
                </a:rPr>
                <a:t>概览</a:t>
              </a:r>
              <a:endParaRPr lang="zh-CN" altLang="en-US" sz="4800" b="1" spc="600" dirty="0" smtClean="0">
                <a:latin typeface="方正明尚简体" panose="02000000000000000000" charset="-122"/>
                <a:ea typeface="方正明尚简体" panose="02000000000000000000" charset="-122"/>
                <a:cs typeface="Montserrat" panose="00000500000000000000" pitchFamily="50" charset="0"/>
                <a:sym typeface="+mn-ea"/>
              </a:endParaRPr>
            </a:p>
          </p:txBody>
        </p:sp>
        <p:sp>
          <p:nvSpPr>
            <p:cNvPr id="25" name="TextBox 12"/>
            <p:cNvSpPr txBox="1"/>
            <p:nvPr/>
          </p:nvSpPr>
          <p:spPr>
            <a:xfrm>
              <a:off x="291" y="799"/>
              <a:ext cx="7856" cy="56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p>
              <a:pPr algn="ctr">
                <a:lnSpc>
                  <a:spcPct val="150000"/>
                </a:lnSpc>
              </a:pPr>
              <a:endParaRPr lang="en-US" baseline="-25000" dirty="0" smtClean="0">
                <a:latin typeface="Dotum" panose="020B0600000101010101" charset="-127"/>
                <a:ea typeface="Dotum" panose="020B0600000101010101" charset="-127"/>
                <a:cs typeface="+mj-lt"/>
              </a:endParaRPr>
            </a:p>
          </p:txBody>
        </p:sp>
      </p:grpSp>
      <p:pic>
        <p:nvPicPr>
          <p:cNvPr id="4" name="图片 3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153160" y="1245235"/>
            <a:ext cx="9298940" cy="5292090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0"/>
    </mc:Choice>
    <mc:Fallback>
      <p:transition/>
    </mc:Fallback>
  </mc:AlternateContent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grpSp>
        <p:nvGrpSpPr>
          <p:cNvPr id="2" name="组合 1"/>
          <p:cNvGrpSpPr/>
          <p:nvPr/>
        </p:nvGrpSpPr>
        <p:grpSpPr>
          <a:xfrm>
            <a:off x="-1386840" y="62865"/>
            <a:ext cx="8120380" cy="1326515"/>
            <a:chOff x="-2184" y="-721"/>
            <a:chExt cx="12788" cy="2089"/>
          </a:xfrm>
        </p:grpSpPr>
        <p:sp>
          <p:nvSpPr>
            <p:cNvPr id="3" name="TextBox 8"/>
            <p:cNvSpPr txBox="1"/>
            <p:nvPr/>
          </p:nvSpPr>
          <p:spPr>
            <a:xfrm>
              <a:off x="-2184" y="-721"/>
              <a:ext cx="12788" cy="1598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p>
              <a:pPr algn="ctr"/>
              <a:r>
                <a:rPr lang="en-US" sz="6000" b="1" spc="600" dirty="0" smtClean="0">
                  <a:solidFill>
                    <a:schemeClr val="bg1">
                      <a:lumMod val="95000"/>
                    </a:schemeClr>
                  </a:solidFill>
                  <a:latin typeface="庞门正道标题体" panose="02010600030101010101" charset="-122"/>
                  <a:ea typeface="庞门正道标题体" panose="02010600030101010101" charset="-122"/>
                  <a:cs typeface="Montserrat" panose="00000500000000000000" pitchFamily="50" charset="0"/>
                </a:rPr>
                <a:t>MINIMALIST</a:t>
              </a:r>
              <a:endParaRPr lang="en-US" sz="6000" b="1" spc="600" dirty="0" smtClean="0">
                <a:solidFill>
                  <a:schemeClr val="bg1">
                    <a:lumMod val="95000"/>
                  </a:schemeClr>
                </a:solidFill>
                <a:latin typeface="庞门正道标题体" panose="02010600030101010101" charset="-122"/>
                <a:ea typeface="庞门正道标题体" panose="02010600030101010101" charset="-122"/>
                <a:cs typeface="Montserrat" panose="00000500000000000000" pitchFamily="50" charset="0"/>
              </a:endParaRPr>
            </a:p>
          </p:txBody>
        </p:sp>
        <p:sp>
          <p:nvSpPr>
            <p:cNvPr id="24" name="TextBox 9"/>
            <p:cNvSpPr txBox="1"/>
            <p:nvPr/>
          </p:nvSpPr>
          <p:spPr>
            <a:xfrm>
              <a:off x="-1247" y="-166"/>
              <a:ext cx="10932" cy="130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p>
              <a:pPr algn="ctr"/>
              <a:r>
                <a:rPr lang="zh-CN" altLang="en-US" sz="4800" b="1" spc="600" dirty="0" smtClean="0">
                  <a:latin typeface="方正明尚简体" panose="02000000000000000000" charset="-122"/>
                  <a:ea typeface="方正明尚简体" panose="02000000000000000000" charset="-122"/>
                  <a:cs typeface="Montserrat" panose="00000500000000000000" pitchFamily="50" charset="0"/>
                  <a:sym typeface="+mn-ea"/>
                </a:rPr>
                <a:t>三大核心</a:t>
              </a:r>
              <a:r>
                <a:rPr lang="zh-CN" altLang="en-US" sz="4800" b="1" spc="600" dirty="0" smtClean="0">
                  <a:latin typeface="方正明尚简体" panose="02000000000000000000" charset="-122"/>
                  <a:ea typeface="方正明尚简体" panose="02000000000000000000" charset="-122"/>
                  <a:cs typeface="Montserrat" panose="00000500000000000000" pitchFamily="50" charset="0"/>
                  <a:sym typeface="+mn-ea"/>
                </a:rPr>
                <a:t>组成</a:t>
              </a:r>
              <a:endParaRPr lang="zh-CN" altLang="en-US" sz="4800" b="1" spc="600" dirty="0" smtClean="0">
                <a:latin typeface="方正明尚简体" panose="02000000000000000000" charset="-122"/>
                <a:ea typeface="方正明尚简体" panose="02000000000000000000" charset="-122"/>
                <a:cs typeface="Montserrat" panose="00000500000000000000" pitchFamily="50" charset="0"/>
                <a:sym typeface="+mn-ea"/>
              </a:endParaRPr>
            </a:p>
          </p:txBody>
        </p:sp>
        <p:sp>
          <p:nvSpPr>
            <p:cNvPr id="25" name="TextBox 12"/>
            <p:cNvSpPr txBox="1"/>
            <p:nvPr/>
          </p:nvSpPr>
          <p:spPr>
            <a:xfrm>
              <a:off x="291" y="799"/>
              <a:ext cx="7856" cy="56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p>
              <a:pPr algn="ctr">
                <a:lnSpc>
                  <a:spcPct val="150000"/>
                </a:lnSpc>
              </a:pPr>
              <a:endParaRPr lang="en-US" baseline="-25000" dirty="0" smtClean="0">
                <a:latin typeface="Dotum" panose="020B0600000101010101" charset="-127"/>
                <a:ea typeface="Dotum" panose="020B0600000101010101" charset="-127"/>
                <a:cs typeface="+mj-lt"/>
              </a:endParaRPr>
            </a:p>
          </p:txBody>
        </p:sp>
      </p:grpSp>
      <p:pic>
        <p:nvPicPr>
          <p:cNvPr id="9" name="图片 8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776595" y="789940"/>
            <a:ext cx="5895340" cy="5372100"/>
          </a:xfrm>
          <a:prstGeom prst="rect">
            <a:avLst/>
          </a:prstGeom>
        </p:spPr>
      </p:pic>
      <p:sp>
        <p:nvSpPr>
          <p:cNvPr id="14" name="文本框 13"/>
          <p:cNvSpPr txBox="1"/>
          <p:nvPr/>
        </p:nvSpPr>
        <p:spPr>
          <a:xfrm>
            <a:off x="226695" y="1245235"/>
            <a:ext cx="5313680" cy="501586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1600" b="1"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</a:rPr>
              <a:t>A. </a:t>
            </a:r>
            <a:r>
              <a:rPr lang="zh-CN" altLang="en-US" sz="1600" b="1"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</a:rPr>
              <a:t>记忆外向化</a:t>
            </a:r>
            <a:r>
              <a:rPr lang="en-US" altLang="zh-CN" sz="1600" b="1"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</a:rPr>
              <a:t> (Memory)</a:t>
            </a:r>
            <a:endParaRPr lang="en-US" altLang="zh-CN" sz="1600" b="1">
              <a:latin typeface="黑体" panose="02010609060101010101" charset="-122"/>
              <a:ea typeface="黑体" panose="02010609060101010101" charset="-122"/>
              <a:cs typeface="黑体" panose="02010609060101010101" charset="-122"/>
            </a:endParaRPr>
          </a:p>
          <a:p>
            <a:r>
              <a:rPr lang="zh-CN" altLang="en-US" sz="1600"/>
              <a:t>纯</a:t>
            </a:r>
            <a:r>
              <a:rPr lang="en-US" altLang="zh-CN" sz="1600"/>
              <a:t> Context Window </a:t>
            </a:r>
            <a:r>
              <a:rPr lang="zh-CN" altLang="en-US" sz="1600"/>
              <a:t>是不稳定的。</a:t>
            </a:r>
            <a:endParaRPr lang="zh-CN" altLang="en-US" sz="1600"/>
          </a:p>
          <a:p>
            <a:endParaRPr lang="en-US" altLang="zh-CN" sz="1600"/>
          </a:p>
          <a:p>
            <a:r>
              <a:rPr lang="zh-CN" altLang="en-US" sz="1600"/>
              <a:t>核心：</a:t>
            </a:r>
            <a:r>
              <a:rPr lang="en-US" altLang="zh-CN" sz="1600"/>
              <a:t> </a:t>
            </a:r>
            <a:r>
              <a:rPr lang="zh-CN" altLang="en-US" sz="1600"/>
              <a:t>引入外部存储（如向量数据库、图数据库），将长短期记忆从模型参数中解耦。通过</a:t>
            </a:r>
            <a:r>
              <a:rPr lang="en-US" altLang="zh-CN" sz="1600"/>
              <a:t>“</a:t>
            </a:r>
            <a:r>
              <a:rPr lang="zh-CN" altLang="en-US" sz="1600"/>
              <a:t>写入</a:t>
            </a:r>
            <a:r>
              <a:rPr lang="en-US" altLang="zh-CN" sz="1600"/>
              <a:t>-</a:t>
            </a:r>
            <a:r>
              <a:rPr lang="zh-CN" altLang="en-US" sz="1600"/>
              <a:t>索引</a:t>
            </a:r>
            <a:r>
              <a:rPr lang="en-US" altLang="zh-CN" sz="1600"/>
              <a:t>-</a:t>
            </a:r>
            <a:r>
              <a:rPr lang="zh-CN" altLang="en-US" sz="1600"/>
              <a:t>检索</a:t>
            </a:r>
            <a:r>
              <a:rPr lang="en-US" altLang="zh-CN" sz="1600"/>
              <a:t>”</a:t>
            </a:r>
            <a:r>
              <a:rPr lang="zh-CN" altLang="en-US" sz="1600"/>
              <a:t>机制，让</a:t>
            </a:r>
            <a:r>
              <a:rPr lang="en-US" altLang="zh-CN" sz="1600"/>
              <a:t> Agent </a:t>
            </a:r>
            <a:r>
              <a:rPr lang="zh-CN" altLang="en-US" sz="1600"/>
              <a:t>拥有跨会话的长效记忆。</a:t>
            </a:r>
            <a:endParaRPr lang="zh-CN" altLang="en-US" sz="1600"/>
          </a:p>
          <a:p>
            <a:endParaRPr lang="en-US" altLang="zh-CN" sz="1600"/>
          </a:p>
          <a:p>
            <a:r>
              <a:rPr lang="en-US" altLang="zh-CN" sz="1600" b="1"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</a:rPr>
              <a:t>B. </a:t>
            </a:r>
            <a:r>
              <a:rPr lang="zh-CN" altLang="en-US" sz="1600" b="1"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</a:rPr>
              <a:t>技能外向化</a:t>
            </a:r>
            <a:r>
              <a:rPr lang="en-US" altLang="zh-CN" sz="1600" b="1"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</a:rPr>
              <a:t> (Skills)</a:t>
            </a:r>
            <a:endParaRPr lang="en-US" altLang="zh-CN" sz="1600" b="1">
              <a:latin typeface="黑体" panose="02010609060101010101" charset="-122"/>
              <a:ea typeface="黑体" panose="02010609060101010101" charset="-122"/>
              <a:cs typeface="黑体" panose="02010609060101010101" charset="-122"/>
            </a:endParaRPr>
          </a:p>
          <a:p>
            <a:r>
              <a:rPr lang="zh-CN" altLang="en-US" sz="1600"/>
              <a:t>凡是能被程序化的能力，都不应强制模型通过生成来完成。</a:t>
            </a:r>
            <a:endParaRPr lang="zh-CN" altLang="en-US" sz="1600"/>
          </a:p>
          <a:p>
            <a:endParaRPr lang="en-US" altLang="zh-CN" sz="1600"/>
          </a:p>
          <a:p>
            <a:r>
              <a:rPr lang="zh-CN" altLang="en-US" sz="1600"/>
              <a:t>核心：</a:t>
            </a:r>
            <a:r>
              <a:rPr lang="en-US" altLang="zh-CN" sz="1600"/>
              <a:t> </a:t>
            </a:r>
            <a:r>
              <a:rPr lang="zh-CN" altLang="en-US" sz="1600"/>
              <a:t>封装外部工具（</a:t>
            </a:r>
            <a:r>
              <a:rPr lang="en-US" altLang="zh-CN" sz="1600"/>
              <a:t>Tools</a:t>
            </a:r>
            <a:r>
              <a:rPr lang="zh-CN" altLang="en-US" sz="1600"/>
              <a:t>）、</a:t>
            </a:r>
            <a:r>
              <a:rPr lang="en-US" altLang="zh-CN" sz="1600"/>
              <a:t>API</a:t>
            </a:r>
            <a:r>
              <a:rPr lang="zh-CN" altLang="en-US" sz="1600"/>
              <a:t>、专家模型或预定义脚本。</a:t>
            </a:r>
            <a:r>
              <a:rPr lang="en-US" altLang="zh-CN" sz="1600"/>
              <a:t>Agent </a:t>
            </a:r>
            <a:r>
              <a:rPr lang="zh-CN" altLang="en-US" sz="1600"/>
              <a:t>不再是自己做所有事，而是通过</a:t>
            </a:r>
            <a:r>
              <a:rPr lang="en-US" altLang="zh-CN" sz="1600"/>
              <a:t>“</a:t>
            </a:r>
            <a:r>
              <a:rPr lang="zh-CN" altLang="en-US" sz="1600"/>
              <a:t>技能池</a:t>
            </a:r>
            <a:r>
              <a:rPr lang="en-US" altLang="zh-CN" sz="1600"/>
              <a:t>”</a:t>
            </a:r>
            <a:r>
              <a:rPr lang="zh-CN" altLang="en-US" sz="1600"/>
              <a:t>进行调用，降低逻辑负担。</a:t>
            </a:r>
            <a:endParaRPr lang="zh-CN" altLang="en-US" sz="1600"/>
          </a:p>
          <a:p>
            <a:endParaRPr lang="en-US" altLang="zh-CN" sz="1600"/>
          </a:p>
          <a:p>
            <a:r>
              <a:rPr lang="en-US" altLang="zh-CN" sz="1600" b="1"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</a:rPr>
              <a:t>C. </a:t>
            </a:r>
            <a:r>
              <a:rPr lang="zh-CN" altLang="en-US" sz="1600" b="1"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</a:rPr>
              <a:t>协议外向化</a:t>
            </a:r>
            <a:r>
              <a:rPr lang="en-US" altLang="zh-CN" sz="1600" b="1"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</a:rPr>
              <a:t> (Protocols)</a:t>
            </a:r>
            <a:endParaRPr lang="en-US" altLang="zh-CN" sz="1600" b="1">
              <a:latin typeface="黑体" panose="02010609060101010101" charset="-122"/>
              <a:ea typeface="黑体" panose="02010609060101010101" charset="-122"/>
              <a:cs typeface="黑体" panose="02010609060101010101" charset="-122"/>
            </a:endParaRPr>
          </a:p>
          <a:p>
            <a:r>
              <a:rPr lang="en-US" altLang="zh-CN" sz="1600"/>
              <a:t>Agent </a:t>
            </a:r>
            <a:r>
              <a:rPr lang="zh-CN" altLang="en-US" sz="1600"/>
              <a:t>与环境、</a:t>
            </a:r>
            <a:r>
              <a:rPr lang="en-US" altLang="zh-CN" sz="1600"/>
              <a:t>Agent </a:t>
            </a:r>
            <a:r>
              <a:rPr lang="zh-CN" altLang="en-US" sz="1600"/>
              <a:t>与</a:t>
            </a:r>
            <a:r>
              <a:rPr lang="en-US" altLang="zh-CN" sz="1600"/>
              <a:t> Agent </a:t>
            </a:r>
            <a:r>
              <a:rPr lang="zh-CN" altLang="en-US" sz="1600"/>
              <a:t>之间的交互需要标准语言。</a:t>
            </a:r>
            <a:endParaRPr lang="zh-CN" altLang="en-US" sz="1600"/>
          </a:p>
          <a:p>
            <a:endParaRPr lang="en-US" altLang="zh-CN" sz="1600"/>
          </a:p>
          <a:p>
            <a:r>
              <a:rPr lang="zh-CN" altLang="en-US" sz="1600"/>
              <a:t>核心：</a:t>
            </a:r>
            <a:r>
              <a:rPr lang="en-US" altLang="zh-CN" sz="1600"/>
              <a:t> </a:t>
            </a:r>
            <a:r>
              <a:rPr lang="zh-CN" altLang="en-US" sz="1600"/>
              <a:t>建立结构化的通信协议（如自定义</a:t>
            </a:r>
            <a:r>
              <a:rPr lang="en-US" altLang="zh-CN" sz="1600"/>
              <a:t> JSON Schema</a:t>
            </a:r>
            <a:r>
              <a:rPr lang="zh-CN" altLang="en-US" sz="1600"/>
              <a:t>、动作空间约束）。这减少了自由文本生成的随意性，确保了</a:t>
            </a:r>
            <a:r>
              <a:rPr lang="en-US" altLang="zh-CN" sz="1600"/>
              <a:t> Agent </a:t>
            </a:r>
            <a:r>
              <a:rPr lang="zh-CN" altLang="en-US" sz="1600"/>
              <a:t>行为的可预测性和一致性。</a:t>
            </a:r>
            <a:endParaRPr lang="zh-CN" altLang="en-US" sz="1600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0"/>
    </mc:Choice>
    <mc:Fallback>
      <p:transition/>
    </mc:Fallback>
  </mc:AlternateContent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grpSp>
        <p:nvGrpSpPr>
          <p:cNvPr id="2" name="组合 1"/>
          <p:cNvGrpSpPr/>
          <p:nvPr/>
        </p:nvGrpSpPr>
        <p:grpSpPr>
          <a:xfrm>
            <a:off x="-1386840" y="62865"/>
            <a:ext cx="8120380" cy="1326515"/>
            <a:chOff x="-2184" y="-721"/>
            <a:chExt cx="12788" cy="2089"/>
          </a:xfrm>
        </p:grpSpPr>
        <p:sp>
          <p:nvSpPr>
            <p:cNvPr id="3" name="TextBox 8"/>
            <p:cNvSpPr txBox="1"/>
            <p:nvPr/>
          </p:nvSpPr>
          <p:spPr>
            <a:xfrm>
              <a:off x="-2184" y="-721"/>
              <a:ext cx="12788" cy="1598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p>
              <a:pPr algn="ctr"/>
              <a:r>
                <a:rPr lang="en-US" sz="6000" b="1" spc="600" dirty="0" smtClean="0">
                  <a:solidFill>
                    <a:schemeClr val="bg1">
                      <a:lumMod val="95000"/>
                    </a:schemeClr>
                  </a:solidFill>
                  <a:latin typeface="庞门正道标题体" panose="02010600030101010101" charset="-122"/>
                  <a:ea typeface="庞门正道标题体" panose="02010600030101010101" charset="-122"/>
                  <a:cs typeface="Montserrat" panose="00000500000000000000" pitchFamily="50" charset="0"/>
                </a:rPr>
                <a:t>MINIMALIST</a:t>
              </a:r>
              <a:endParaRPr lang="en-US" sz="6000" b="1" spc="600" dirty="0" smtClean="0">
                <a:solidFill>
                  <a:schemeClr val="bg1">
                    <a:lumMod val="95000"/>
                  </a:schemeClr>
                </a:solidFill>
                <a:latin typeface="庞门正道标题体" panose="02010600030101010101" charset="-122"/>
                <a:ea typeface="庞门正道标题体" panose="02010600030101010101" charset="-122"/>
                <a:cs typeface="Montserrat" panose="00000500000000000000" pitchFamily="50" charset="0"/>
              </a:endParaRPr>
            </a:p>
          </p:txBody>
        </p:sp>
        <p:sp>
          <p:nvSpPr>
            <p:cNvPr id="24" name="TextBox 9"/>
            <p:cNvSpPr txBox="1"/>
            <p:nvPr/>
          </p:nvSpPr>
          <p:spPr>
            <a:xfrm>
              <a:off x="-1247" y="-166"/>
              <a:ext cx="10932" cy="130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p>
              <a:pPr algn="ctr"/>
              <a:r>
                <a:rPr lang="zh-CN" altLang="en-US" sz="4800" b="1" spc="600" dirty="0" smtClean="0">
                  <a:latin typeface="方正明尚简体" panose="02000000000000000000" charset="-122"/>
                  <a:ea typeface="方正明尚简体" panose="02000000000000000000" charset="-122"/>
                  <a:cs typeface="Montserrat" panose="00000500000000000000" pitchFamily="50" charset="0"/>
                  <a:sym typeface="+mn-ea"/>
                </a:rPr>
                <a:t>三大核心</a:t>
              </a:r>
              <a:r>
                <a:rPr lang="zh-CN" altLang="en-US" sz="4800" b="1" spc="600" dirty="0" smtClean="0">
                  <a:latin typeface="方正明尚简体" panose="02000000000000000000" charset="-122"/>
                  <a:ea typeface="方正明尚简体" panose="02000000000000000000" charset="-122"/>
                  <a:cs typeface="Montserrat" panose="00000500000000000000" pitchFamily="50" charset="0"/>
                  <a:sym typeface="+mn-ea"/>
                </a:rPr>
                <a:t>组成</a:t>
              </a:r>
              <a:endParaRPr lang="zh-CN" altLang="en-US" sz="4800" b="1" spc="600" dirty="0" smtClean="0">
                <a:latin typeface="方正明尚简体" panose="02000000000000000000" charset="-122"/>
                <a:ea typeface="方正明尚简体" panose="02000000000000000000" charset="-122"/>
                <a:cs typeface="Montserrat" panose="00000500000000000000" pitchFamily="50" charset="0"/>
                <a:sym typeface="+mn-ea"/>
              </a:endParaRPr>
            </a:p>
          </p:txBody>
        </p:sp>
        <p:sp>
          <p:nvSpPr>
            <p:cNvPr id="25" name="TextBox 12"/>
            <p:cNvSpPr txBox="1"/>
            <p:nvPr/>
          </p:nvSpPr>
          <p:spPr>
            <a:xfrm>
              <a:off x="291" y="799"/>
              <a:ext cx="7856" cy="56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p>
              <a:pPr algn="ctr">
                <a:lnSpc>
                  <a:spcPct val="150000"/>
                </a:lnSpc>
              </a:pPr>
              <a:endParaRPr lang="en-US" baseline="-25000" dirty="0" smtClean="0">
                <a:latin typeface="Dotum" panose="020B0600000101010101" charset="-127"/>
                <a:ea typeface="Dotum" panose="020B0600000101010101" charset="-127"/>
                <a:cs typeface="+mj-lt"/>
              </a:endParaRPr>
            </a:p>
          </p:txBody>
        </p:sp>
      </p:grpSp>
      <p:sp>
        <p:nvSpPr>
          <p:cNvPr id="14" name="文本框 13"/>
          <p:cNvSpPr txBox="1"/>
          <p:nvPr/>
        </p:nvSpPr>
        <p:spPr>
          <a:xfrm>
            <a:off x="356235" y="1245235"/>
            <a:ext cx="10289540" cy="58356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1600" b="1"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</a:rPr>
              <a:t>A. </a:t>
            </a:r>
            <a:r>
              <a:rPr lang="zh-CN" altLang="en-US" sz="1600" b="1"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</a:rPr>
              <a:t>记忆外向化</a:t>
            </a:r>
            <a:r>
              <a:rPr lang="en-US" altLang="zh-CN" sz="1600" b="1"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</a:rPr>
              <a:t> (Memory)</a:t>
            </a:r>
            <a:endParaRPr lang="en-US" altLang="zh-CN" sz="1600" b="1">
              <a:latin typeface="黑体" panose="02010609060101010101" charset="-122"/>
              <a:ea typeface="黑体" panose="02010609060101010101" charset="-122"/>
              <a:cs typeface="黑体" panose="02010609060101010101" charset="-122"/>
            </a:endParaRPr>
          </a:p>
          <a:p>
            <a:endParaRPr lang="zh-CN" altLang="en-US" sz="1600"/>
          </a:p>
        </p:txBody>
      </p:sp>
      <p:sp>
        <p:nvSpPr>
          <p:cNvPr id="4" name="文本框 3"/>
          <p:cNvSpPr txBox="1"/>
          <p:nvPr/>
        </p:nvSpPr>
        <p:spPr>
          <a:xfrm>
            <a:off x="1012190" y="1634490"/>
            <a:ext cx="9634220" cy="64516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zh-CN" altLang="en-US" b="1"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</a:rPr>
              <a:t>核心哲学：将记忆从模型受限的</a:t>
            </a:r>
            <a:r>
              <a:rPr lang="en-US" altLang="zh-CN" b="1"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</a:rPr>
              <a:t>“</a:t>
            </a:r>
            <a:r>
              <a:rPr lang="zh-CN" altLang="en-US" b="1"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</a:rPr>
              <a:t>原生参数</a:t>
            </a:r>
            <a:r>
              <a:rPr lang="en-US" altLang="zh-CN" b="1"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</a:rPr>
              <a:t>”</a:t>
            </a:r>
            <a:r>
              <a:rPr lang="zh-CN" altLang="en-US" b="1"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</a:rPr>
              <a:t>和</a:t>
            </a:r>
            <a:r>
              <a:rPr lang="en-US" altLang="zh-CN" b="1"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</a:rPr>
              <a:t>“</a:t>
            </a:r>
            <a:r>
              <a:rPr lang="zh-CN" altLang="en-US" b="1"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</a:rPr>
              <a:t>上下文窗口</a:t>
            </a:r>
            <a:r>
              <a:rPr lang="en-US" altLang="zh-CN" b="1"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</a:rPr>
              <a:t>”</a:t>
            </a:r>
            <a:r>
              <a:rPr lang="zh-CN" altLang="en-US" b="1"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</a:rPr>
              <a:t>中解耦，转而构建一套受控的、可持久化的外部存储系统</a:t>
            </a:r>
            <a:endParaRPr lang="zh-CN" altLang="en-US" b="1">
              <a:latin typeface="黑体" panose="02010609060101010101" charset="-122"/>
              <a:ea typeface="黑体" panose="02010609060101010101" charset="-122"/>
              <a:cs typeface="黑体" panose="02010609060101010101" charset="-122"/>
            </a:endParaRPr>
          </a:p>
        </p:txBody>
      </p:sp>
      <p:pic>
        <p:nvPicPr>
          <p:cNvPr id="5" name="图片 4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80770" y="2340610"/>
            <a:ext cx="9700895" cy="4281170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0"/>
    </mc:Choice>
    <mc:Fallback>
      <p:transition/>
    </mc:Fallback>
  </mc:AlternateContent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grpSp>
        <p:nvGrpSpPr>
          <p:cNvPr id="2" name="组合 1"/>
          <p:cNvGrpSpPr/>
          <p:nvPr/>
        </p:nvGrpSpPr>
        <p:grpSpPr>
          <a:xfrm>
            <a:off x="-1386840" y="62865"/>
            <a:ext cx="8120380" cy="1326515"/>
            <a:chOff x="-2184" y="-721"/>
            <a:chExt cx="12788" cy="2089"/>
          </a:xfrm>
        </p:grpSpPr>
        <p:sp>
          <p:nvSpPr>
            <p:cNvPr id="3" name="TextBox 8"/>
            <p:cNvSpPr txBox="1"/>
            <p:nvPr/>
          </p:nvSpPr>
          <p:spPr>
            <a:xfrm>
              <a:off x="-2184" y="-721"/>
              <a:ext cx="12788" cy="1598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p>
              <a:pPr algn="ctr"/>
              <a:r>
                <a:rPr lang="en-US" sz="6000" b="1" spc="600" dirty="0" smtClean="0">
                  <a:solidFill>
                    <a:schemeClr val="bg1">
                      <a:lumMod val="95000"/>
                    </a:schemeClr>
                  </a:solidFill>
                  <a:latin typeface="庞门正道标题体" panose="02010600030101010101" charset="-122"/>
                  <a:ea typeface="庞门正道标题体" panose="02010600030101010101" charset="-122"/>
                  <a:cs typeface="Montserrat" panose="00000500000000000000" pitchFamily="50" charset="0"/>
                </a:rPr>
                <a:t>MINIMALIST</a:t>
              </a:r>
              <a:endParaRPr lang="en-US" sz="6000" b="1" spc="600" dirty="0" smtClean="0">
                <a:solidFill>
                  <a:schemeClr val="bg1">
                    <a:lumMod val="95000"/>
                  </a:schemeClr>
                </a:solidFill>
                <a:latin typeface="庞门正道标题体" panose="02010600030101010101" charset="-122"/>
                <a:ea typeface="庞门正道标题体" panose="02010600030101010101" charset="-122"/>
                <a:cs typeface="Montserrat" panose="00000500000000000000" pitchFamily="50" charset="0"/>
              </a:endParaRPr>
            </a:p>
          </p:txBody>
        </p:sp>
        <p:sp>
          <p:nvSpPr>
            <p:cNvPr id="24" name="TextBox 9"/>
            <p:cNvSpPr txBox="1"/>
            <p:nvPr/>
          </p:nvSpPr>
          <p:spPr>
            <a:xfrm>
              <a:off x="-1247" y="-166"/>
              <a:ext cx="10932" cy="130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p>
              <a:pPr algn="ctr"/>
              <a:r>
                <a:rPr lang="zh-CN" altLang="en-US" sz="4800" b="1" spc="600" dirty="0" smtClean="0">
                  <a:latin typeface="方正明尚简体" panose="02000000000000000000" charset="-122"/>
                  <a:ea typeface="方正明尚简体" panose="02000000000000000000" charset="-122"/>
                  <a:cs typeface="Montserrat" panose="00000500000000000000" pitchFamily="50" charset="0"/>
                  <a:sym typeface="+mn-ea"/>
                </a:rPr>
                <a:t>三大核心</a:t>
              </a:r>
              <a:r>
                <a:rPr lang="zh-CN" altLang="en-US" sz="4800" b="1" spc="600" dirty="0" smtClean="0">
                  <a:latin typeface="方正明尚简体" panose="02000000000000000000" charset="-122"/>
                  <a:ea typeface="方正明尚简体" panose="02000000000000000000" charset="-122"/>
                  <a:cs typeface="Montserrat" panose="00000500000000000000" pitchFamily="50" charset="0"/>
                  <a:sym typeface="+mn-ea"/>
                </a:rPr>
                <a:t>组成</a:t>
              </a:r>
              <a:endParaRPr lang="zh-CN" altLang="en-US" sz="4800" b="1" spc="600" dirty="0" smtClean="0">
                <a:latin typeface="方正明尚简体" panose="02000000000000000000" charset="-122"/>
                <a:ea typeface="方正明尚简体" panose="02000000000000000000" charset="-122"/>
                <a:cs typeface="Montserrat" panose="00000500000000000000" pitchFamily="50" charset="0"/>
                <a:sym typeface="+mn-ea"/>
              </a:endParaRPr>
            </a:p>
          </p:txBody>
        </p:sp>
        <p:sp>
          <p:nvSpPr>
            <p:cNvPr id="25" name="TextBox 12"/>
            <p:cNvSpPr txBox="1"/>
            <p:nvPr/>
          </p:nvSpPr>
          <p:spPr>
            <a:xfrm>
              <a:off x="291" y="799"/>
              <a:ext cx="7856" cy="56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p>
              <a:pPr algn="ctr">
                <a:lnSpc>
                  <a:spcPct val="150000"/>
                </a:lnSpc>
              </a:pPr>
              <a:endParaRPr lang="en-US" baseline="-25000" dirty="0" smtClean="0">
                <a:latin typeface="Dotum" panose="020B0600000101010101" charset="-127"/>
                <a:ea typeface="Dotum" panose="020B0600000101010101" charset="-127"/>
                <a:cs typeface="+mj-lt"/>
              </a:endParaRPr>
            </a:p>
          </p:txBody>
        </p:sp>
      </p:grpSp>
      <p:sp>
        <p:nvSpPr>
          <p:cNvPr id="14" name="文本框 13"/>
          <p:cNvSpPr txBox="1"/>
          <p:nvPr/>
        </p:nvSpPr>
        <p:spPr>
          <a:xfrm>
            <a:off x="356235" y="1245235"/>
            <a:ext cx="10289540" cy="58356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1600" b="1"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</a:rPr>
              <a:t>A. </a:t>
            </a:r>
            <a:r>
              <a:rPr lang="zh-CN" altLang="en-US" sz="1600" b="1"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</a:rPr>
              <a:t>记忆外向化</a:t>
            </a:r>
            <a:r>
              <a:rPr lang="en-US" altLang="zh-CN" sz="1600" b="1"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</a:rPr>
              <a:t> (Memory)</a:t>
            </a:r>
            <a:endParaRPr lang="en-US" altLang="zh-CN" sz="1600" b="1">
              <a:latin typeface="黑体" panose="02010609060101010101" charset="-122"/>
              <a:ea typeface="黑体" panose="02010609060101010101" charset="-122"/>
              <a:cs typeface="黑体" panose="02010609060101010101" charset="-122"/>
            </a:endParaRPr>
          </a:p>
          <a:p>
            <a:endParaRPr lang="zh-CN" altLang="en-US" sz="1600"/>
          </a:p>
        </p:txBody>
      </p:sp>
      <p:sp>
        <p:nvSpPr>
          <p:cNvPr id="4" name="文本框 3"/>
          <p:cNvSpPr txBox="1"/>
          <p:nvPr/>
        </p:nvSpPr>
        <p:spPr>
          <a:xfrm>
            <a:off x="1012190" y="1748790"/>
            <a:ext cx="9634220" cy="33718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1600" b="1"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</a:rPr>
              <a:t>LLM</a:t>
            </a:r>
            <a:r>
              <a:rPr lang="zh-CN" altLang="en-US" sz="1600" b="1"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</a:rPr>
              <a:t>原生记忆短板：</a:t>
            </a:r>
            <a:endParaRPr lang="zh-CN" altLang="en-US" sz="1600" b="1">
              <a:latin typeface="黑体" panose="02010609060101010101" charset="-122"/>
              <a:ea typeface="黑体" panose="02010609060101010101" charset="-122"/>
              <a:cs typeface="黑体" panose="02010609060101010101" charset="-122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1675130" y="2360930"/>
            <a:ext cx="8453120" cy="203009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pPr marL="285750" indent="-285750">
              <a:buFont typeface="Arial" panose="020B0604020202020204" pitchFamily="34" charset="0"/>
              <a:buChar char="•"/>
            </a:pPr>
            <a:r>
              <a:rPr lang="zh-CN" altLang="en-US"/>
              <a:t>短期记忆的碎片化（</a:t>
            </a:r>
            <a:r>
              <a:rPr lang="en-US" altLang="zh-CN"/>
              <a:t>Context Limitation</a:t>
            </a:r>
            <a:r>
              <a:rPr lang="zh-CN" altLang="en-US"/>
              <a:t>）：</a:t>
            </a:r>
            <a:r>
              <a:rPr lang="en-US" altLang="zh-CN"/>
              <a:t> </a:t>
            </a:r>
            <a:r>
              <a:rPr lang="zh-CN" altLang="en-US"/>
              <a:t>无论上下文窗口多大（如</a:t>
            </a:r>
            <a:r>
              <a:rPr lang="en-US" altLang="zh-CN"/>
              <a:t> 1M token</a:t>
            </a:r>
            <a:r>
              <a:rPr lang="zh-CN" altLang="en-US"/>
              <a:t>），随着信息增加，模型会出现</a:t>
            </a:r>
            <a:r>
              <a:rPr lang="en-US" altLang="zh-CN"/>
              <a:t>“</a:t>
            </a:r>
            <a:r>
              <a:rPr lang="zh-CN" altLang="en-US"/>
              <a:t>中间迷失</a:t>
            </a:r>
            <a:r>
              <a:rPr lang="en-US" altLang="zh-CN"/>
              <a:t>”</a:t>
            </a:r>
            <a:r>
              <a:rPr lang="zh-CN" altLang="en-US"/>
              <a:t>或</a:t>
            </a:r>
            <a:r>
              <a:rPr lang="en-US" altLang="zh-CN"/>
              <a:t>“</a:t>
            </a:r>
            <a:r>
              <a:rPr lang="zh-CN" altLang="en-US"/>
              <a:t>推理缩水（</a:t>
            </a:r>
            <a:r>
              <a:rPr lang="en-US" altLang="zh-CN"/>
              <a:t>Reasoning Shift</a:t>
            </a:r>
            <a:r>
              <a:rPr lang="zh-CN" altLang="en-US"/>
              <a:t>）</a:t>
            </a:r>
            <a:r>
              <a:rPr lang="en-US" altLang="zh-CN"/>
              <a:t>”</a:t>
            </a:r>
            <a:r>
              <a:rPr lang="zh-CN" altLang="en-US"/>
              <a:t>。</a:t>
            </a:r>
            <a:endParaRPr lang="zh-CN" altLang="en-US"/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altLang="zh-CN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zh-CN" altLang="en-US"/>
              <a:t>长期记忆的不可靠性（</a:t>
            </a:r>
            <a:r>
              <a:rPr lang="en-US" altLang="zh-CN"/>
              <a:t>Parametric Memory</a:t>
            </a:r>
            <a:r>
              <a:rPr lang="zh-CN" altLang="en-US"/>
              <a:t>）：</a:t>
            </a:r>
            <a:r>
              <a:rPr lang="en-US" altLang="zh-CN"/>
              <a:t> </a:t>
            </a:r>
            <a:r>
              <a:rPr lang="zh-CN" altLang="en-US"/>
              <a:t>模型权重中的知识是静态的，且容易产生幻觉，无法存储用户私有的、动态更新的信息。</a:t>
            </a:r>
            <a:endParaRPr lang="zh-CN" altLang="en-US"/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altLang="zh-CN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zh-CN" altLang="en-US"/>
              <a:t>不可持久化：</a:t>
            </a:r>
            <a:r>
              <a:rPr lang="en-US" altLang="zh-CN"/>
              <a:t> </a:t>
            </a:r>
            <a:r>
              <a:rPr lang="zh-CN" altLang="en-US"/>
              <a:t>一旦会话结束，所有交互历史都会丢失。</a:t>
            </a:r>
            <a:endParaRPr lang="zh-CN" altLang="en-US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0"/>
    </mc:Choice>
    <mc:Fallback>
      <p:transition/>
    </mc:Fallback>
  </mc:AlternateContent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grpSp>
        <p:nvGrpSpPr>
          <p:cNvPr id="2" name="组合 1"/>
          <p:cNvGrpSpPr/>
          <p:nvPr/>
        </p:nvGrpSpPr>
        <p:grpSpPr>
          <a:xfrm>
            <a:off x="-1386840" y="62865"/>
            <a:ext cx="8120380" cy="1326515"/>
            <a:chOff x="-2184" y="-721"/>
            <a:chExt cx="12788" cy="2089"/>
          </a:xfrm>
        </p:grpSpPr>
        <p:sp>
          <p:nvSpPr>
            <p:cNvPr id="3" name="TextBox 8"/>
            <p:cNvSpPr txBox="1"/>
            <p:nvPr/>
          </p:nvSpPr>
          <p:spPr>
            <a:xfrm>
              <a:off x="-2184" y="-721"/>
              <a:ext cx="12788" cy="1598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p>
              <a:pPr algn="ctr"/>
              <a:r>
                <a:rPr lang="en-US" sz="6000" b="1" spc="600" dirty="0" smtClean="0">
                  <a:solidFill>
                    <a:schemeClr val="bg1">
                      <a:lumMod val="95000"/>
                    </a:schemeClr>
                  </a:solidFill>
                  <a:latin typeface="庞门正道标题体" panose="02010600030101010101" charset="-122"/>
                  <a:ea typeface="庞门正道标题体" panose="02010600030101010101" charset="-122"/>
                  <a:cs typeface="Montserrat" panose="00000500000000000000" pitchFamily="50" charset="0"/>
                </a:rPr>
                <a:t>MINIMALIST</a:t>
              </a:r>
              <a:endParaRPr lang="en-US" sz="6000" b="1" spc="600" dirty="0" smtClean="0">
                <a:solidFill>
                  <a:schemeClr val="bg1">
                    <a:lumMod val="95000"/>
                  </a:schemeClr>
                </a:solidFill>
                <a:latin typeface="庞门正道标题体" panose="02010600030101010101" charset="-122"/>
                <a:ea typeface="庞门正道标题体" panose="02010600030101010101" charset="-122"/>
                <a:cs typeface="Montserrat" panose="00000500000000000000" pitchFamily="50" charset="0"/>
              </a:endParaRPr>
            </a:p>
          </p:txBody>
        </p:sp>
        <p:sp>
          <p:nvSpPr>
            <p:cNvPr id="24" name="TextBox 9"/>
            <p:cNvSpPr txBox="1"/>
            <p:nvPr/>
          </p:nvSpPr>
          <p:spPr>
            <a:xfrm>
              <a:off x="-1247" y="-166"/>
              <a:ext cx="10932" cy="130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p>
              <a:pPr algn="ctr"/>
              <a:r>
                <a:rPr lang="zh-CN" altLang="en-US" sz="4800" b="1" spc="600" dirty="0" smtClean="0">
                  <a:latin typeface="方正明尚简体" panose="02000000000000000000" charset="-122"/>
                  <a:ea typeface="方正明尚简体" panose="02000000000000000000" charset="-122"/>
                  <a:cs typeface="Montserrat" panose="00000500000000000000" pitchFamily="50" charset="0"/>
                  <a:sym typeface="+mn-ea"/>
                </a:rPr>
                <a:t>三大核心</a:t>
              </a:r>
              <a:r>
                <a:rPr lang="zh-CN" altLang="en-US" sz="4800" b="1" spc="600" dirty="0" smtClean="0">
                  <a:latin typeface="方正明尚简体" panose="02000000000000000000" charset="-122"/>
                  <a:ea typeface="方正明尚简体" panose="02000000000000000000" charset="-122"/>
                  <a:cs typeface="Montserrat" panose="00000500000000000000" pitchFamily="50" charset="0"/>
                  <a:sym typeface="+mn-ea"/>
                </a:rPr>
                <a:t>组成</a:t>
              </a:r>
              <a:endParaRPr lang="zh-CN" altLang="en-US" sz="4800" b="1" spc="600" dirty="0" smtClean="0">
                <a:latin typeface="方正明尚简体" panose="02000000000000000000" charset="-122"/>
                <a:ea typeface="方正明尚简体" panose="02000000000000000000" charset="-122"/>
                <a:cs typeface="Montserrat" panose="00000500000000000000" pitchFamily="50" charset="0"/>
                <a:sym typeface="+mn-ea"/>
              </a:endParaRPr>
            </a:p>
          </p:txBody>
        </p:sp>
        <p:sp>
          <p:nvSpPr>
            <p:cNvPr id="25" name="TextBox 12"/>
            <p:cNvSpPr txBox="1"/>
            <p:nvPr/>
          </p:nvSpPr>
          <p:spPr>
            <a:xfrm>
              <a:off x="291" y="799"/>
              <a:ext cx="7856" cy="56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p>
              <a:pPr algn="ctr">
                <a:lnSpc>
                  <a:spcPct val="150000"/>
                </a:lnSpc>
              </a:pPr>
              <a:endParaRPr lang="en-US" baseline="-25000" dirty="0" smtClean="0">
                <a:latin typeface="Dotum" panose="020B0600000101010101" charset="-127"/>
                <a:ea typeface="Dotum" panose="020B0600000101010101" charset="-127"/>
                <a:cs typeface="+mj-lt"/>
              </a:endParaRPr>
            </a:p>
          </p:txBody>
        </p:sp>
      </p:grpSp>
      <p:sp>
        <p:nvSpPr>
          <p:cNvPr id="14" name="文本框 13"/>
          <p:cNvSpPr txBox="1"/>
          <p:nvPr/>
        </p:nvSpPr>
        <p:spPr>
          <a:xfrm>
            <a:off x="356235" y="1245235"/>
            <a:ext cx="10289540" cy="58356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1600" b="1"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</a:rPr>
              <a:t>A. </a:t>
            </a:r>
            <a:r>
              <a:rPr lang="zh-CN" altLang="en-US" sz="1600" b="1"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</a:rPr>
              <a:t>记忆外向化</a:t>
            </a:r>
            <a:r>
              <a:rPr lang="en-US" altLang="zh-CN" sz="1600" b="1"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</a:rPr>
              <a:t> (Memory)</a:t>
            </a:r>
            <a:endParaRPr lang="en-US" altLang="zh-CN" sz="1600" b="1">
              <a:latin typeface="黑体" panose="02010609060101010101" charset="-122"/>
              <a:ea typeface="黑体" panose="02010609060101010101" charset="-122"/>
              <a:cs typeface="黑体" panose="02010609060101010101" charset="-122"/>
            </a:endParaRPr>
          </a:p>
          <a:p>
            <a:endParaRPr lang="zh-CN" altLang="en-US" sz="1600"/>
          </a:p>
        </p:txBody>
      </p:sp>
      <p:sp>
        <p:nvSpPr>
          <p:cNvPr id="4" name="文本框 3"/>
          <p:cNvSpPr txBox="1"/>
          <p:nvPr/>
        </p:nvSpPr>
        <p:spPr>
          <a:xfrm>
            <a:off x="548005" y="1605915"/>
            <a:ext cx="9634220" cy="33718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zh-CN" altLang="en-US" sz="1600" b="1"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</a:rPr>
              <a:t>记忆外向话三个关键维度</a:t>
            </a:r>
            <a:r>
              <a:rPr lang="en-US" altLang="zh-CN" sz="1600" b="1"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</a:rPr>
              <a:t> 		</a:t>
            </a:r>
            <a:r>
              <a:rPr lang="zh-CN" altLang="en-US" sz="1600" b="1">
                <a:solidFill>
                  <a:srgbClr val="FF0000"/>
                </a:solidFill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</a:rPr>
              <a:t>用外围的强协议（</a:t>
            </a:r>
            <a:r>
              <a:rPr lang="en-US" altLang="zh-CN" sz="1600" b="1">
                <a:solidFill>
                  <a:srgbClr val="FF0000"/>
                </a:solidFill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</a:rPr>
              <a:t>Protocols</a:t>
            </a:r>
            <a:r>
              <a:rPr lang="zh-CN" altLang="en-US" sz="1600" b="1">
                <a:solidFill>
                  <a:srgbClr val="FF0000"/>
                </a:solidFill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</a:rPr>
              <a:t>）去弥补大模型内在的不可靠性</a:t>
            </a:r>
            <a:endParaRPr lang="zh-CN" altLang="en-US" sz="1600" b="1">
              <a:solidFill>
                <a:srgbClr val="FF0000"/>
              </a:solidFill>
              <a:latin typeface="黑体" panose="02010609060101010101" charset="-122"/>
              <a:ea typeface="黑体" panose="02010609060101010101" charset="-122"/>
              <a:cs typeface="黑体" panose="02010609060101010101" charset="-122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548005" y="1996440"/>
            <a:ext cx="11492865" cy="452310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altLang="zh-CN" sz="1600"/>
              <a:t>A. </a:t>
            </a:r>
            <a:r>
              <a:rPr lang="zh-CN" altLang="en-US" sz="1600"/>
              <a:t>结构化存储：从</a:t>
            </a:r>
            <a:r>
              <a:rPr lang="en-US" altLang="zh-CN" sz="1600"/>
              <a:t>“</a:t>
            </a:r>
            <a:r>
              <a:rPr lang="zh-CN" altLang="en-US" sz="1600"/>
              <a:t>乱序文本</a:t>
            </a:r>
            <a:r>
              <a:rPr lang="en-US" altLang="zh-CN" sz="1600"/>
              <a:t>”</a:t>
            </a:r>
            <a:r>
              <a:rPr lang="zh-CN" altLang="en-US" sz="1600"/>
              <a:t>到</a:t>
            </a:r>
            <a:r>
              <a:rPr lang="en-US" altLang="zh-CN" sz="1600"/>
              <a:t>“</a:t>
            </a:r>
            <a:r>
              <a:rPr lang="zh-CN" altLang="en-US" sz="1600"/>
              <a:t>有序知识</a:t>
            </a:r>
            <a:r>
              <a:rPr lang="en-US" altLang="zh-CN" sz="1600"/>
              <a:t>”</a:t>
            </a:r>
            <a:endParaRPr lang="en-US" altLang="zh-CN" sz="1600"/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zh-CN" altLang="en-US" sz="1600"/>
              <a:t>向量存储（</a:t>
            </a:r>
            <a:r>
              <a:rPr lang="en-US" altLang="zh-CN" sz="1600"/>
              <a:t>Semantic Memory</a:t>
            </a:r>
            <a:r>
              <a:rPr lang="zh-CN" altLang="en-US" sz="1600"/>
              <a:t>）：</a:t>
            </a:r>
            <a:r>
              <a:rPr lang="en-US" altLang="zh-CN" sz="1600"/>
              <a:t> </a:t>
            </a:r>
            <a:r>
              <a:rPr lang="zh-CN" altLang="en-US" sz="1600"/>
              <a:t>将交互历史转化为</a:t>
            </a:r>
            <a:r>
              <a:rPr lang="en-US" altLang="zh-CN" sz="1600"/>
              <a:t> Embedding </a:t>
            </a:r>
            <a:r>
              <a:rPr lang="zh-CN" altLang="en-US" sz="1600"/>
              <a:t>存入向量数据库（如</a:t>
            </a:r>
            <a:r>
              <a:rPr lang="en-US" altLang="zh-CN" sz="1600"/>
              <a:t> Pinecone, Milvus</a:t>
            </a:r>
            <a:r>
              <a:rPr lang="zh-CN" altLang="en-US" sz="1600"/>
              <a:t>）。这是目前最主流的外向化方式，允许</a:t>
            </a:r>
            <a:r>
              <a:rPr lang="en-US" altLang="zh-CN" sz="1600"/>
              <a:t> Agent </a:t>
            </a:r>
            <a:r>
              <a:rPr lang="zh-CN" altLang="en-US" sz="1600"/>
              <a:t>通过语义相似度找回</a:t>
            </a:r>
            <a:r>
              <a:rPr lang="en-US" altLang="zh-CN" sz="1600"/>
              <a:t>“</a:t>
            </a:r>
            <a:r>
              <a:rPr lang="zh-CN" altLang="en-US" sz="1600"/>
              <a:t>遗忘</a:t>
            </a:r>
            <a:r>
              <a:rPr lang="en-US" altLang="zh-CN" sz="1600"/>
              <a:t>”</a:t>
            </a:r>
            <a:r>
              <a:rPr lang="zh-CN" altLang="en-US" sz="1600"/>
              <a:t>的背景。</a:t>
            </a:r>
            <a:endParaRPr lang="zh-CN" altLang="en-US" sz="1600"/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altLang="zh-CN" sz="1600"/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zh-CN" altLang="en-US" sz="1600"/>
              <a:t>图谱存储（</a:t>
            </a:r>
            <a:r>
              <a:rPr lang="en-US" altLang="zh-CN" sz="1600"/>
              <a:t>Relational Memory</a:t>
            </a:r>
            <a:r>
              <a:rPr lang="zh-CN" altLang="en-US" sz="1600"/>
              <a:t>）：</a:t>
            </a:r>
            <a:r>
              <a:rPr lang="en-US" altLang="zh-CN" sz="1600"/>
              <a:t> </a:t>
            </a:r>
            <a:r>
              <a:rPr lang="zh-CN" altLang="en-US" sz="1600"/>
              <a:t>论文强调了知识图谱的作用。将记忆转化为实体和关系（如</a:t>
            </a:r>
            <a:r>
              <a:rPr lang="en-US" altLang="zh-CN" sz="1600"/>
              <a:t>“</a:t>
            </a:r>
            <a:r>
              <a:rPr lang="zh-CN" altLang="en-US" sz="1600"/>
              <a:t>张三</a:t>
            </a:r>
            <a:r>
              <a:rPr lang="en-US" altLang="zh-CN" sz="1600"/>
              <a:t>-</a:t>
            </a:r>
            <a:r>
              <a:rPr lang="zh-CN" altLang="en-US" sz="1600"/>
              <a:t>购买了</a:t>
            </a:r>
            <a:r>
              <a:rPr lang="en-US" altLang="zh-CN" sz="1600"/>
              <a:t>-</a:t>
            </a:r>
            <a:r>
              <a:rPr lang="zh-CN" altLang="en-US" sz="1600"/>
              <a:t>电脑</a:t>
            </a:r>
            <a:r>
              <a:rPr lang="en-US" altLang="zh-CN" sz="1600"/>
              <a:t>”</a:t>
            </a:r>
            <a:r>
              <a:rPr lang="zh-CN" altLang="en-US" sz="1600"/>
              <a:t>），能让</a:t>
            </a:r>
            <a:r>
              <a:rPr lang="en-US" altLang="zh-CN" sz="1600"/>
              <a:t> Agent </a:t>
            </a:r>
            <a:r>
              <a:rPr lang="zh-CN" altLang="en-US" sz="1600"/>
              <a:t>理解复杂的逻辑脉络，而非仅仅依靠语义模糊匹配。</a:t>
            </a:r>
            <a:endParaRPr lang="zh-CN" altLang="en-US" sz="1600"/>
          </a:p>
          <a:p>
            <a:pPr marL="742950" lvl="1" indent="-285750">
              <a:buFont typeface="Arial" panose="020B0604020202020204" pitchFamily="34" charset="0"/>
              <a:buChar char="•"/>
            </a:pPr>
            <a:endParaRPr lang="en-US" altLang="zh-CN" sz="160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altLang="zh-CN" sz="1600"/>
              <a:t>B. </a:t>
            </a:r>
            <a:r>
              <a:rPr lang="zh-CN" altLang="en-US" sz="1600"/>
              <a:t>读写机制（</a:t>
            </a:r>
            <a:r>
              <a:rPr lang="en-US" altLang="zh-CN" sz="1600"/>
              <a:t>Read/Write Mechanisms</a:t>
            </a:r>
            <a:r>
              <a:rPr lang="zh-CN" altLang="en-US" sz="1600"/>
              <a:t>）</a:t>
            </a:r>
            <a:endParaRPr lang="zh-CN" altLang="en-US" sz="1600"/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zh-CN" altLang="en-US" sz="1600"/>
              <a:t>选择性写入：</a:t>
            </a:r>
            <a:r>
              <a:rPr lang="en-US" altLang="zh-CN" sz="1600"/>
              <a:t> </a:t>
            </a:r>
            <a:r>
              <a:rPr lang="zh-CN" altLang="en-US" sz="1600"/>
              <a:t>并非所有对话都值得记住。外向化系统需要一套</a:t>
            </a:r>
            <a:r>
              <a:rPr lang="en-US" altLang="zh-CN" sz="1600"/>
              <a:t>“</a:t>
            </a:r>
            <a:r>
              <a:rPr lang="zh-CN" altLang="en-US" sz="1600"/>
              <a:t>过滤器</a:t>
            </a:r>
            <a:r>
              <a:rPr lang="en-US" altLang="zh-CN" sz="1600"/>
              <a:t>”</a:t>
            </a:r>
            <a:r>
              <a:rPr lang="zh-CN" altLang="en-US" sz="1600"/>
              <a:t>，识别哪些是核心事实、哪些是暂时噪音，从而保持外部记忆的纯净度。</a:t>
            </a:r>
            <a:endParaRPr lang="en-US" altLang="zh-CN" sz="1600"/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zh-CN" altLang="en-US" sz="1600"/>
              <a:t>多级检索（</a:t>
            </a:r>
            <a:r>
              <a:rPr lang="en-US" altLang="zh-CN" sz="1600"/>
              <a:t>Multi-hop Retrieval</a:t>
            </a:r>
            <a:r>
              <a:rPr lang="zh-CN" altLang="en-US" sz="1600"/>
              <a:t>）：</a:t>
            </a:r>
            <a:r>
              <a:rPr lang="en-US" altLang="zh-CN" sz="1600"/>
              <a:t> Agent </a:t>
            </a:r>
            <a:r>
              <a:rPr lang="zh-CN" altLang="en-US" sz="1600"/>
              <a:t>不再是一次性读取所有信息，而是根据当前需求，从外部记忆中进行多轮、深度的检索。</a:t>
            </a:r>
            <a:endParaRPr lang="zh-CN" altLang="en-US" sz="1600"/>
          </a:p>
          <a:p>
            <a:pPr marL="742950" lvl="1" indent="-285750">
              <a:buFont typeface="Arial" panose="020B0604020202020204" pitchFamily="34" charset="0"/>
              <a:buChar char="•"/>
            </a:pPr>
            <a:endParaRPr lang="en-US" altLang="zh-CN" sz="160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altLang="zh-CN" sz="1600"/>
              <a:t>C. </a:t>
            </a:r>
            <a:r>
              <a:rPr lang="zh-CN" altLang="en-US" sz="1600"/>
              <a:t>记忆更新与遗忘机制（</a:t>
            </a:r>
            <a:r>
              <a:rPr lang="en-US" altLang="zh-CN" sz="1600"/>
              <a:t>Consolidation &amp; Forgetting</a:t>
            </a:r>
            <a:r>
              <a:rPr lang="zh-CN" altLang="en-US" sz="1600"/>
              <a:t>）</a:t>
            </a:r>
            <a:endParaRPr lang="zh-CN" altLang="en-US" sz="1600"/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zh-CN" altLang="en-US" sz="1600"/>
              <a:t>记忆合并：</a:t>
            </a:r>
            <a:r>
              <a:rPr lang="en-US" altLang="zh-CN" sz="1600"/>
              <a:t> </a:t>
            </a:r>
            <a:r>
              <a:rPr lang="zh-CN" altLang="en-US" sz="1600"/>
              <a:t>模仿人类睡眠时的记忆巩固，将零散的短期对话总结成长期经验。</a:t>
            </a:r>
            <a:endParaRPr lang="zh-CN" altLang="en-US" sz="1600"/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altLang="zh-CN" sz="1600"/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zh-CN" altLang="en-US" sz="1600"/>
              <a:t>过期清理：</a:t>
            </a:r>
            <a:r>
              <a:rPr lang="en-US" altLang="zh-CN" sz="1600"/>
              <a:t> </a:t>
            </a:r>
            <a:r>
              <a:rPr lang="zh-CN" altLang="en-US" sz="1600"/>
              <a:t>论文提出，外向化工程必须处理</a:t>
            </a:r>
            <a:r>
              <a:rPr lang="en-US" altLang="zh-CN" sz="1600"/>
              <a:t>“</a:t>
            </a:r>
            <a:r>
              <a:rPr lang="zh-CN" altLang="en-US" sz="1600"/>
              <a:t>陈旧信息</a:t>
            </a:r>
            <a:r>
              <a:rPr lang="en-US" altLang="zh-CN" sz="1600"/>
              <a:t>”</a:t>
            </a:r>
            <a:r>
              <a:rPr lang="zh-CN" altLang="en-US" sz="1600"/>
              <a:t>。当用户意图改变或事实更新时，系统需要能够主动删除或修正外部数据库中的错误记忆。</a:t>
            </a:r>
            <a:endParaRPr lang="zh-CN" altLang="en-US" sz="1600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0"/>
    </mc:Choice>
    <mc:Fallback>
      <p:transition/>
    </mc:Fallback>
  </mc:AlternateContent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grpSp>
        <p:nvGrpSpPr>
          <p:cNvPr id="2" name="组合 1"/>
          <p:cNvGrpSpPr/>
          <p:nvPr/>
        </p:nvGrpSpPr>
        <p:grpSpPr>
          <a:xfrm>
            <a:off x="-1386840" y="62865"/>
            <a:ext cx="8120380" cy="1326515"/>
            <a:chOff x="-2184" y="-721"/>
            <a:chExt cx="12788" cy="2089"/>
          </a:xfrm>
        </p:grpSpPr>
        <p:sp>
          <p:nvSpPr>
            <p:cNvPr id="3" name="TextBox 8"/>
            <p:cNvSpPr txBox="1"/>
            <p:nvPr/>
          </p:nvSpPr>
          <p:spPr>
            <a:xfrm>
              <a:off x="-2184" y="-721"/>
              <a:ext cx="12788" cy="1598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p>
              <a:pPr algn="ctr"/>
              <a:r>
                <a:rPr lang="en-US" sz="6000" b="1" spc="600" dirty="0" smtClean="0">
                  <a:solidFill>
                    <a:schemeClr val="bg1">
                      <a:lumMod val="95000"/>
                    </a:schemeClr>
                  </a:solidFill>
                  <a:latin typeface="庞门正道标题体" panose="02010600030101010101" charset="-122"/>
                  <a:ea typeface="庞门正道标题体" panose="02010600030101010101" charset="-122"/>
                  <a:cs typeface="Montserrat" panose="00000500000000000000" pitchFamily="50" charset="0"/>
                </a:rPr>
                <a:t>MINIMALIST</a:t>
              </a:r>
              <a:endParaRPr lang="en-US" sz="6000" b="1" spc="600" dirty="0" smtClean="0">
                <a:solidFill>
                  <a:schemeClr val="bg1">
                    <a:lumMod val="95000"/>
                  </a:schemeClr>
                </a:solidFill>
                <a:latin typeface="庞门正道标题体" panose="02010600030101010101" charset="-122"/>
                <a:ea typeface="庞门正道标题体" panose="02010600030101010101" charset="-122"/>
                <a:cs typeface="Montserrat" panose="00000500000000000000" pitchFamily="50" charset="0"/>
              </a:endParaRPr>
            </a:p>
          </p:txBody>
        </p:sp>
        <p:sp>
          <p:nvSpPr>
            <p:cNvPr id="24" name="TextBox 9"/>
            <p:cNvSpPr txBox="1"/>
            <p:nvPr/>
          </p:nvSpPr>
          <p:spPr>
            <a:xfrm>
              <a:off x="-1247" y="-166"/>
              <a:ext cx="10932" cy="130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p>
              <a:pPr algn="ctr"/>
              <a:r>
                <a:rPr lang="zh-CN" altLang="en-US" sz="4800" b="1" spc="600" dirty="0" smtClean="0">
                  <a:latin typeface="方正明尚简体" panose="02000000000000000000" charset="-122"/>
                  <a:ea typeface="方正明尚简体" panose="02000000000000000000" charset="-122"/>
                  <a:cs typeface="Montserrat" panose="00000500000000000000" pitchFamily="50" charset="0"/>
                  <a:sym typeface="+mn-ea"/>
                </a:rPr>
                <a:t>三大核心</a:t>
              </a:r>
              <a:r>
                <a:rPr lang="zh-CN" altLang="en-US" sz="4800" b="1" spc="600" dirty="0" smtClean="0">
                  <a:latin typeface="方正明尚简体" panose="02000000000000000000" charset="-122"/>
                  <a:ea typeface="方正明尚简体" panose="02000000000000000000" charset="-122"/>
                  <a:cs typeface="Montserrat" panose="00000500000000000000" pitchFamily="50" charset="0"/>
                  <a:sym typeface="+mn-ea"/>
                </a:rPr>
                <a:t>组成</a:t>
              </a:r>
              <a:endParaRPr lang="zh-CN" altLang="en-US" sz="4800" b="1" spc="600" dirty="0" smtClean="0">
                <a:latin typeface="方正明尚简体" panose="02000000000000000000" charset="-122"/>
                <a:ea typeface="方正明尚简体" panose="02000000000000000000" charset="-122"/>
                <a:cs typeface="Montserrat" panose="00000500000000000000" pitchFamily="50" charset="0"/>
                <a:sym typeface="+mn-ea"/>
              </a:endParaRPr>
            </a:p>
          </p:txBody>
        </p:sp>
        <p:sp>
          <p:nvSpPr>
            <p:cNvPr id="25" name="TextBox 12"/>
            <p:cNvSpPr txBox="1"/>
            <p:nvPr/>
          </p:nvSpPr>
          <p:spPr>
            <a:xfrm>
              <a:off x="291" y="799"/>
              <a:ext cx="7856" cy="56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p>
              <a:pPr algn="ctr">
                <a:lnSpc>
                  <a:spcPct val="150000"/>
                </a:lnSpc>
              </a:pPr>
              <a:endParaRPr lang="en-US" baseline="-25000" dirty="0" smtClean="0">
                <a:latin typeface="Dotum" panose="020B0600000101010101" charset="-127"/>
                <a:ea typeface="Dotum" panose="020B0600000101010101" charset="-127"/>
                <a:cs typeface="+mj-lt"/>
              </a:endParaRPr>
            </a:p>
          </p:txBody>
        </p:sp>
      </p:grpSp>
      <p:sp>
        <p:nvSpPr>
          <p:cNvPr id="14" name="文本框 13"/>
          <p:cNvSpPr txBox="1"/>
          <p:nvPr/>
        </p:nvSpPr>
        <p:spPr>
          <a:xfrm>
            <a:off x="356235" y="1245235"/>
            <a:ext cx="10289540" cy="33718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1600" b="1"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  <a:sym typeface="+mn-ea"/>
              </a:rPr>
              <a:t>C</a:t>
            </a:r>
            <a:r>
              <a:rPr lang="en-US" altLang="zh-CN" sz="1600" b="1"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</a:rPr>
              <a:t>. </a:t>
            </a:r>
            <a:r>
              <a:rPr lang="zh-CN" altLang="en-US" sz="1600" b="1"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</a:rPr>
              <a:t>协议外向化</a:t>
            </a:r>
            <a:r>
              <a:rPr lang="en-US" altLang="zh-CN" sz="1600" b="1"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</a:rPr>
              <a:t>(Protocols)</a:t>
            </a:r>
            <a:endParaRPr lang="en-US" altLang="zh-CN" sz="1600" b="1">
              <a:latin typeface="黑体" panose="02010609060101010101" charset="-122"/>
              <a:ea typeface="黑体" panose="02010609060101010101" charset="-122"/>
              <a:cs typeface="黑体" panose="02010609060101010101" charset="-122"/>
            </a:endParaRPr>
          </a:p>
        </p:txBody>
      </p:sp>
      <p:sp>
        <p:nvSpPr>
          <p:cNvPr id="4" name="文本框 3"/>
          <p:cNvSpPr txBox="1"/>
          <p:nvPr/>
        </p:nvSpPr>
        <p:spPr>
          <a:xfrm>
            <a:off x="683895" y="1637030"/>
            <a:ext cx="9634220" cy="33718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zh-CN" altLang="en-US" sz="1600" b="1"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</a:rPr>
              <a:t>四个关键</a:t>
            </a:r>
            <a:r>
              <a:rPr lang="zh-CN" altLang="en-US" sz="1600" b="1"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</a:rPr>
              <a:t>维度</a:t>
            </a:r>
            <a:endParaRPr lang="zh-CN" altLang="en-US" sz="1600" b="1">
              <a:latin typeface="黑体" panose="02010609060101010101" charset="-122"/>
              <a:ea typeface="黑体" panose="02010609060101010101" charset="-122"/>
              <a:cs typeface="黑体" panose="02010609060101010101" charset="-122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1081405" y="2075180"/>
            <a:ext cx="11492865" cy="224536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pPr indent="457200">
              <a:buFont typeface="Arial" panose="020B0604020202020204" pitchFamily="34" charset="0"/>
              <a:buNone/>
            </a:pPr>
            <a:r>
              <a:rPr lang="en-US" altLang="zh-CN" sz="2000"/>
              <a:t>1. </a:t>
            </a:r>
            <a:r>
              <a:rPr lang="zh-CN" altLang="en-US" sz="2000"/>
              <a:t>交互格式的外向化</a:t>
            </a:r>
            <a:r>
              <a:rPr lang="en-US" altLang="zh-CN" sz="2000"/>
              <a:t> (Structured Outputs &amp; Schemas)</a:t>
            </a:r>
            <a:endParaRPr lang="en-US" altLang="zh-CN" sz="2000"/>
          </a:p>
          <a:p>
            <a:pPr indent="457200">
              <a:buFont typeface="Arial" panose="020B0604020202020204" pitchFamily="34" charset="0"/>
              <a:buNone/>
            </a:pPr>
            <a:endParaRPr lang="en-US" altLang="zh-CN" sz="2000"/>
          </a:p>
          <a:p>
            <a:pPr indent="457200">
              <a:buFont typeface="Arial" panose="020B0604020202020204" pitchFamily="34" charset="0"/>
              <a:buNone/>
            </a:pPr>
            <a:r>
              <a:rPr lang="en-US" altLang="zh-CN" sz="2000"/>
              <a:t>2. </a:t>
            </a:r>
            <a:r>
              <a:rPr lang="zh-CN" altLang="en-US" sz="2000"/>
              <a:t>智能体间通信的标准化</a:t>
            </a:r>
            <a:r>
              <a:rPr lang="en-US" altLang="zh-CN" sz="2000"/>
              <a:t> (Agent-to-Agent Handshake Protocols)</a:t>
            </a:r>
            <a:endParaRPr lang="en-US" altLang="zh-CN" sz="2000"/>
          </a:p>
          <a:p>
            <a:pPr indent="457200">
              <a:buFont typeface="Arial" panose="020B0604020202020204" pitchFamily="34" charset="0"/>
              <a:buNone/>
            </a:pPr>
            <a:endParaRPr lang="en-US" altLang="zh-CN" sz="2000"/>
          </a:p>
          <a:p>
            <a:pPr indent="457200">
              <a:buFont typeface="Arial" panose="020B0604020202020204" pitchFamily="34" charset="0"/>
              <a:buNone/>
            </a:pPr>
            <a:r>
              <a:rPr lang="en-US" altLang="zh-CN" sz="2000"/>
              <a:t>3. </a:t>
            </a:r>
            <a:r>
              <a:rPr lang="zh-CN" altLang="en-US" sz="2000"/>
              <a:t>边界与护栏的物理隔离</a:t>
            </a:r>
            <a:r>
              <a:rPr lang="en-US" altLang="zh-CN" sz="2000"/>
              <a:t> (Security &amp; Permission Protocols)</a:t>
            </a:r>
            <a:endParaRPr lang="en-US" altLang="zh-CN" sz="2000"/>
          </a:p>
          <a:p>
            <a:pPr indent="457200">
              <a:buFont typeface="Arial" panose="020B0604020202020204" pitchFamily="34" charset="0"/>
              <a:buNone/>
            </a:pPr>
            <a:endParaRPr lang="en-US" altLang="zh-CN" sz="2000"/>
          </a:p>
          <a:p>
            <a:pPr indent="457200">
              <a:buFont typeface="Arial" panose="020B0604020202020204" pitchFamily="34" charset="0"/>
              <a:buNone/>
            </a:pPr>
            <a:r>
              <a:rPr lang="en-US" altLang="zh-CN" sz="2000"/>
              <a:t>4. </a:t>
            </a:r>
            <a:r>
              <a:rPr lang="zh-CN" altLang="en-US" sz="2000"/>
              <a:t>异常处理与</a:t>
            </a:r>
            <a:r>
              <a:rPr lang="en-US" altLang="zh-CN" sz="2000"/>
              <a:t>“</a:t>
            </a:r>
            <a:r>
              <a:rPr lang="zh-CN" altLang="en-US" sz="2000"/>
              <a:t>呼叫人类</a:t>
            </a:r>
            <a:r>
              <a:rPr lang="en-US" altLang="zh-CN" sz="2000"/>
              <a:t>”</a:t>
            </a:r>
            <a:r>
              <a:rPr lang="zh-CN" altLang="en-US" sz="2000"/>
              <a:t>协议</a:t>
            </a:r>
            <a:r>
              <a:rPr lang="en-US" altLang="zh-CN" sz="2000"/>
              <a:t> (Human-in-the-Loop &amp; Fallback Protocols)</a:t>
            </a:r>
            <a:endParaRPr lang="en-US" altLang="zh-CN" sz="2000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0"/>
    </mc:Choice>
    <mc:Fallback>
      <p:transition/>
    </mc:Fallback>
  </mc:AlternateContent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grpSp>
        <p:nvGrpSpPr>
          <p:cNvPr id="2" name="组合 1"/>
          <p:cNvGrpSpPr/>
          <p:nvPr/>
        </p:nvGrpSpPr>
        <p:grpSpPr>
          <a:xfrm>
            <a:off x="-1386840" y="62865"/>
            <a:ext cx="8120380" cy="1326515"/>
            <a:chOff x="-2184" y="-721"/>
            <a:chExt cx="12788" cy="2089"/>
          </a:xfrm>
        </p:grpSpPr>
        <p:sp>
          <p:nvSpPr>
            <p:cNvPr id="3" name="TextBox 8"/>
            <p:cNvSpPr txBox="1"/>
            <p:nvPr/>
          </p:nvSpPr>
          <p:spPr>
            <a:xfrm>
              <a:off x="-2184" y="-721"/>
              <a:ext cx="12788" cy="1598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p>
              <a:pPr algn="ctr"/>
              <a:r>
                <a:rPr lang="en-US" sz="6000" b="1" spc="600" dirty="0" smtClean="0">
                  <a:solidFill>
                    <a:schemeClr val="bg1">
                      <a:lumMod val="95000"/>
                    </a:schemeClr>
                  </a:solidFill>
                  <a:latin typeface="庞门正道标题体" panose="02010600030101010101" charset="-122"/>
                  <a:ea typeface="庞门正道标题体" panose="02010600030101010101" charset="-122"/>
                  <a:cs typeface="Montserrat" panose="00000500000000000000" pitchFamily="50" charset="0"/>
                </a:rPr>
                <a:t>MINIMALIST</a:t>
              </a:r>
              <a:endParaRPr lang="en-US" sz="6000" b="1" spc="600" dirty="0" smtClean="0">
                <a:solidFill>
                  <a:schemeClr val="bg1">
                    <a:lumMod val="95000"/>
                  </a:schemeClr>
                </a:solidFill>
                <a:latin typeface="庞门正道标题体" panose="02010600030101010101" charset="-122"/>
                <a:ea typeface="庞门正道标题体" panose="02010600030101010101" charset="-122"/>
                <a:cs typeface="Montserrat" panose="00000500000000000000" pitchFamily="50" charset="0"/>
              </a:endParaRPr>
            </a:p>
          </p:txBody>
        </p:sp>
        <p:sp>
          <p:nvSpPr>
            <p:cNvPr id="24" name="TextBox 9"/>
            <p:cNvSpPr txBox="1"/>
            <p:nvPr/>
          </p:nvSpPr>
          <p:spPr>
            <a:xfrm>
              <a:off x="-1247" y="-166"/>
              <a:ext cx="10932" cy="130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p>
              <a:pPr algn="ctr"/>
              <a:r>
                <a:rPr lang="zh-CN" altLang="en-US" sz="4800" b="1" spc="600" dirty="0" smtClean="0">
                  <a:latin typeface="方正明尚简体" panose="02000000000000000000" charset="-122"/>
                  <a:ea typeface="方正明尚简体" panose="02000000000000000000" charset="-122"/>
                  <a:cs typeface="Montserrat" panose="00000500000000000000" pitchFamily="50" charset="0"/>
                  <a:sym typeface="+mn-ea"/>
                </a:rPr>
                <a:t>三大核心</a:t>
              </a:r>
              <a:r>
                <a:rPr lang="zh-CN" altLang="en-US" sz="4800" b="1" spc="600" dirty="0" smtClean="0">
                  <a:latin typeface="方正明尚简体" panose="02000000000000000000" charset="-122"/>
                  <a:ea typeface="方正明尚简体" panose="02000000000000000000" charset="-122"/>
                  <a:cs typeface="Montserrat" panose="00000500000000000000" pitchFamily="50" charset="0"/>
                  <a:sym typeface="+mn-ea"/>
                </a:rPr>
                <a:t>组成</a:t>
              </a:r>
              <a:endParaRPr lang="zh-CN" altLang="en-US" sz="4800" b="1" spc="600" dirty="0" smtClean="0">
                <a:latin typeface="方正明尚简体" panose="02000000000000000000" charset="-122"/>
                <a:ea typeface="方正明尚简体" panose="02000000000000000000" charset="-122"/>
                <a:cs typeface="Montserrat" panose="00000500000000000000" pitchFamily="50" charset="0"/>
                <a:sym typeface="+mn-ea"/>
              </a:endParaRPr>
            </a:p>
          </p:txBody>
        </p:sp>
        <p:sp>
          <p:nvSpPr>
            <p:cNvPr id="25" name="TextBox 12"/>
            <p:cNvSpPr txBox="1"/>
            <p:nvPr/>
          </p:nvSpPr>
          <p:spPr>
            <a:xfrm>
              <a:off x="291" y="799"/>
              <a:ext cx="7856" cy="56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p>
              <a:pPr algn="ctr">
                <a:lnSpc>
                  <a:spcPct val="150000"/>
                </a:lnSpc>
              </a:pPr>
              <a:endParaRPr lang="en-US" baseline="-25000" dirty="0" smtClean="0">
                <a:latin typeface="Dotum" panose="020B0600000101010101" charset="-127"/>
                <a:ea typeface="Dotum" panose="020B0600000101010101" charset="-127"/>
                <a:cs typeface="+mj-lt"/>
              </a:endParaRPr>
            </a:p>
          </p:txBody>
        </p:sp>
      </p:grpSp>
      <p:sp>
        <p:nvSpPr>
          <p:cNvPr id="14" name="文本框 13"/>
          <p:cNvSpPr txBox="1"/>
          <p:nvPr/>
        </p:nvSpPr>
        <p:spPr>
          <a:xfrm>
            <a:off x="356235" y="1245235"/>
            <a:ext cx="10289540" cy="33718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1600" b="1"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  <a:sym typeface="+mn-ea"/>
              </a:rPr>
              <a:t>C</a:t>
            </a:r>
            <a:r>
              <a:rPr lang="en-US" altLang="zh-CN" sz="1600" b="1"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</a:rPr>
              <a:t>. </a:t>
            </a:r>
            <a:r>
              <a:rPr lang="zh-CN" altLang="en-US" sz="1600" b="1"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</a:rPr>
              <a:t>协议外向化</a:t>
            </a:r>
            <a:r>
              <a:rPr lang="en-US" altLang="zh-CN" sz="1600" b="1"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</a:rPr>
              <a:t>(Protocols)</a:t>
            </a:r>
            <a:endParaRPr lang="en-US" altLang="zh-CN" sz="1600" b="1">
              <a:latin typeface="黑体" panose="02010609060101010101" charset="-122"/>
              <a:ea typeface="黑体" panose="02010609060101010101" charset="-122"/>
              <a:cs typeface="黑体" panose="02010609060101010101" charset="-122"/>
            </a:endParaRPr>
          </a:p>
        </p:txBody>
      </p:sp>
      <p:sp>
        <p:nvSpPr>
          <p:cNvPr id="4" name="文本框 3"/>
          <p:cNvSpPr txBox="1"/>
          <p:nvPr/>
        </p:nvSpPr>
        <p:spPr>
          <a:xfrm>
            <a:off x="683895" y="1637030"/>
            <a:ext cx="9634220" cy="33718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zh-CN" altLang="en-US" sz="1600" b="1"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</a:rPr>
              <a:t>四个关键</a:t>
            </a:r>
            <a:r>
              <a:rPr lang="zh-CN" altLang="en-US" sz="1600" b="1"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</a:rPr>
              <a:t>维度</a:t>
            </a:r>
            <a:endParaRPr lang="zh-CN" altLang="en-US" sz="1600" b="1">
              <a:latin typeface="黑体" panose="02010609060101010101" charset="-122"/>
              <a:ea typeface="黑体" panose="02010609060101010101" charset="-122"/>
              <a:cs typeface="黑体" panose="02010609060101010101" charset="-122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1081405" y="2075180"/>
            <a:ext cx="10449560" cy="347662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pPr indent="457200">
              <a:buFont typeface="Arial" panose="020B0604020202020204" pitchFamily="34" charset="0"/>
              <a:buNone/>
            </a:pPr>
            <a:r>
              <a:rPr lang="en-US" altLang="zh-CN" sz="2000"/>
              <a:t>1. </a:t>
            </a:r>
            <a:r>
              <a:rPr lang="zh-CN" altLang="en-US" sz="2000"/>
              <a:t>交互格式的外向化</a:t>
            </a:r>
            <a:r>
              <a:rPr lang="en-US" altLang="zh-CN" sz="2000"/>
              <a:t> (Structured Outputs &amp; Schemas)</a:t>
            </a:r>
            <a:endParaRPr lang="en-US" altLang="zh-CN" sz="2000"/>
          </a:p>
          <a:p>
            <a:pPr indent="457200">
              <a:buFont typeface="Arial" panose="020B0604020202020204" pitchFamily="34" charset="0"/>
              <a:buNone/>
            </a:pPr>
            <a:endParaRPr lang="en-US" altLang="zh-CN" sz="2000"/>
          </a:p>
          <a:p>
            <a:pPr marL="1257300" lvl="2" indent="-342900">
              <a:buFont typeface="Arial" panose="020B0604020202020204" pitchFamily="34" charset="0"/>
              <a:buChar char="•"/>
            </a:pPr>
            <a:r>
              <a:rPr lang="en-US" altLang="zh-CN" sz="2000"/>
              <a:t>Prompt </a:t>
            </a:r>
            <a:r>
              <a:rPr lang="zh-CN" altLang="en-US" sz="2000"/>
              <a:t>时代的做法（内向化）：在系统提示词里苦口婆心地写：</a:t>
            </a:r>
            <a:r>
              <a:rPr lang="en-US" altLang="zh-CN" sz="2000"/>
              <a:t>“</a:t>
            </a:r>
            <a:r>
              <a:rPr lang="zh-CN" altLang="en-US" sz="2000"/>
              <a:t>请输出一个包含</a:t>
            </a:r>
            <a:r>
              <a:rPr lang="en-US" altLang="zh-CN" sz="2000"/>
              <a:t> 'name' </a:t>
            </a:r>
            <a:r>
              <a:rPr lang="zh-CN" altLang="en-US" sz="2000"/>
              <a:t>和</a:t>
            </a:r>
            <a:r>
              <a:rPr lang="en-US" altLang="zh-CN" sz="2000"/>
              <a:t> 'age' </a:t>
            </a:r>
            <a:r>
              <a:rPr lang="zh-CN" altLang="en-US" sz="2000"/>
              <a:t>字段的</a:t>
            </a:r>
            <a:r>
              <a:rPr lang="en-US" altLang="zh-CN" sz="2000"/>
              <a:t> JSON</a:t>
            </a:r>
            <a:r>
              <a:rPr lang="zh-CN" altLang="en-US" sz="2000"/>
              <a:t>，千万不要输出多余的思考过程，千万不要漏掉逗号。</a:t>
            </a:r>
            <a:r>
              <a:rPr lang="en-US" altLang="zh-CN" sz="2000"/>
              <a:t>” </a:t>
            </a:r>
            <a:r>
              <a:rPr lang="zh-CN" altLang="en-US" sz="2000"/>
              <a:t>结果模型偶尔还是会发疯，输出一句</a:t>
            </a:r>
            <a:r>
              <a:rPr lang="en-US" altLang="zh-CN" sz="2000"/>
              <a:t>“</a:t>
            </a:r>
            <a:r>
              <a:rPr lang="zh-CN" altLang="en-US" sz="2000"/>
              <a:t>好的，这是你的</a:t>
            </a:r>
            <a:r>
              <a:rPr lang="en-US" altLang="zh-CN" sz="2000"/>
              <a:t> JSON</a:t>
            </a:r>
            <a:r>
              <a:rPr lang="zh-CN" altLang="en-US" sz="2000"/>
              <a:t>：</a:t>
            </a:r>
            <a:r>
              <a:rPr lang="en-US" altLang="zh-CN" sz="2000"/>
              <a:t>...”</a:t>
            </a:r>
            <a:r>
              <a:rPr lang="zh-CN" altLang="en-US" sz="2000"/>
              <a:t>。</a:t>
            </a:r>
            <a:endParaRPr lang="zh-CN" altLang="en-US" sz="2000"/>
          </a:p>
          <a:p>
            <a:pPr indent="457200">
              <a:buFont typeface="Arial" panose="020B0604020202020204" pitchFamily="34" charset="0"/>
              <a:buNone/>
            </a:pPr>
            <a:endParaRPr lang="en-US" altLang="zh-CN" sz="2000"/>
          </a:p>
          <a:p>
            <a:pPr marL="1257300" lvl="2" indent="-342900">
              <a:buFont typeface="Arial" panose="020B0604020202020204" pitchFamily="34" charset="0"/>
              <a:buChar char="•"/>
            </a:pPr>
            <a:r>
              <a:rPr lang="en-US" altLang="zh-CN" sz="2000"/>
              <a:t>Harness </a:t>
            </a:r>
            <a:r>
              <a:rPr lang="zh-CN" altLang="en-US" sz="2000"/>
              <a:t>时代的做法（协议外向化）：完全剥夺模型自由输出的权力。</a:t>
            </a:r>
            <a:r>
              <a:rPr lang="en-US" altLang="zh-CN" sz="2000"/>
              <a:t>Harness Engineer </a:t>
            </a:r>
            <a:r>
              <a:rPr lang="zh-CN" altLang="en-US" sz="2000"/>
              <a:t>会在</a:t>
            </a:r>
            <a:r>
              <a:rPr lang="en-US" altLang="zh-CN" sz="2000"/>
              <a:t> API </a:t>
            </a:r>
            <a:r>
              <a:rPr lang="zh-CN" altLang="en-US" sz="2000"/>
              <a:t>层面定义严格的</a:t>
            </a:r>
            <a:r>
              <a:rPr lang="en-US" altLang="zh-CN" sz="2000"/>
              <a:t> JSON Schema </a:t>
            </a:r>
            <a:r>
              <a:rPr lang="zh-CN" altLang="en-US" sz="2000"/>
              <a:t>或使用</a:t>
            </a:r>
            <a:r>
              <a:rPr lang="en-US" altLang="zh-CN" sz="2000"/>
              <a:t> Tool Call</a:t>
            </a:r>
            <a:r>
              <a:rPr lang="zh-CN" altLang="en-US" sz="2000"/>
              <a:t>（工具调用）协议。规则不在</a:t>
            </a:r>
            <a:r>
              <a:rPr lang="en-US" altLang="zh-CN" sz="2000"/>
              <a:t> Prompt </a:t>
            </a:r>
            <a:r>
              <a:rPr lang="zh-CN" altLang="en-US" sz="2000"/>
              <a:t>里，而在接口协议里。如果模型输出不符合</a:t>
            </a:r>
            <a:r>
              <a:rPr lang="en-US" altLang="zh-CN" sz="2000"/>
              <a:t> Schema</a:t>
            </a:r>
            <a:r>
              <a:rPr lang="zh-CN" altLang="en-US" sz="2000"/>
              <a:t>，</a:t>
            </a:r>
            <a:r>
              <a:rPr lang="en-US" altLang="zh-CN" sz="2000"/>
              <a:t>Harness </a:t>
            </a:r>
            <a:r>
              <a:rPr lang="zh-CN" altLang="en-US" sz="2000"/>
              <a:t>的拦截器（</a:t>
            </a:r>
            <a:r>
              <a:rPr lang="en-US" altLang="zh-CN" sz="2000"/>
              <a:t>Interceptor</a:t>
            </a:r>
            <a:r>
              <a:rPr lang="zh-CN" altLang="en-US" sz="2000"/>
              <a:t>）会在毫秒级直接阻断，抛出验证错误（</a:t>
            </a:r>
            <a:r>
              <a:rPr lang="en-US" altLang="zh-CN" sz="2000"/>
              <a:t>Validation Error</a:t>
            </a:r>
            <a:r>
              <a:rPr lang="zh-CN" altLang="en-US" sz="2000"/>
              <a:t>）并自动打回重做，整个过程人类完全无感。</a:t>
            </a:r>
            <a:endParaRPr lang="zh-CN" altLang="en-US" sz="2000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0"/>
    </mc:Choice>
    <mc:Fallback>
      <p:transition/>
    </mc:Fallback>
  </mc:AlternateContent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grpSp>
        <p:nvGrpSpPr>
          <p:cNvPr id="2" name="组合 1"/>
          <p:cNvGrpSpPr/>
          <p:nvPr/>
        </p:nvGrpSpPr>
        <p:grpSpPr>
          <a:xfrm>
            <a:off x="-1386840" y="62865"/>
            <a:ext cx="8120380" cy="1326515"/>
            <a:chOff x="-2184" y="-721"/>
            <a:chExt cx="12788" cy="2089"/>
          </a:xfrm>
        </p:grpSpPr>
        <p:sp>
          <p:nvSpPr>
            <p:cNvPr id="3" name="TextBox 8"/>
            <p:cNvSpPr txBox="1"/>
            <p:nvPr/>
          </p:nvSpPr>
          <p:spPr>
            <a:xfrm>
              <a:off x="-2184" y="-721"/>
              <a:ext cx="12788" cy="1598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p>
              <a:pPr algn="ctr"/>
              <a:r>
                <a:rPr lang="en-US" sz="6000" b="1" spc="600" dirty="0" smtClean="0">
                  <a:solidFill>
                    <a:schemeClr val="bg1">
                      <a:lumMod val="95000"/>
                    </a:schemeClr>
                  </a:solidFill>
                  <a:latin typeface="庞门正道标题体" panose="02010600030101010101" charset="-122"/>
                  <a:ea typeface="庞门正道标题体" panose="02010600030101010101" charset="-122"/>
                  <a:cs typeface="Montserrat" panose="00000500000000000000" pitchFamily="50" charset="0"/>
                </a:rPr>
                <a:t>MINIMALIST</a:t>
              </a:r>
              <a:endParaRPr lang="en-US" sz="6000" b="1" spc="600" dirty="0" smtClean="0">
                <a:solidFill>
                  <a:schemeClr val="bg1">
                    <a:lumMod val="95000"/>
                  </a:schemeClr>
                </a:solidFill>
                <a:latin typeface="庞门正道标题体" panose="02010600030101010101" charset="-122"/>
                <a:ea typeface="庞门正道标题体" panose="02010600030101010101" charset="-122"/>
                <a:cs typeface="Montserrat" panose="00000500000000000000" pitchFamily="50" charset="0"/>
              </a:endParaRPr>
            </a:p>
          </p:txBody>
        </p:sp>
        <p:sp>
          <p:nvSpPr>
            <p:cNvPr id="24" name="TextBox 9"/>
            <p:cNvSpPr txBox="1"/>
            <p:nvPr/>
          </p:nvSpPr>
          <p:spPr>
            <a:xfrm>
              <a:off x="-1247" y="-166"/>
              <a:ext cx="10932" cy="130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p>
              <a:pPr algn="ctr"/>
              <a:r>
                <a:rPr lang="zh-CN" altLang="en-US" sz="4800" b="1" spc="600" dirty="0" smtClean="0">
                  <a:latin typeface="方正明尚简体" panose="02000000000000000000" charset="-122"/>
                  <a:ea typeface="方正明尚简体" panose="02000000000000000000" charset="-122"/>
                  <a:cs typeface="Montserrat" panose="00000500000000000000" pitchFamily="50" charset="0"/>
                  <a:sym typeface="+mn-ea"/>
                </a:rPr>
                <a:t>三大核心</a:t>
              </a:r>
              <a:r>
                <a:rPr lang="zh-CN" altLang="en-US" sz="4800" b="1" spc="600" dirty="0" smtClean="0">
                  <a:latin typeface="方正明尚简体" panose="02000000000000000000" charset="-122"/>
                  <a:ea typeface="方正明尚简体" panose="02000000000000000000" charset="-122"/>
                  <a:cs typeface="Montserrat" panose="00000500000000000000" pitchFamily="50" charset="0"/>
                  <a:sym typeface="+mn-ea"/>
                </a:rPr>
                <a:t>组成</a:t>
              </a:r>
              <a:endParaRPr lang="zh-CN" altLang="en-US" sz="4800" b="1" spc="600" dirty="0" smtClean="0">
                <a:latin typeface="方正明尚简体" panose="02000000000000000000" charset="-122"/>
                <a:ea typeface="方正明尚简体" panose="02000000000000000000" charset="-122"/>
                <a:cs typeface="Montserrat" panose="00000500000000000000" pitchFamily="50" charset="0"/>
                <a:sym typeface="+mn-ea"/>
              </a:endParaRPr>
            </a:p>
          </p:txBody>
        </p:sp>
        <p:sp>
          <p:nvSpPr>
            <p:cNvPr id="25" name="TextBox 12"/>
            <p:cNvSpPr txBox="1"/>
            <p:nvPr/>
          </p:nvSpPr>
          <p:spPr>
            <a:xfrm>
              <a:off x="291" y="799"/>
              <a:ext cx="7856" cy="56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p>
              <a:pPr algn="ctr">
                <a:lnSpc>
                  <a:spcPct val="150000"/>
                </a:lnSpc>
              </a:pPr>
              <a:endParaRPr lang="en-US" baseline="-25000" dirty="0" smtClean="0">
                <a:latin typeface="Dotum" panose="020B0600000101010101" charset="-127"/>
                <a:ea typeface="Dotum" panose="020B0600000101010101" charset="-127"/>
                <a:cs typeface="+mj-lt"/>
              </a:endParaRPr>
            </a:p>
          </p:txBody>
        </p:sp>
      </p:grpSp>
      <p:sp>
        <p:nvSpPr>
          <p:cNvPr id="14" name="文本框 13"/>
          <p:cNvSpPr txBox="1"/>
          <p:nvPr/>
        </p:nvSpPr>
        <p:spPr>
          <a:xfrm>
            <a:off x="356235" y="1245235"/>
            <a:ext cx="10289540" cy="33718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1600" b="1"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</a:rPr>
              <a:t>C. </a:t>
            </a:r>
            <a:r>
              <a:rPr lang="zh-CN" altLang="en-US" sz="1600" b="1"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</a:rPr>
              <a:t>协议外向化</a:t>
            </a:r>
            <a:r>
              <a:rPr lang="en-US" altLang="zh-CN" sz="1600" b="1"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</a:rPr>
              <a:t>(Protocols)</a:t>
            </a:r>
            <a:endParaRPr lang="en-US" altLang="zh-CN" sz="1600" b="1">
              <a:latin typeface="黑体" panose="02010609060101010101" charset="-122"/>
              <a:ea typeface="黑体" panose="02010609060101010101" charset="-122"/>
              <a:cs typeface="黑体" panose="02010609060101010101" charset="-122"/>
            </a:endParaRPr>
          </a:p>
        </p:txBody>
      </p:sp>
      <p:sp>
        <p:nvSpPr>
          <p:cNvPr id="4" name="文本框 3"/>
          <p:cNvSpPr txBox="1"/>
          <p:nvPr/>
        </p:nvSpPr>
        <p:spPr>
          <a:xfrm>
            <a:off x="683895" y="1637030"/>
            <a:ext cx="9634220" cy="33718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zh-CN" altLang="en-US" sz="1600" b="1"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</a:rPr>
              <a:t>四个关键</a:t>
            </a:r>
            <a:r>
              <a:rPr lang="zh-CN" altLang="en-US" sz="1600" b="1"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</a:rPr>
              <a:t>维度</a:t>
            </a:r>
            <a:endParaRPr lang="zh-CN" altLang="en-US" sz="1600" b="1">
              <a:latin typeface="黑体" panose="02010609060101010101" charset="-122"/>
              <a:ea typeface="黑体" panose="02010609060101010101" charset="-122"/>
              <a:cs typeface="黑体" panose="02010609060101010101" charset="-122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1081405" y="2075180"/>
            <a:ext cx="10449560" cy="347662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pPr indent="457200">
              <a:buFont typeface="Arial" panose="020B0604020202020204" pitchFamily="34" charset="0"/>
              <a:buNone/>
            </a:pPr>
            <a:r>
              <a:rPr lang="en-US" altLang="zh-CN" sz="2000">
                <a:sym typeface="+mn-ea"/>
              </a:rPr>
              <a:t>2. </a:t>
            </a:r>
            <a:r>
              <a:rPr lang="zh-CN" altLang="en-US" sz="2000">
                <a:sym typeface="+mn-ea"/>
              </a:rPr>
              <a:t>智能体间通信的标准化</a:t>
            </a:r>
            <a:r>
              <a:rPr lang="en-US" altLang="zh-CN" sz="2000">
                <a:sym typeface="+mn-ea"/>
              </a:rPr>
              <a:t> (Agent-to-Agent Handshake Protocols)</a:t>
            </a:r>
            <a:endParaRPr lang="en-US" altLang="zh-CN" sz="2000">
              <a:sym typeface="+mn-ea"/>
            </a:endParaRPr>
          </a:p>
          <a:p>
            <a:pPr indent="457200">
              <a:buFont typeface="Arial" panose="020B0604020202020204" pitchFamily="34" charset="0"/>
              <a:buNone/>
            </a:pPr>
            <a:endParaRPr lang="en-US" altLang="zh-CN" sz="2000">
              <a:sym typeface="+mn-ea"/>
            </a:endParaRPr>
          </a:p>
          <a:p>
            <a:pPr lvl="1" indent="457200">
              <a:buFont typeface="Arial" panose="020B0604020202020204" pitchFamily="34" charset="0"/>
              <a:buNone/>
            </a:pPr>
            <a:r>
              <a:rPr lang="zh-CN" altLang="en-US" sz="2000"/>
              <a:t>在多智能体（如</a:t>
            </a:r>
            <a:r>
              <a:rPr lang="en-US" altLang="zh-CN" sz="2000"/>
              <a:t> Planner-Generator-Evaluator</a:t>
            </a:r>
            <a:r>
              <a:rPr lang="zh-CN" altLang="en-US" sz="2000"/>
              <a:t>）协同的环境中，如果让它们用纯自然语言随意聊天，上下文很快就会变得混乱且不可控。</a:t>
            </a:r>
            <a:endParaRPr lang="zh-CN" altLang="en-US" sz="2000"/>
          </a:p>
          <a:p>
            <a:pPr lvl="1" indent="457200">
              <a:buFont typeface="Arial" panose="020B0604020202020204" pitchFamily="34" charset="0"/>
              <a:buNone/>
            </a:pPr>
            <a:endParaRPr lang="en-US" altLang="zh-CN" sz="2000"/>
          </a:p>
          <a:p>
            <a:pPr lvl="1" indent="457200">
              <a:buFont typeface="Arial" panose="020B0604020202020204" pitchFamily="34" charset="0"/>
              <a:buNone/>
            </a:pPr>
            <a:r>
              <a:rPr lang="zh-CN" altLang="en-US" sz="2000"/>
              <a:t>协议外向化意味着为智能体之间的交流制定</a:t>
            </a:r>
            <a:r>
              <a:rPr lang="en-US" altLang="zh-CN" sz="2000"/>
              <a:t>“</a:t>
            </a:r>
            <a:r>
              <a:rPr lang="zh-CN" altLang="en-US" sz="2000"/>
              <a:t>外交协议</a:t>
            </a:r>
            <a:r>
              <a:rPr lang="en-US" altLang="zh-CN" sz="2000"/>
              <a:t>”</a:t>
            </a:r>
            <a:r>
              <a:rPr lang="zh-CN" altLang="en-US" sz="2000"/>
              <a:t>。</a:t>
            </a:r>
            <a:endParaRPr lang="zh-CN" altLang="en-US" sz="2000"/>
          </a:p>
          <a:p>
            <a:pPr lvl="1" indent="457200">
              <a:buFont typeface="Arial" panose="020B0604020202020204" pitchFamily="34" charset="0"/>
              <a:buNone/>
            </a:pPr>
            <a:endParaRPr lang="en-US" altLang="zh-CN" sz="2000"/>
          </a:p>
          <a:p>
            <a:pPr lvl="1" indent="457200">
              <a:buFont typeface="Arial" panose="020B0604020202020204" pitchFamily="34" charset="0"/>
              <a:buNone/>
            </a:pPr>
            <a:r>
              <a:rPr lang="zh-CN" altLang="en-US" sz="2000"/>
              <a:t>例如，</a:t>
            </a:r>
            <a:r>
              <a:rPr lang="en-US" altLang="zh-CN" sz="2000"/>
              <a:t>Planner </a:t>
            </a:r>
            <a:r>
              <a:rPr lang="zh-CN" altLang="en-US" sz="2000"/>
              <a:t>交给</a:t>
            </a:r>
            <a:r>
              <a:rPr lang="en-US" altLang="zh-CN" sz="2000"/>
              <a:t> Generator </a:t>
            </a:r>
            <a:r>
              <a:rPr lang="zh-CN" altLang="en-US" sz="2000"/>
              <a:t>的不能是一段长篇大论，而必须是符合特定结构的</a:t>
            </a:r>
            <a:r>
              <a:rPr lang="en-US" altLang="zh-CN" sz="2000"/>
              <a:t> XML </a:t>
            </a:r>
            <a:r>
              <a:rPr lang="zh-CN" altLang="en-US" sz="2000"/>
              <a:t>或</a:t>
            </a:r>
            <a:r>
              <a:rPr lang="en-US" altLang="zh-CN" sz="2000"/>
              <a:t> YAML </a:t>
            </a:r>
            <a:r>
              <a:rPr lang="zh-CN" altLang="en-US" sz="2000"/>
              <a:t>任务清单（如</a:t>
            </a:r>
            <a:r>
              <a:rPr lang="en-US" altLang="zh-CN" sz="2000"/>
              <a:t> &lt;task_id&gt;, &lt;dependencies&gt;, &lt;acceptance_criteria&gt;</a:t>
            </a:r>
            <a:r>
              <a:rPr lang="zh-CN" altLang="en-US" sz="2000"/>
              <a:t>）。</a:t>
            </a:r>
            <a:r>
              <a:rPr lang="en-US" altLang="zh-CN" sz="2000"/>
              <a:t>Harness </a:t>
            </a:r>
            <a:r>
              <a:rPr lang="zh-CN" altLang="en-US" sz="2000"/>
              <a:t>会像路由器一样，解析这些结构化标签，并将其精准投递给下一个智能体。这种基于标签和特定数据结构的通信协议，极大地降低了信息传递中的幻觉率。</a:t>
            </a:r>
            <a:endParaRPr lang="zh-CN" altLang="en-US" sz="2000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0"/>
    </mc:Choice>
    <mc:Fallback>
      <p:transition/>
    </mc:Fallback>
  </mc:AlternateContent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grpSp>
        <p:nvGrpSpPr>
          <p:cNvPr id="2" name="组合 1"/>
          <p:cNvGrpSpPr/>
          <p:nvPr/>
        </p:nvGrpSpPr>
        <p:grpSpPr>
          <a:xfrm>
            <a:off x="-1386840" y="62865"/>
            <a:ext cx="8120380" cy="1326515"/>
            <a:chOff x="-2184" y="-721"/>
            <a:chExt cx="12788" cy="2089"/>
          </a:xfrm>
        </p:grpSpPr>
        <p:sp>
          <p:nvSpPr>
            <p:cNvPr id="3" name="TextBox 8"/>
            <p:cNvSpPr txBox="1"/>
            <p:nvPr/>
          </p:nvSpPr>
          <p:spPr>
            <a:xfrm>
              <a:off x="-2184" y="-721"/>
              <a:ext cx="12788" cy="1598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p>
              <a:pPr algn="ctr"/>
              <a:r>
                <a:rPr lang="en-US" sz="6000" b="1" spc="600" dirty="0" smtClean="0">
                  <a:solidFill>
                    <a:schemeClr val="bg1">
                      <a:lumMod val="95000"/>
                    </a:schemeClr>
                  </a:solidFill>
                  <a:latin typeface="庞门正道标题体" panose="02010600030101010101" charset="-122"/>
                  <a:ea typeface="庞门正道标题体" panose="02010600030101010101" charset="-122"/>
                  <a:cs typeface="Montserrat" panose="00000500000000000000" pitchFamily="50" charset="0"/>
                </a:rPr>
                <a:t>MINIMALIST</a:t>
              </a:r>
              <a:endParaRPr lang="en-US" sz="6000" b="1" spc="600" dirty="0" smtClean="0">
                <a:solidFill>
                  <a:schemeClr val="bg1">
                    <a:lumMod val="95000"/>
                  </a:schemeClr>
                </a:solidFill>
                <a:latin typeface="庞门正道标题体" panose="02010600030101010101" charset="-122"/>
                <a:ea typeface="庞门正道标题体" panose="02010600030101010101" charset="-122"/>
                <a:cs typeface="Montserrat" panose="00000500000000000000" pitchFamily="50" charset="0"/>
              </a:endParaRPr>
            </a:p>
          </p:txBody>
        </p:sp>
        <p:sp>
          <p:nvSpPr>
            <p:cNvPr id="24" name="TextBox 9"/>
            <p:cNvSpPr txBox="1"/>
            <p:nvPr/>
          </p:nvSpPr>
          <p:spPr>
            <a:xfrm>
              <a:off x="-1247" y="-166"/>
              <a:ext cx="10932" cy="130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p>
              <a:pPr algn="ctr"/>
              <a:r>
                <a:rPr lang="zh-CN" altLang="en-US" sz="4800" b="1" spc="600" dirty="0" smtClean="0">
                  <a:latin typeface="方正明尚简体" panose="02000000000000000000" charset="-122"/>
                  <a:ea typeface="方正明尚简体" panose="02000000000000000000" charset="-122"/>
                  <a:cs typeface="Montserrat" panose="00000500000000000000" pitchFamily="50" charset="0"/>
                  <a:sym typeface="+mn-ea"/>
                </a:rPr>
                <a:t>三大核心</a:t>
              </a:r>
              <a:r>
                <a:rPr lang="zh-CN" altLang="en-US" sz="4800" b="1" spc="600" dirty="0" smtClean="0">
                  <a:latin typeface="方正明尚简体" panose="02000000000000000000" charset="-122"/>
                  <a:ea typeface="方正明尚简体" panose="02000000000000000000" charset="-122"/>
                  <a:cs typeface="Montserrat" panose="00000500000000000000" pitchFamily="50" charset="0"/>
                  <a:sym typeface="+mn-ea"/>
                </a:rPr>
                <a:t>组成</a:t>
              </a:r>
              <a:endParaRPr lang="zh-CN" altLang="en-US" sz="4800" b="1" spc="600" dirty="0" smtClean="0">
                <a:latin typeface="方正明尚简体" panose="02000000000000000000" charset="-122"/>
                <a:ea typeface="方正明尚简体" panose="02000000000000000000" charset="-122"/>
                <a:cs typeface="Montserrat" panose="00000500000000000000" pitchFamily="50" charset="0"/>
                <a:sym typeface="+mn-ea"/>
              </a:endParaRPr>
            </a:p>
          </p:txBody>
        </p:sp>
        <p:sp>
          <p:nvSpPr>
            <p:cNvPr id="25" name="TextBox 12"/>
            <p:cNvSpPr txBox="1"/>
            <p:nvPr/>
          </p:nvSpPr>
          <p:spPr>
            <a:xfrm>
              <a:off x="291" y="799"/>
              <a:ext cx="7856" cy="56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p>
              <a:pPr algn="ctr">
                <a:lnSpc>
                  <a:spcPct val="150000"/>
                </a:lnSpc>
              </a:pPr>
              <a:endParaRPr lang="en-US" baseline="-25000" dirty="0" smtClean="0">
                <a:latin typeface="Dotum" panose="020B0600000101010101" charset="-127"/>
                <a:ea typeface="Dotum" panose="020B0600000101010101" charset="-127"/>
                <a:cs typeface="+mj-lt"/>
              </a:endParaRPr>
            </a:p>
          </p:txBody>
        </p:sp>
      </p:grpSp>
      <p:sp>
        <p:nvSpPr>
          <p:cNvPr id="14" name="文本框 13"/>
          <p:cNvSpPr txBox="1"/>
          <p:nvPr/>
        </p:nvSpPr>
        <p:spPr>
          <a:xfrm>
            <a:off x="356235" y="1245235"/>
            <a:ext cx="10289540" cy="33718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1600" b="1"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  <a:sym typeface="+mn-ea"/>
              </a:rPr>
              <a:t>C</a:t>
            </a:r>
            <a:r>
              <a:rPr lang="en-US" altLang="zh-CN" sz="1600" b="1"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</a:rPr>
              <a:t>. </a:t>
            </a:r>
            <a:r>
              <a:rPr lang="zh-CN" altLang="en-US" sz="1600" b="1"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</a:rPr>
              <a:t>协议外向化</a:t>
            </a:r>
            <a:r>
              <a:rPr lang="en-US" altLang="zh-CN" sz="1600" b="1"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</a:rPr>
              <a:t>(Protocols)</a:t>
            </a:r>
            <a:endParaRPr lang="en-US" altLang="zh-CN" sz="1600" b="1">
              <a:latin typeface="黑体" panose="02010609060101010101" charset="-122"/>
              <a:ea typeface="黑体" panose="02010609060101010101" charset="-122"/>
              <a:cs typeface="黑体" panose="02010609060101010101" charset="-122"/>
            </a:endParaRPr>
          </a:p>
        </p:txBody>
      </p:sp>
      <p:sp>
        <p:nvSpPr>
          <p:cNvPr id="4" name="文本框 3"/>
          <p:cNvSpPr txBox="1"/>
          <p:nvPr/>
        </p:nvSpPr>
        <p:spPr>
          <a:xfrm>
            <a:off x="683895" y="1637030"/>
            <a:ext cx="9634220" cy="33718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zh-CN" altLang="en-US" sz="1600" b="1"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</a:rPr>
              <a:t>四个关键</a:t>
            </a:r>
            <a:r>
              <a:rPr lang="zh-CN" altLang="en-US" sz="1600" b="1"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</a:rPr>
              <a:t>维度</a:t>
            </a:r>
            <a:endParaRPr lang="zh-CN" altLang="en-US" sz="1600" b="1">
              <a:latin typeface="黑体" panose="02010609060101010101" charset="-122"/>
              <a:ea typeface="黑体" panose="02010609060101010101" charset="-122"/>
              <a:cs typeface="黑体" panose="02010609060101010101" charset="-122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1081405" y="2075180"/>
            <a:ext cx="10449560" cy="286131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pPr indent="457200">
              <a:buFont typeface="Arial" panose="020B0604020202020204" pitchFamily="34" charset="0"/>
              <a:buNone/>
            </a:pPr>
            <a:r>
              <a:rPr lang="en-US" altLang="zh-CN" sz="2000"/>
              <a:t>3. </a:t>
            </a:r>
            <a:r>
              <a:rPr lang="zh-CN" altLang="en-US" sz="2000"/>
              <a:t>边界与护栏的物理隔离</a:t>
            </a:r>
            <a:r>
              <a:rPr lang="en-US" altLang="zh-CN" sz="2000"/>
              <a:t> (Security &amp; Permission Protocols)</a:t>
            </a:r>
            <a:endParaRPr lang="en-US" altLang="zh-CN" sz="2000"/>
          </a:p>
          <a:p>
            <a:pPr indent="457200">
              <a:buFont typeface="Arial" panose="020B0604020202020204" pitchFamily="34" charset="0"/>
              <a:buNone/>
            </a:pPr>
            <a:endParaRPr lang="en-US" altLang="zh-CN" sz="2000"/>
          </a:p>
          <a:p>
            <a:pPr indent="457200">
              <a:buFont typeface="Arial" panose="020B0604020202020204" pitchFamily="34" charset="0"/>
              <a:buNone/>
            </a:pPr>
            <a:r>
              <a:rPr lang="en-US" altLang="zh-CN" sz="2000"/>
              <a:t>Prompt </a:t>
            </a:r>
            <a:r>
              <a:rPr lang="zh-CN" altLang="en-US" sz="2000"/>
              <a:t>时代的做法：</a:t>
            </a:r>
            <a:r>
              <a:rPr lang="en-US" altLang="zh-CN" sz="2000"/>
              <a:t>“</a:t>
            </a:r>
            <a:r>
              <a:rPr lang="zh-CN" altLang="en-US" sz="2000"/>
              <a:t>你是一个安全的</a:t>
            </a:r>
            <a:r>
              <a:rPr lang="en-US" altLang="zh-CN" sz="2000"/>
              <a:t> AI</a:t>
            </a:r>
            <a:r>
              <a:rPr lang="zh-CN" altLang="en-US" sz="2000"/>
              <a:t>，请绝对不要修改底层系统文件，不要执行</a:t>
            </a:r>
            <a:r>
              <a:rPr lang="en-US" altLang="zh-CN" sz="2000"/>
              <a:t> rm -rf</a:t>
            </a:r>
            <a:r>
              <a:rPr lang="zh-CN" altLang="en-US" sz="2000"/>
              <a:t>。</a:t>
            </a:r>
            <a:r>
              <a:rPr lang="en-US" altLang="zh-CN" sz="2000"/>
              <a:t>”</a:t>
            </a:r>
            <a:r>
              <a:rPr lang="zh-CN" altLang="en-US" sz="2000"/>
              <a:t>（这种做法被称为</a:t>
            </a:r>
            <a:r>
              <a:rPr lang="en-US" altLang="zh-CN" sz="2000"/>
              <a:t>“</a:t>
            </a:r>
            <a:r>
              <a:rPr lang="zh-CN" altLang="en-US" sz="2000"/>
              <a:t>语义护栏</a:t>
            </a:r>
            <a:r>
              <a:rPr lang="en-US" altLang="zh-CN" sz="2000"/>
              <a:t>”</a:t>
            </a:r>
            <a:r>
              <a:rPr lang="zh-CN" altLang="en-US" sz="2000"/>
              <a:t>，极其脆弱，极易被越狱攻击破解）。</a:t>
            </a:r>
            <a:endParaRPr lang="zh-CN" altLang="en-US" sz="2000"/>
          </a:p>
          <a:p>
            <a:pPr indent="457200">
              <a:buFont typeface="Arial" panose="020B0604020202020204" pitchFamily="34" charset="0"/>
              <a:buNone/>
            </a:pPr>
            <a:endParaRPr lang="en-US" altLang="zh-CN" sz="2000"/>
          </a:p>
          <a:p>
            <a:pPr indent="457200">
              <a:buFont typeface="Arial" panose="020B0604020202020204" pitchFamily="34" charset="0"/>
              <a:buNone/>
            </a:pPr>
            <a:r>
              <a:rPr lang="en-US" altLang="zh-CN" sz="2000"/>
              <a:t>Harness </a:t>
            </a:r>
            <a:r>
              <a:rPr lang="zh-CN" altLang="en-US" sz="2000"/>
              <a:t>时代的做法：协议外向化意味着</a:t>
            </a:r>
            <a:r>
              <a:rPr lang="en-US" altLang="zh-CN" sz="2000"/>
              <a:t>**“</a:t>
            </a:r>
            <a:r>
              <a:rPr lang="zh-CN" altLang="en-US" sz="2000"/>
              <a:t>不信任模型的自我约束</a:t>
            </a:r>
            <a:r>
              <a:rPr lang="en-US" altLang="zh-CN" sz="2000"/>
              <a:t>”**</a:t>
            </a:r>
            <a:r>
              <a:rPr lang="zh-CN" altLang="en-US" sz="2000"/>
              <a:t>。</a:t>
            </a:r>
            <a:r>
              <a:rPr lang="en-US" altLang="zh-CN" sz="2000"/>
              <a:t>Harness Engineer </a:t>
            </a:r>
            <a:r>
              <a:rPr lang="zh-CN" altLang="en-US" sz="2000"/>
              <a:t>会在外部构建</a:t>
            </a:r>
            <a:r>
              <a:rPr lang="en-US" altLang="zh-CN" sz="2000"/>
              <a:t>“</a:t>
            </a:r>
            <a:r>
              <a:rPr lang="zh-CN" altLang="en-US" sz="2000"/>
              <a:t>物理护栏</a:t>
            </a:r>
            <a:r>
              <a:rPr lang="en-US" altLang="zh-CN" sz="2000"/>
              <a:t>”</a:t>
            </a:r>
            <a:r>
              <a:rPr lang="zh-CN" altLang="en-US" sz="2000"/>
              <a:t>。模型生成的代码必须在一个受限的</a:t>
            </a:r>
            <a:r>
              <a:rPr lang="en-US" altLang="zh-CN" sz="2000"/>
              <a:t> Docker </a:t>
            </a:r>
            <a:r>
              <a:rPr lang="zh-CN" altLang="en-US" sz="2000"/>
              <a:t>沙箱（</a:t>
            </a:r>
            <a:r>
              <a:rPr lang="en-US" altLang="zh-CN" sz="2000"/>
              <a:t>Sandbox</a:t>
            </a:r>
            <a:r>
              <a:rPr lang="zh-CN" altLang="en-US" sz="2000"/>
              <a:t>）或微型虚拟机中运行。沙箱的网络出口和文件读写权限由外围的</a:t>
            </a:r>
            <a:r>
              <a:rPr lang="en-US" altLang="zh-CN" sz="2000"/>
              <a:t> IAM</a:t>
            </a:r>
            <a:r>
              <a:rPr lang="zh-CN" altLang="en-US" sz="2000"/>
              <a:t>（身份和访问管理）协议严格锁死。即使模型发疯想删库，外围协议也会在操作系统层面直接拒绝。</a:t>
            </a:r>
            <a:endParaRPr lang="zh-CN" altLang="en-US" sz="2000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0"/>
    </mc:Choice>
    <mc:Fallback>
      <p:transition/>
    </mc:Fallback>
  </mc:AlternateContent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grpSp>
        <p:nvGrpSpPr>
          <p:cNvPr id="2" name="组合 1"/>
          <p:cNvGrpSpPr/>
          <p:nvPr/>
        </p:nvGrpSpPr>
        <p:grpSpPr>
          <a:xfrm>
            <a:off x="-1386840" y="62865"/>
            <a:ext cx="8120380" cy="1326515"/>
            <a:chOff x="-2184" y="-721"/>
            <a:chExt cx="12788" cy="2089"/>
          </a:xfrm>
        </p:grpSpPr>
        <p:sp>
          <p:nvSpPr>
            <p:cNvPr id="3" name="TextBox 8"/>
            <p:cNvSpPr txBox="1"/>
            <p:nvPr/>
          </p:nvSpPr>
          <p:spPr>
            <a:xfrm>
              <a:off x="-2184" y="-721"/>
              <a:ext cx="12788" cy="1598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p>
              <a:pPr algn="ctr"/>
              <a:r>
                <a:rPr lang="en-US" sz="6000" b="1" spc="600" dirty="0" smtClean="0">
                  <a:solidFill>
                    <a:schemeClr val="bg1">
                      <a:lumMod val="95000"/>
                    </a:schemeClr>
                  </a:solidFill>
                  <a:latin typeface="庞门正道标题体" panose="02010600030101010101" charset="-122"/>
                  <a:ea typeface="庞门正道标题体" panose="02010600030101010101" charset="-122"/>
                  <a:cs typeface="Montserrat" panose="00000500000000000000" pitchFamily="50" charset="0"/>
                </a:rPr>
                <a:t>MINIMALIST</a:t>
              </a:r>
              <a:endParaRPr lang="en-US" sz="6000" b="1" spc="600" dirty="0" smtClean="0">
                <a:solidFill>
                  <a:schemeClr val="bg1">
                    <a:lumMod val="95000"/>
                  </a:schemeClr>
                </a:solidFill>
                <a:latin typeface="庞门正道标题体" panose="02010600030101010101" charset="-122"/>
                <a:ea typeface="庞门正道标题体" panose="02010600030101010101" charset="-122"/>
                <a:cs typeface="Montserrat" panose="00000500000000000000" pitchFamily="50" charset="0"/>
              </a:endParaRPr>
            </a:p>
          </p:txBody>
        </p:sp>
        <p:sp>
          <p:nvSpPr>
            <p:cNvPr id="24" name="TextBox 9"/>
            <p:cNvSpPr txBox="1"/>
            <p:nvPr/>
          </p:nvSpPr>
          <p:spPr>
            <a:xfrm>
              <a:off x="-1247" y="-166"/>
              <a:ext cx="10932" cy="130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p>
              <a:pPr algn="ctr"/>
              <a:r>
                <a:rPr lang="zh-CN" altLang="en-US" sz="4800" b="1" spc="600" dirty="0" smtClean="0">
                  <a:latin typeface="方正明尚简体" panose="02000000000000000000" charset="-122"/>
                  <a:ea typeface="方正明尚简体" panose="02000000000000000000" charset="-122"/>
                  <a:cs typeface="Montserrat" panose="00000500000000000000" pitchFamily="50" charset="0"/>
                  <a:sym typeface="+mn-ea"/>
                </a:rPr>
                <a:t>三大核心</a:t>
              </a:r>
              <a:r>
                <a:rPr lang="zh-CN" altLang="en-US" sz="4800" b="1" spc="600" dirty="0" smtClean="0">
                  <a:latin typeface="方正明尚简体" panose="02000000000000000000" charset="-122"/>
                  <a:ea typeface="方正明尚简体" panose="02000000000000000000" charset="-122"/>
                  <a:cs typeface="Montserrat" panose="00000500000000000000" pitchFamily="50" charset="0"/>
                  <a:sym typeface="+mn-ea"/>
                </a:rPr>
                <a:t>组成</a:t>
              </a:r>
              <a:endParaRPr lang="zh-CN" altLang="en-US" sz="4800" b="1" spc="600" dirty="0" smtClean="0">
                <a:latin typeface="方正明尚简体" panose="02000000000000000000" charset="-122"/>
                <a:ea typeface="方正明尚简体" panose="02000000000000000000" charset="-122"/>
                <a:cs typeface="Montserrat" panose="00000500000000000000" pitchFamily="50" charset="0"/>
                <a:sym typeface="+mn-ea"/>
              </a:endParaRPr>
            </a:p>
          </p:txBody>
        </p:sp>
        <p:sp>
          <p:nvSpPr>
            <p:cNvPr id="25" name="TextBox 12"/>
            <p:cNvSpPr txBox="1"/>
            <p:nvPr/>
          </p:nvSpPr>
          <p:spPr>
            <a:xfrm>
              <a:off x="291" y="799"/>
              <a:ext cx="7856" cy="56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p>
              <a:pPr algn="ctr">
                <a:lnSpc>
                  <a:spcPct val="150000"/>
                </a:lnSpc>
              </a:pPr>
              <a:endParaRPr lang="en-US" baseline="-25000" dirty="0" smtClean="0">
                <a:latin typeface="Dotum" panose="020B0600000101010101" charset="-127"/>
                <a:ea typeface="Dotum" panose="020B0600000101010101" charset="-127"/>
                <a:cs typeface="+mj-lt"/>
              </a:endParaRPr>
            </a:p>
          </p:txBody>
        </p:sp>
      </p:grpSp>
      <p:sp>
        <p:nvSpPr>
          <p:cNvPr id="14" name="文本框 13"/>
          <p:cNvSpPr txBox="1"/>
          <p:nvPr/>
        </p:nvSpPr>
        <p:spPr>
          <a:xfrm>
            <a:off x="356235" y="1245235"/>
            <a:ext cx="10289540" cy="33718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1600" b="1"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  <a:sym typeface="+mn-ea"/>
              </a:rPr>
              <a:t>C</a:t>
            </a:r>
            <a:r>
              <a:rPr lang="en-US" altLang="zh-CN" sz="1600" b="1"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</a:rPr>
              <a:t>. </a:t>
            </a:r>
            <a:r>
              <a:rPr lang="zh-CN" altLang="en-US" sz="1600" b="1"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</a:rPr>
              <a:t>协议外向化</a:t>
            </a:r>
            <a:r>
              <a:rPr lang="en-US" altLang="zh-CN" sz="1600" b="1"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</a:rPr>
              <a:t>(Protocols)</a:t>
            </a:r>
            <a:endParaRPr lang="en-US" altLang="zh-CN" sz="1600" b="1">
              <a:latin typeface="黑体" panose="02010609060101010101" charset="-122"/>
              <a:ea typeface="黑体" panose="02010609060101010101" charset="-122"/>
              <a:cs typeface="黑体" panose="02010609060101010101" charset="-122"/>
            </a:endParaRPr>
          </a:p>
        </p:txBody>
      </p:sp>
      <p:sp>
        <p:nvSpPr>
          <p:cNvPr id="4" name="文本框 3"/>
          <p:cNvSpPr txBox="1"/>
          <p:nvPr/>
        </p:nvSpPr>
        <p:spPr>
          <a:xfrm>
            <a:off x="683895" y="1637030"/>
            <a:ext cx="9634220" cy="33718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zh-CN" altLang="en-US" sz="1600" b="1"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</a:rPr>
              <a:t>四个关键</a:t>
            </a:r>
            <a:r>
              <a:rPr lang="zh-CN" altLang="en-US" sz="1600" b="1"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</a:rPr>
              <a:t>维度</a:t>
            </a:r>
            <a:endParaRPr lang="zh-CN" altLang="en-US" sz="1600" b="1">
              <a:latin typeface="黑体" panose="02010609060101010101" charset="-122"/>
              <a:ea typeface="黑体" panose="02010609060101010101" charset="-122"/>
              <a:cs typeface="黑体" panose="02010609060101010101" charset="-122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1081405" y="2075180"/>
            <a:ext cx="10449560" cy="286131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pPr indent="457200">
              <a:buFont typeface="Arial" panose="020B0604020202020204" pitchFamily="34" charset="0"/>
              <a:buNone/>
            </a:pPr>
            <a:r>
              <a:rPr lang="en-US" altLang="zh-CN" sz="2000"/>
              <a:t>4. </a:t>
            </a:r>
            <a:r>
              <a:rPr lang="zh-CN" altLang="en-US" sz="2000"/>
              <a:t>异常处理与</a:t>
            </a:r>
            <a:r>
              <a:rPr lang="en-US" altLang="zh-CN" sz="2000"/>
              <a:t>“</a:t>
            </a:r>
            <a:r>
              <a:rPr lang="zh-CN" altLang="en-US" sz="2000"/>
              <a:t>呼叫人类</a:t>
            </a:r>
            <a:r>
              <a:rPr lang="en-US" altLang="zh-CN" sz="2000"/>
              <a:t>”</a:t>
            </a:r>
            <a:r>
              <a:rPr lang="zh-CN" altLang="en-US" sz="2000"/>
              <a:t>协议</a:t>
            </a:r>
            <a:r>
              <a:rPr lang="en-US" altLang="zh-CN" sz="2000"/>
              <a:t> (Human-in-the-Loop &amp; Fallback Protocols)</a:t>
            </a:r>
            <a:endParaRPr lang="en-US" altLang="zh-CN" sz="2000"/>
          </a:p>
          <a:p>
            <a:pPr indent="457200">
              <a:buFont typeface="Arial" panose="020B0604020202020204" pitchFamily="34" charset="0"/>
              <a:buNone/>
            </a:pPr>
            <a:endParaRPr lang="en-US" altLang="zh-CN" sz="2000"/>
          </a:p>
          <a:p>
            <a:pPr indent="457200">
              <a:buFont typeface="Arial" panose="020B0604020202020204" pitchFamily="34" charset="0"/>
              <a:buNone/>
            </a:pPr>
            <a:r>
              <a:rPr lang="zh-CN" altLang="en-US" sz="2000"/>
              <a:t>模型在执行长周期任务时必然会遇到死胡同（例如一个代码</a:t>
            </a:r>
            <a:r>
              <a:rPr lang="en-US" altLang="zh-CN" sz="2000"/>
              <a:t> bug </a:t>
            </a:r>
            <a:r>
              <a:rPr lang="zh-CN" altLang="en-US" sz="2000"/>
              <a:t>修了</a:t>
            </a:r>
            <a:r>
              <a:rPr lang="en-US" altLang="zh-CN" sz="2000"/>
              <a:t> 5 </a:t>
            </a:r>
            <a:r>
              <a:rPr lang="zh-CN" altLang="en-US" sz="2000"/>
              <a:t>次还是报错）。</a:t>
            </a:r>
            <a:endParaRPr lang="zh-CN" altLang="en-US" sz="2000"/>
          </a:p>
          <a:p>
            <a:pPr indent="457200">
              <a:buFont typeface="Arial" panose="020B0604020202020204" pitchFamily="34" charset="0"/>
              <a:buNone/>
            </a:pPr>
            <a:endParaRPr lang="en-US" altLang="zh-CN" sz="2000"/>
          </a:p>
          <a:p>
            <a:pPr indent="457200">
              <a:buFont typeface="Arial" panose="020B0604020202020204" pitchFamily="34" charset="0"/>
              <a:buNone/>
            </a:pPr>
            <a:r>
              <a:rPr lang="zh-CN" altLang="en-US" sz="2000"/>
              <a:t>协议外向化要求将</a:t>
            </a:r>
            <a:r>
              <a:rPr lang="en-US" altLang="zh-CN" sz="2000"/>
              <a:t>“</a:t>
            </a:r>
            <a:r>
              <a:rPr lang="zh-CN" altLang="en-US" sz="2000"/>
              <a:t>何时放弃</a:t>
            </a:r>
            <a:r>
              <a:rPr lang="en-US" altLang="zh-CN" sz="2000"/>
              <a:t>”</a:t>
            </a:r>
            <a:r>
              <a:rPr lang="zh-CN" altLang="en-US" sz="2000"/>
              <a:t>的规则写入外部状态机，而不是让模型自己决定。</a:t>
            </a:r>
            <a:endParaRPr lang="zh-CN" altLang="en-US" sz="2000"/>
          </a:p>
          <a:p>
            <a:pPr indent="457200">
              <a:buFont typeface="Arial" panose="020B0604020202020204" pitchFamily="34" charset="0"/>
              <a:buNone/>
            </a:pPr>
            <a:endParaRPr lang="en-US" altLang="zh-CN" sz="2000"/>
          </a:p>
          <a:p>
            <a:pPr indent="457200">
              <a:buFont typeface="Arial" panose="020B0604020202020204" pitchFamily="34" charset="0"/>
              <a:buNone/>
            </a:pPr>
            <a:r>
              <a:rPr lang="en-US" altLang="zh-CN" sz="2000"/>
              <a:t>Harness </a:t>
            </a:r>
            <a:r>
              <a:rPr lang="zh-CN" altLang="en-US" sz="2000"/>
              <a:t>会设定硬性协议：</a:t>
            </a:r>
            <a:r>
              <a:rPr lang="en-US" altLang="zh-CN" sz="2000"/>
              <a:t>“</a:t>
            </a:r>
            <a:r>
              <a:rPr lang="zh-CN" altLang="en-US" sz="2000"/>
              <a:t>同一个测试用例连续失败</a:t>
            </a:r>
            <a:r>
              <a:rPr lang="en-US" altLang="zh-CN" sz="2000"/>
              <a:t> 3 </a:t>
            </a:r>
            <a:r>
              <a:rPr lang="zh-CN" altLang="en-US" sz="2000"/>
              <a:t>次</a:t>
            </a:r>
            <a:r>
              <a:rPr lang="en-US" altLang="zh-CN" sz="2000"/>
              <a:t> -&gt; </a:t>
            </a:r>
            <a:r>
              <a:rPr lang="zh-CN" altLang="en-US" sz="2000"/>
              <a:t>触发中断协议</a:t>
            </a:r>
            <a:r>
              <a:rPr lang="en-US" altLang="zh-CN" sz="2000"/>
              <a:t> -&gt; </a:t>
            </a:r>
            <a:r>
              <a:rPr lang="zh-CN" altLang="en-US" sz="2000"/>
              <a:t>冻结当前上下文</a:t>
            </a:r>
            <a:r>
              <a:rPr lang="en-US" altLang="zh-CN" sz="2000"/>
              <a:t> -&gt; </a:t>
            </a:r>
            <a:r>
              <a:rPr lang="zh-CN" altLang="en-US" sz="2000"/>
              <a:t>将堆栈信息打包发送至</a:t>
            </a:r>
            <a:r>
              <a:rPr lang="en-US" altLang="zh-CN" sz="2000"/>
              <a:t> Slack </a:t>
            </a:r>
            <a:r>
              <a:rPr lang="zh-CN" altLang="en-US" sz="2000"/>
              <a:t>呼叫人类工程师</a:t>
            </a:r>
            <a:r>
              <a:rPr lang="en-US" altLang="zh-CN" sz="2000"/>
              <a:t> -&gt; </a:t>
            </a:r>
            <a:r>
              <a:rPr lang="zh-CN" altLang="en-US" sz="2000"/>
              <a:t>挂起等待人类指令</a:t>
            </a:r>
            <a:r>
              <a:rPr lang="en-US" altLang="zh-CN" sz="2000"/>
              <a:t>”</a:t>
            </a:r>
            <a:r>
              <a:rPr lang="zh-CN" altLang="en-US" sz="2000"/>
              <a:t>。这种</a:t>
            </a:r>
            <a:r>
              <a:rPr lang="en-US" altLang="zh-CN" sz="2000"/>
              <a:t>“</a:t>
            </a:r>
            <a:r>
              <a:rPr lang="zh-CN" altLang="en-US" sz="2000"/>
              <a:t>接管协议</a:t>
            </a:r>
            <a:r>
              <a:rPr lang="en-US" altLang="zh-CN" sz="2000"/>
              <a:t>”</a:t>
            </a:r>
            <a:r>
              <a:rPr lang="zh-CN" altLang="en-US" sz="2000"/>
              <a:t>保证了</a:t>
            </a:r>
            <a:r>
              <a:rPr lang="en-US" altLang="zh-CN" sz="2000"/>
              <a:t> AI </a:t>
            </a:r>
            <a:r>
              <a:rPr lang="zh-CN" altLang="en-US" sz="2000"/>
              <a:t>不会在错误的路径上白白烧掉几百美金的</a:t>
            </a:r>
            <a:r>
              <a:rPr lang="en-US" altLang="zh-CN" sz="2000"/>
              <a:t> Token </a:t>
            </a:r>
            <a:r>
              <a:rPr lang="zh-CN" altLang="en-US" sz="2000"/>
              <a:t>费用。</a:t>
            </a:r>
            <a:endParaRPr lang="zh-CN" altLang="en-US" sz="2000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0"/>
    </mc:Choice>
    <mc:Fallback>
      <p:transition/>
    </mc:Fallback>
  </mc:AlternateContent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grpSp>
        <p:nvGrpSpPr>
          <p:cNvPr id="2" name="组合 1"/>
          <p:cNvGrpSpPr/>
          <p:nvPr/>
        </p:nvGrpSpPr>
        <p:grpSpPr>
          <a:xfrm>
            <a:off x="-1386840" y="62865"/>
            <a:ext cx="8120380" cy="1326515"/>
            <a:chOff x="-2184" y="-721"/>
            <a:chExt cx="12788" cy="2089"/>
          </a:xfrm>
        </p:grpSpPr>
        <p:sp>
          <p:nvSpPr>
            <p:cNvPr id="3" name="TextBox 8"/>
            <p:cNvSpPr txBox="1"/>
            <p:nvPr/>
          </p:nvSpPr>
          <p:spPr>
            <a:xfrm>
              <a:off x="-2184" y="-721"/>
              <a:ext cx="12788" cy="1598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p>
              <a:pPr algn="ctr"/>
              <a:r>
                <a:rPr lang="en-US" sz="6000" b="1" spc="600" dirty="0" smtClean="0">
                  <a:solidFill>
                    <a:schemeClr val="bg1">
                      <a:lumMod val="95000"/>
                    </a:schemeClr>
                  </a:solidFill>
                  <a:latin typeface="庞门正道标题体" panose="02010600030101010101" charset="-122"/>
                  <a:ea typeface="庞门正道标题体" panose="02010600030101010101" charset="-122"/>
                  <a:cs typeface="Montserrat" panose="00000500000000000000" pitchFamily="50" charset="0"/>
                </a:rPr>
                <a:t>MINIMALIST</a:t>
              </a:r>
              <a:endParaRPr lang="en-US" sz="6000" b="1" spc="600" dirty="0" smtClean="0">
                <a:solidFill>
                  <a:schemeClr val="bg1">
                    <a:lumMod val="95000"/>
                  </a:schemeClr>
                </a:solidFill>
                <a:latin typeface="庞门正道标题体" panose="02010600030101010101" charset="-122"/>
                <a:ea typeface="庞门正道标题体" panose="02010600030101010101" charset="-122"/>
                <a:cs typeface="Montserrat" panose="00000500000000000000" pitchFamily="50" charset="0"/>
              </a:endParaRPr>
            </a:p>
          </p:txBody>
        </p:sp>
        <p:sp>
          <p:nvSpPr>
            <p:cNvPr id="24" name="TextBox 9"/>
            <p:cNvSpPr txBox="1"/>
            <p:nvPr/>
          </p:nvSpPr>
          <p:spPr>
            <a:xfrm>
              <a:off x="-623" y="-94"/>
              <a:ext cx="10932" cy="130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p>
              <a:pPr algn="ctr"/>
              <a:r>
                <a:rPr lang="zh-CN" altLang="en-US" sz="4800" b="1" spc="600" dirty="0" smtClean="0">
                  <a:latin typeface="方正明尚简体" panose="02000000000000000000" charset="-122"/>
                  <a:ea typeface="方正明尚简体" panose="02000000000000000000" charset="-122"/>
                  <a:cs typeface="Montserrat" panose="00000500000000000000" pitchFamily="50" charset="0"/>
                  <a:sym typeface="+mn-ea"/>
                </a:rPr>
                <a:t>多智能体对抗模式</a:t>
              </a:r>
              <a:endParaRPr lang="zh-CN" altLang="en-US" sz="4800" b="1" spc="600" dirty="0" smtClean="0">
                <a:latin typeface="方正明尚简体" panose="02000000000000000000" charset="-122"/>
                <a:ea typeface="方正明尚简体" panose="02000000000000000000" charset="-122"/>
                <a:cs typeface="Montserrat" panose="00000500000000000000" pitchFamily="50" charset="0"/>
                <a:sym typeface="+mn-ea"/>
              </a:endParaRPr>
            </a:p>
          </p:txBody>
        </p:sp>
        <p:sp>
          <p:nvSpPr>
            <p:cNvPr id="25" name="TextBox 12"/>
            <p:cNvSpPr txBox="1"/>
            <p:nvPr/>
          </p:nvSpPr>
          <p:spPr>
            <a:xfrm>
              <a:off x="291" y="799"/>
              <a:ext cx="7856" cy="56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p>
              <a:pPr algn="ctr">
                <a:lnSpc>
                  <a:spcPct val="150000"/>
                </a:lnSpc>
              </a:pPr>
              <a:endParaRPr lang="en-US" baseline="-25000" dirty="0" smtClean="0">
                <a:latin typeface="Dotum" panose="020B0600000101010101" charset="-127"/>
                <a:ea typeface="Dotum" panose="020B0600000101010101" charset="-127"/>
                <a:cs typeface="+mj-lt"/>
              </a:endParaRPr>
            </a:p>
          </p:txBody>
        </p:sp>
      </p:grpSp>
      <p:sp>
        <p:nvSpPr>
          <p:cNvPr id="6" name="文本框 5"/>
          <p:cNvSpPr txBox="1"/>
          <p:nvPr/>
        </p:nvSpPr>
        <p:spPr>
          <a:xfrm>
            <a:off x="997585" y="1541780"/>
            <a:ext cx="10449560" cy="470789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pPr indent="457200">
              <a:buFont typeface="Arial" panose="020B0604020202020204" pitchFamily="34" charset="0"/>
              <a:buNone/>
            </a:pPr>
            <a:r>
              <a:rPr lang="zh-CN" altLang="en-US" sz="2000"/>
              <a:t>痛点：</a:t>
            </a:r>
            <a:r>
              <a:rPr lang="en-US" altLang="zh-CN" sz="2000"/>
              <a:t>Anthropic </a:t>
            </a:r>
            <a:r>
              <a:rPr lang="zh-CN" altLang="en-US" sz="2000"/>
              <a:t>发现，即使是顶尖模型也极度缺乏可靠的</a:t>
            </a:r>
            <a:r>
              <a:rPr lang="en-US" altLang="zh-CN" sz="2000"/>
              <a:t>“</a:t>
            </a:r>
            <a:r>
              <a:rPr lang="zh-CN" altLang="en-US" sz="2000"/>
              <a:t>自我评估（</a:t>
            </a:r>
            <a:r>
              <a:rPr lang="en-US" altLang="zh-CN" sz="2000"/>
              <a:t>Self-critique</a:t>
            </a:r>
            <a:r>
              <a:rPr lang="zh-CN" altLang="en-US" sz="2000"/>
              <a:t>）</a:t>
            </a:r>
            <a:r>
              <a:rPr lang="en-US" altLang="zh-CN" sz="2000"/>
              <a:t>”</a:t>
            </a:r>
            <a:r>
              <a:rPr lang="zh-CN" altLang="en-US" sz="2000"/>
              <a:t>能力。如果在单一上下文中让模型既写代码又检查代码，它倾向于互相包庇或产生幻觉。</a:t>
            </a:r>
            <a:endParaRPr lang="zh-CN" altLang="en-US" sz="2000"/>
          </a:p>
          <a:p>
            <a:pPr indent="457200">
              <a:buFont typeface="Arial" panose="020B0604020202020204" pitchFamily="34" charset="0"/>
              <a:buNone/>
            </a:pPr>
            <a:endParaRPr lang="en-US" altLang="zh-CN" sz="2000"/>
          </a:p>
          <a:p>
            <a:pPr indent="457200">
              <a:buFont typeface="Arial" panose="020B0604020202020204" pitchFamily="34" charset="0"/>
              <a:buNone/>
            </a:pPr>
            <a:r>
              <a:rPr lang="en-US" altLang="zh-CN" sz="2000"/>
              <a:t>Harness </a:t>
            </a:r>
            <a:r>
              <a:rPr lang="zh-CN" altLang="en-US" sz="2000"/>
              <a:t>要点：引入类似</a:t>
            </a:r>
            <a:r>
              <a:rPr lang="en-US" altLang="zh-CN" sz="2000"/>
              <a:t> GAN</a:t>
            </a:r>
            <a:r>
              <a:rPr lang="zh-CN" altLang="en-US" sz="2000"/>
              <a:t>（生成对抗网络）的架构，将任务在</a:t>
            </a:r>
            <a:r>
              <a:rPr lang="en-US" altLang="zh-CN" sz="2000"/>
              <a:t> Harness </a:t>
            </a:r>
            <a:r>
              <a:rPr lang="zh-CN" altLang="en-US" sz="2000"/>
              <a:t>层面强制解耦为三个独立角色：</a:t>
            </a:r>
            <a:endParaRPr lang="zh-CN" altLang="en-US" sz="2000"/>
          </a:p>
          <a:p>
            <a:pPr indent="457200">
              <a:buFont typeface="Arial" panose="020B0604020202020204" pitchFamily="34" charset="0"/>
              <a:buNone/>
            </a:pPr>
            <a:endParaRPr lang="en-US" altLang="zh-CN" sz="2000"/>
          </a:p>
          <a:p>
            <a:pPr marL="800100" lvl="1" indent="-342900">
              <a:buFont typeface="Arial" panose="020B0604020202020204" pitchFamily="34" charset="0"/>
              <a:buChar char="•"/>
            </a:pPr>
            <a:r>
              <a:rPr lang="zh-CN" altLang="en-US" sz="2000"/>
              <a:t>计划者</a:t>
            </a:r>
            <a:r>
              <a:rPr lang="en-US" altLang="zh-CN" sz="2000"/>
              <a:t> (Planner)</a:t>
            </a:r>
            <a:r>
              <a:rPr lang="zh-CN" altLang="en-US" sz="2000"/>
              <a:t>：负责拆解大目标，生成带有进度记录的执行计划（</a:t>
            </a:r>
            <a:r>
              <a:rPr lang="en-US" altLang="zh-CN" sz="2000"/>
              <a:t>Execution Plans</a:t>
            </a:r>
            <a:r>
              <a:rPr lang="zh-CN" altLang="en-US" sz="2000"/>
              <a:t>）。</a:t>
            </a:r>
            <a:endParaRPr lang="zh-CN" altLang="en-US" sz="2000"/>
          </a:p>
          <a:p>
            <a:pPr indent="457200">
              <a:buFont typeface="Arial" panose="020B0604020202020204" pitchFamily="34" charset="0"/>
              <a:buNone/>
            </a:pPr>
            <a:endParaRPr lang="en-US" altLang="zh-CN" sz="2000"/>
          </a:p>
          <a:p>
            <a:pPr marL="800100" lvl="1" indent="-342900">
              <a:buFont typeface="Arial" panose="020B0604020202020204" pitchFamily="34" charset="0"/>
              <a:buChar char="•"/>
            </a:pPr>
            <a:r>
              <a:rPr lang="zh-CN" altLang="en-US" sz="2000"/>
              <a:t>生成者</a:t>
            </a:r>
            <a:r>
              <a:rPr lang="en-US" altLang="zh-CN" sz="2000"/>
              <a:t> (Generator)</a:t>
            </a:r>
            <a:r>
              <a:rPr lang="zh-CN" altLang="en-US" sz="2000"/>
              <a:t>：负责实际编写代码或执行设计。</a:t>
            </a:r>
            <a:endParaRPr lang="zh-CN" altLang="en-US" sz="2000"/>
          </a:p>
          <a:p>
            <a:pPr indent="457200">
              <a:buFont typeface="Arial" panose="020B0604020202020204" pitchFamily="34" charset="0"/>
              <a:buNone/>
            </a:pPr>
            <a:endParaRPr lang="en-US" altLang="zh-CN" sz="2000"/>
          </a:p>
          <a:p>
            <a:pPr marL="800100" lvl="1" indent="-342900">
              <a:buFont typeface="Arial" panose="020B0604020202020204" pitchFamily="34" charset="0"/>
              <a:buChar char="•"/>
            </a:pPr>
            <a:r>
              <a:rPr lang="zh-CN" altLang="en-US" sz="2000"/>
              <a:t>评估者</a:t>
            </a:r>
            <a:r>
              <a:rPr lang="en-US" altLang="zh-CN" sz="2000"/>
              <a:t> (Evaluator)</a:t>
            </a:r>
            <a:r>
              <a:rPr lang="zh-CN" altLang="en-US" sz="2000"/>
              <a:t>：这是</a:t>
            </a:r>
            <a:r>
              <a:rPr lang="en-US" altLang="zh-CN" sz="2000"/>
              <a:t> Harness </a:t>
            </a:r>
            <a:r>
              <a:rPr lang="zh-CN" altLang="en-US" sz="2000"/>
              <a:t>中最关键的一环。评估者拥有独立的上下文，带有极强的</a:t>
            </a:r>
            <a:r>
              <a:rPr lang="en-US" altLang="zh-CN" sz="2000"/>
              <a:t>“</a:t>
            </a:r>
            <a:r>
              <a:rPr lang="zh-CN" altLang="en-US" sz="2000"/>
              <a:t>怀疑主义</a:t>
            </a:r>
            <a:r>
              <a:rPr lang="en-US" altLang="zh-CN" sz="2000"/>
              <a:t>”</a:t>
            </a:r>
            <a:r>
              <a:rPr lang="zh-CN" altLang="en-US" sz="2000"/>
              <a:t>设定。它会使用像</a:t>
            </a:r>
            <a:r>
              <a:rPr lang="en-US" altLang="zh-CN" sz="2000"/>
              <a:t> Playwright MCP </a:t>
            </a:r>
            <a:r>
              <a:rPr lang="zh-CN" altLang="en-US" sz="2000"/>
              <a:t>这样的工具，直接在沙箱中运行并测试生成者的代码，根据严格的评分准则（如功能性、设计感等）给出苛刻的反馈，强制生成者迭代重试直至达标。</a:t>
            </a:r>
            <a:endParaRPr lang="zh-CN" altLang="en-US" sz="2000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0"/>
    </mc:Choice>
    <mc:Fallback>
      <p:transition/>
    </mc:Fallback>
  </mc:AlternateContent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grpSp>
        <p:nvGrpSpPr>
          <p:cNvPr id="2" name="组合 1"/>
          <p:cNvGrpSpPr/>
          <p:nvPr/>
        </p:nvGrpSpPr>
        <p:grpSpPr>
          <a:xfrm>
            <a:off x="-1386840" y="62865"/>
            <a:ext cx="8120380" cy="1326515"/>
            <a:chOff x="-2184" y="-721"/>
            <a:chExt cx="12788" cy="2089"/>
          </a:xfrm>
        </p:grpSpPr>
        <p:sp>
          <p:nvSpPr>
            <p:cNvPr id="3" name="TextBox 8"/>
            <p:cNvSpPr txBox="1"/>
            <p:nvPr/>
          </p:nvSpPr>
          <p:spPr>
            <a:xfrm>
              <a:off x="-2184" y="-721"/>
              <a:ext cx="12788" cy="1598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p>
              <a:pPr algn="ctr"/>
              <a:r>
                <a:rPr lang="en-US" sz="6000" b="1" spc="600" dirty="0" smtClean="0">
                  <a:solidFill>
                    <a:schemeClr val="bg1">
                      <a:lumMod val="95000"/>
                    </a:schemeClr>
                  </a:solidFill>
                  <a:latin typeface="庞门正道标题体" panose="02010600030101010101" charset="-122"/>
                  <a:ea typeface="庞门正道标题体" panose="02010600030101010101" charset="-122"/>
                  <a:cs typeface="Montserrat" panose="00000500000000000000" pitchFamily="50" charset="0"/>
                </a:rPr>
                <a:t>MINIMALIST</a:t>
              </a:r>
              <a:endParaRPr lang="en-US" sz="6000" b="1" spc="600" dirty="0" smtClean="0">
                <a:solidFill>
                  <a:schemeClr val="bg1">
                    <a:lumMod val="95000"/>
                  </a:schemeClr>
                </a:solidFill>
                <a:latin typeface="庞门正道标题体" panose="02010600030101010101" charset="-122"/>
                <a:ea typeface="庞门正道标题体" panose="02010600030101010101" charset="-122"/>
                <a:cs typeface="Montserrat" panose="00000500000000000000" pitchFamily="50" charset="0"/>
              </a:endParaRPr>
            </a:p>
          </p:txBody>
        </p:sp>
        <p:sp>
          <p:nvSpPr>
            <p:cNvPr id="24" name="TextBox 9"/>
            <p:cNvSpPr txBox="1"/>
            <p:nvPr/>
          </p:nvSpPr>
          <p:spPr>
            <a:xfrm>
              <a:off x="-623" y="-94"/>
              <a:ext cx="10932" cy="130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p>
              <a:pPr algn="ctr"/>
              <a:r>
                <a:rPr lang="zh-CN" altLang="en-US" sz="4800" b="1" spc="600" dirty="0" smtClean="0">
                  <a:latin typeface="方正明尚简体" panose="02000000000000000000" charset="-122"/>
                  <a:ea typeface="方正明尚简体" panose="02000000000000000000" charset="-122"/>
                  <a:cs typeface="Montserrat" panose="00000500000000000000" pitchFamily="50" charset="0"/>
                  <a:sym typeface="+mn-ea"/>
                </a:rPr>
                <a:t>多智能体对抗模式</a:t>
              </a:r>
              <a:endParaRPr lang="zh-CN" altLang="en-US" sz="4800" b="1" spc="600" dirty="0" smtClean="0">
                <a:latin typeface="方正明尚简体" panose="02000000000000000000" charset="-122"/>
                <a:ea typeface="方正明尚简体" panose="02000000000000000000" charset="-122"/>
                <a:cs typeface="Montserrat" panose="00000500000000000000" pitchFamily="50" charset="0"/>
                <a:sym typeface="+mn-ea"/>
              </a:endParaRPr>
            </a:p>
          </p:txBody>
        </p:sp>
        <p:sp>
          <p:nvSpPr>
            <p:cNvPr id="25" name="TextBox 12"/>
            <p:cNvSpPr txBox="1"/>
            <p:nvPr/>
          </p:nvSpPr>
          <p:spPr>
            <a:xfrm>
              <a:off x="291" y="799"/>
              <a:ext cx="7856" cy="56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p>
              <a:pPr algn="ctr">
                <a:lnSpc>
                  <a:spcPct val="150000"/>
                </a:lnSpc>
              </a:pPr>
              <a:endParaRPr lang="en-US" baseline="-25000" dirty="0" smtClean="0">
                <a:latin typeface="Dotum" panose="020B0600000101010101" charset="-127"/>
                <a:ea typeface="Dotum" panose="020B0600000101010101" charset="-127"/>
                <a:cs typeface="+mj-lt"/>
              </a:endParaRPr>
            </a:p>
          </p:txBody>
        </p:sp>
      </p:grpSp>
      <p:sp>
        <p:nvSpPr>
          <p:cNvPr id="6" name="文本框 5"/>
          <p:cNvSpPr txBox="1"/>
          <p:nvPr/>
        </p:nvSpPr>
        <p:spPr>
          <a:xfrm>
            <a:off x="997585" y="1541780"/>
            <a:ext cx="10449560" cy="316928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pPr indent="457200">
              <a:buFont typeface="Arial" panose="020B0604020202020204" pitchFamily="34" charset="0"/>
              <a:buNone/>
            </a:pPr>
            <a:r>
              <a:rPr lang="en-US" altLang="zh-CN" sz="2000"/>
              <a:t>1. </a:t>
            </a:r>
            <a:r>
              <a:rPr lang="zh-CN" altLang="en-US" sz="2000"/>
              <a:t>物理隔离（</a:t>
            </a:r>
            <a:r>
              <a:rPr lang="en-US" altLang="zh-CN" sz="2000"/>
              <a:t>Context Isolation</a:t>
            </a:r>
            <a:r>
              <a:rPr lang="zh-CN" altLang="en-US" sz="2000"/>
              <a:t>）</a:t>
            </a:r>
            <a:endParaRPr lang="zh-CN" altLang="en-US" sz="2000"/>
          </a:p>
          <a:p>
            <a:pPr indent="457200">
              <a:buFont typeface="Arial" panose="020B0604020202020204" pitchFamily="34" charset="0"/>
              <a:buNone/>
            </a:pPr>
            <a:r>
              <a:rPr lang="zh-CN" altLang="en-US" sz="2000"/>
              <a:t>不共享记忆：</a:t>
            </a:r>
            <a:r>
              <a:rPr lang="en-US" altLang="zh-CN" sz="2000"/>
              <a:t>Harness </a:t>
            </a:r>
            <a:r>
              <a:rPr lang="zh-CN" altLang="en-US" sz="2000"/>
              <a:t>会确保</a:t>
            </a:r>
            <a:r>
              <a:rPr lang="en-US" altLang="zh-CN" sz="2000"/>
              <a:t>“</a:t>
            </a:r>
            <a:r>
              <a:rPr lang="zh-CN" altLang="en-US" sz="2000"/>
              <a:t>生成者</a:t>
            </a:r>
            <a:r>
              <a:rPr lang="en-US" altLang="zh-CN" sz="2000"/>
              <a:t>”</a:t>
            </a:r>
            <a:r>
              <a:rPr lang="zh-CN" altLang="en-US" sz="2000"/>
              <a:t>和</a:t>
            </a:r>
            <a:r>
              <a:rPr lang="en-US" altLang="zh-CN" sz="2000"/>
              <a:t>“</a:t>
            </a:r>
            <a:r>
              <a:rPr lang="zh-CN" altLang="en-US" sz="2000"/>
              <a:t>评估者</a:t>
            </a:r>
            <a:r>
              <a:rPr lang="en-US" altLang="zh-CN" sz="2000"/>
              <a:t>”</a:t>
            </a:r>
            <a:r>
              <a:rPr lang="zh-CN" altLang="en-US" sz="2000"/>
              <a:t>看不到对方的思考过程（</a:t>
            </a:r>
            <a:r>
              <a:rPr lang="en-US" altLang="zh-CN" sz="2000"/>
              <a:t>Chain of Thought</a:t>
            </a:r>
            <a:r>
              <a:rPr lang="zh-CN" altLang="en-US" sz="2000"/>
              <a:t>）。评估者只看最终结果，这就杜绝了评估者被生成者的</a:t>
            </a:r>
            <a:r>
              <a:rPr lang="en-US" altLang="zh-CN" sz="2000"/>
              <a:t>“</a:t>
            </a:r>
            <a:r>
              <a:rPr lang="zh-CN" altLang="en-US" sz="2000"/>
              <a:t>苦劳</a:t>
            </a:r>
            <a:r>
              <a:rPr lang="en-US" altLang="zh-CN" sz="2000"/>
              <a:t>”</a:t>
            </a:r>
            <a:r>
              <a:rPr lang="zh-CN" altLang="en-US" sz="2000"/>
              <a:t>所感动或误导。</a:t>
            </a:r>
            <a:endParaRPr lang="zh-CN" altLang="en-US" sz="2000"/>
          </a:p>
          <a:p>
            <a:pPr indent="457200">
              <a:buFont typeface="Arial" panose="020B0604020202020204" pitchFamily="34" charset="0"/>
              <a:buNone/>
            </a:pPr>
            <a:endParaRPr lang="en-US" altLang="zh-CN" sz="2000"/>
          </a:p>
          <a:p>
            <a:pPr indent="457200">
              <a:buFont typeface="Arial" panose="020B0604020202020204" pitchFamily="34" charset="0"/>
              <a:buNone/>
            </a:pPr>
            <a:r>
              <a:rPr lang="zh-CN" altLang="en-US" sz="2000"/>
              <a:t>独立的人设（</a:t>
            </a:r>
            <a:r>
              <a:rPr lang="en-US" altLang="zh-CN" sz="2000"/>
              <a:t>System Prompts</a:t>
            </a:r>
            <a:r>
              <a:rPr lang="zh-CN" altLang="en-US" sz="2000"/>
              <a:t>）：</a:t>
            </a:r>
            <a:endParaRPr lang="zh-CN" altLang="en-US" sz="2000"/>
          </a:p>
          <a:p>
            <a:pPr indent="457200">
              <a:buFont typeface="Arial" panose="020B0604020202020204" pitchFamily="34" charset="0"/>
              <a:buNone/>
            </a:pPr>
            <a:endParaRPr lang="en-US" altLang="zh-CN" sz="2000"/>
          </a:p>
          <a:p>
            <a:pPr indent="457200">
              <a:buFont typeface="Arial" panose="020B0604020202020204" pitchFamily="34" charset="0"/>
              <a:buNone/>
            </a:pPr>
            <a:r>
              <a:rPr lang="zh-CN" altLang="en-US" sz="2000"/>
              <a:t>生成者的</a:t>
            </a:r>
            <a:r>
              <a:rPr lang="en-US" altLang="zh-CN" sz="2000"/>
              <a:t> System Prompt </a:t>
            </a:r>
            <a:r>
              <a:rPr lang="zh-CN" altLang="en-US" sz="2000"/>
              <a:t>鼓励创造性和解决问题。</a:t>
            </a:r>
            <a:endParaRPr lang="zh-CN" altLang="en-US" sz="2000"/>
          </a:p>
          <a:p>
            <a:pPr indent="457200">
              <a:buFont typeface="Arial" panose="020B0604020202020204" pitchFamily="34" charset="0"/>
              <a:buNone/>
            </a:pPr>
            <a:endParaRPr lang="en-US" altLang="zh-CN" sz="2000"/>
          </a:p>
          <a:p>
            <a:pPr indent="457200">
              <a:buFont typeface="Arial" panose="020B0604020202020204" pitchFamily="34" charset="0"/>
              <a:buNone/>
            </a:pPr>
            <a:r>
              <a:rPr lang="zh-CN" altLang="en-US" sz="2000"/>
              <a:t>评估者的</a:t>
            </a:r>
            <a:r>
              <a:rPr lang="en-US" altLang="zh-CN" sz="2000"/>
              <a:t> System Prompt </a:t>
            </a:r>
            <a:r>
              <a:rPr lang="zh-CN" altLang="en-US" sz="2000"/>
              <a:t>极其负面和怀疑，被设定为一个</a:t>
            </a:r>
            <a:r>
              <a:rPr lang="en-US" altLang="zh-CN" sz="2000"/>
              <a:t>“</a:t>
            </a:r>
            <a:r>
              <a:rPr lang="zh-CN" altLang="en-US" sz="2000"/>
              <a:t>吹毛求疵的高级安全工程师</a:t>
            </a:r>
            <a:r>
              <a:rPr lang="en-US" altLang="zh-CN" sz="2000"/>
              <a:t>”</a:t>
            </a:r>
            <a:r>
              <a:rPr lang="zh-CN" altLang="en-US" sz="2000"/>
              <a:t>或</a:t>
            </a:r>
            <a:r>
              <a:rPr lang="en-US" altLang="zh-CN" sz="2000"/>
              <a:t>“</a:t>
            </a:r>
            <a:r>
              <a:rPr lang="zh-CN" altLang="en-US" sz="2000"/>
              <a:t>严苛的</a:t>
            </a:r>
            <a:r>
              <a:rPr lang="en-US" altLang="zh-CN" sz="2000"/>
              <a:t> QA </a:t>
            </a:r>
            <a:r>
              <a:rPr lang="zh-CN" altLang="en-US" sz="2000"/>
              <a:t>测试员</a:t>
            </a:r>
            <a:r>
              <a:rPr lang="en-US" altLang="zh-CN" sz="2000"/>
              <a:t>”</a:t>
            </a:r>
            <a:r>
              <a:rPr lang="zh-CN" altLang="en-US" sz="2000"/>
              <a:t>。</a:t>
            </a:r>
            <a:endParaRPr lang="zh-CN" altLang="en-US" sz="2000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0"/>
    </mc:Choice>
    <mc:Fallback>
      <p:transition/>
    </mc:Fallback>
  </mc:AlternateContent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grpSp>
        <p:nvGrpSpPr>
          <p:cNvPr id="2" name="组合 1"/>
          <p:cNvGrpSpPr/>
          <p:nvPr/>
        </p:nvGrpSpPr>
        <p:grpSpPr>
          <a:xfrm>
            <a:off x="-1386840" y="62865"/>
            <a:ext cx="8120380" cy="1326515"/>
            <a:chOff x="-2184" y="-721"/>
            <a:chExt cx="12788" cy="2089"/>
          </a:xfrm>
        </p:grpSpPr>
        <p:sp>
          <p:nvSpPr>
            <p:cNvPr id="3" name="TextBox 8"/>
            <p:cNvSpPr txBox="1"/>
            <p:nvPr/>
          </p:nvSpPr>
          <p:spPr>
            <a:xfrm>
              <a:off x="-2184" y="-721"/>
              <a:ext cx="12788" cy="1598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p>
              <a:pPr algn="ctr"/>
              <a:r>
                <a:rPr lang="en-US" sz="6000" b="1" spc="600" dirty="0" smtClean="0">
                  <a:solidFill>
                    <a:schemeClr val="bg1">
                      <a:lumMod val="95000"/>
                    </a:schemeClr>
                  </a:solidFill>
                  <a:latin typeface="庞门正道标题体" panose="02010600030101010101" charset="-122"/>
                  <a:ea typeface="庞门正道标题体" panose="02010600030101010101" charset="-122"/>
                  <a:cs typeface="Montserrat" panose="00000500000000000000" pitchFamily="50" charset="0"/>
                </a:rPr>
                <a:t>MINIMALIST</a:t>
              </a:r>
              <a:endParaRPr lang="en-US" sz="6000" b="1" spc="600" dirty="0" smtClean="0">
                <a:solidFill>
                  <a:schemeClr val="bg1">
                    <a:lumMod val="95000"/>
                  </a:schemeClr>
                </a:solidFill>
                <a:latin typeface="庞门正道标题体" panose="02010600030101010101" charset="-122"/>
                <a:ea typeface="庞门正道标题体" panose="02010600030101010101" charset="-122"/>
                <a:cs typeface="Montserrat" panose="00000500000000000000" pitchFamily="50" charset="0"/>
              </a:endParaRPr>
            </a:p>
          </p:txBody>
        </p:sp>
        <p:sp>
          <p:nvSpPr>
            <p:cNvPr id="24" name="TextBox 9"/>
            <p:cNvSpPr txBox="1"/>
            <p:nvPr/>
          </p:nvSpPr>
          <p:spPr>
            <a:xfrm>
              <a:off x="-623" y="-94"/>
              <a:ext cx="10932" cy="130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p>
              <a:pPr algn="ctr"/>
              <a:r>
                <a:rPr lang="zh-CN" altLang="en-US" sz="4800" b="1" spc="600" dirty="0" smtClean="0">
                  <a:latin typeface="方正明尚简体" panose="02000000000000000000" charset="-122"/>
                  <a:ea typeface="方正明尚简体" panose="02000000000000000000" charset="-122"/>
                  <a:cs typeface="Montserrat" panose="00000500000000000000" pitchFamily="50" charset="0"/>
                  <a:sym typeface="+mn-ea"/>
                </a:rPr>
                <a:t>多智能体对抗模式</a:t>
              </a:r>
              <a:endParaRPr lang="zh-CN" altLang="en-US" sz="4800" b="1" spc="600" dirty="0" smtClean="0">
                <a:latin typeface="方正明尚简体" panose="02000000000000000000" charset="-122"/>
                <a:ea typeface="方正明尚简体" panose="02000000000000000000" charset="-122"/>
                <a:cs typeface="Montserrat" panose="00000500000000000000" pitchFamily="50" charset="0"/>
                <a:sym typeface="+mn-ea"/>
              </a:endParaRPr>
            </a:p>
          </p:txBody>
        </p:sp>
        <p:sp>
          <p:nvSpPr>
            <p:cNvPr id="25" name="TextBox 12"/>
            <p:cNvSpPr txBox="1"/>
            <p:nvPr/>
          </p:nvSpPr>
          <p:spPr>
            <a:xfrm>
              <a:off x="291" y="799"/>
              <a:ext cx="7856" cy="56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p>
              <a:pPr algn="ctr">
                <a:lnSpc>
                  <a:spcPct val="150000"/>
                </a:lnSpc>
              </a:pPr>
              <a:endParaRPr lang="en-US" baseline="-25000" dirty="0" smtClean="0">
                <a:latin typeface="Dotum" panose="020B0600000101010101" charset="-127"/>
                <a:ea typeface="Dotum" panose="020B0600000101010101" charset="-127"/>
                <a:cs typeface="+mj-lt"/>
              </a:endParaRPr>
            </a:p>
          </p:txBody>
        </p:sp>
      </p:grpSp>
      <p:sp>
        <p:nvSpPr>
          <p:cNvPr id="6" name="文本框 5"/>
          <p:cNvSpPr txBox="1"/>
          <p:nvPr/>
        </p:nvSpPr>
        <p:spPr>
          <a:xfrm>
            <a:off x="997585" y="1541780"/>
            <a:ext cx="10449560" cy="501586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pPr indent="457200">
              <a:buFont typeface="Arial" panose="020B0604020202020204" pitchFamily="34" charset="0"/>
              <a:buNone/>
            </a:pPr>
            <a:r>
              <a:rPr lang="en-US" altLang="zh-CN" sz="2000"/>
              <a:t>2. </a:t>
            </a:r>
            <a:r>
              <a:rPr lang="zh-CN" altLang="en-US" sz="2000"/>
              <a:t>标准的</a:t>
            </a:r>
            <a:r>
              <a:rPr lang="en-US" altLang="zh-CN" sz="2000"/>
              <a:t>“</a:t>
            </a:r>
            <a:r>
              <a:rPr lang="zh-CN" altLang="en-US" sz="2000"/>
              <a:t>三角对抗</a:t>
            </a:r>
            <a:r>
              <a:rPr lang="en-US" altLang="zh-CN" sz="2000"/>
              <a:t>”</a:t>
            </a:r>
            <a:r>
              <a:rPr lang="zh-CN" altLang="en-US" sz="2000"/>
              <a:t>架构</a:t>
            </a:r>
            <a:endParaRPr lang="zh-CN" altLang="en-US" sz="2000"/>
          </a:p>
          <a:p>
            <a:pPr indent="457200">
              <a:buFont typeface="Arial" panose="020B0604020202020204" pitchFamily="34" charset="0"/>
              <a:buNone/>
            </a:pPr>
            <a:r>
              <a:rPr lang="zh-CN" altLang="en-US" sz="2000"/>
              <a:t>最常见的</a:t>
            </a:r>
            <a:r>
              <a:rPr lang="en-US" altLang="zh-CN" sz="2000"/>
              <a:t> Harness </a:t>
            </a:r>
            <a:r>
              <a:rPr lang="zh-CN" altLang="en-US" sz="2000"/>
              <a:t>对抗模式包含三个核心节点（有时被称为</a:t>
            </a:r>
            <a:r>
              <a:rPr lang="en-US" altLang="zh-CN" sz="2000"/>
              <a:t> Planner-Actor-Critic</a:t>
            </a:r>
            <a:r>
              <a:rPr lang="zh-CN" altLang="en-US" sz="2000"/>
              <a:t>）：</a:t>
            </a:r>
            <a:endParaRPr lang="zh-CN" altLang="en-US" sz="2000"/>
          </a:p>
          <a:p>
            <a:pPr indent="457200">
              <a:buFont typeface="Arial" panose="020B0604020202020204" pitchFamily="34" charset="0"/>
              <a:buNone/>
            </a:pPr>
            <a:endParaRPr lang="en-US" altLang="zh-CN" sz="2000"/>
          </a:p>
          <a:p>
            <a:pPr indent="457200">
              <a:buFont typeface="Arial" panose="020B0604020202020204" pitchFamily="34" charset="0"/>
              <a:buNone/>
            </a:pPr>
            <a:r>
              <a:rPr lang="zh-CN" altLang="en-US" sz="2000"/>
              <a:t>计划者</a:t>
            </a:r>
            <a:r>
              <a:rPr lang="en-US" altLang="zh-CN" sz="2000"/>
              <a:t> (Planner)</a:t>
            </a:r>
            <a:r>
              <a:rPr lang="zh-CN" altLang="en-US" sz="2000"/>
              <a:t>：负责将大目标拆解为小任务（例如：编写登录接口、配置数据库）。它只负责发号施令，不碰代码。</a:t>
            </a:r>
            <a:endParaRPr lang="zh-CN" altLang="en-US" sz="2000"/>
          </a:p>
          <a:p>
            <a:pPr indent="457200">
              <a:buFont typeface="Arial" panose="020B0604020202020204" pitchFamily="34" charset="0"/>
              <a:buNone/>
            </a:pPr>
            <a:endParaRPr lang="en-US" altLang="zh-CN" sz="2000"/>
          </a:p>
          <a:p>
            <a:pPr indent="457200">
              <a:buFont typeface="Arial" panose="020B0604020202020204" pitchFamily="34" charset="0"/>
              <a:buNone/>
            </a:pPr>
            <a:r>
              <a:rPr lang="zh-CN" altLang="en-US" sz="2000"/>
              <a:t>生成者</a:t>
            </a:r>
            <a:r>
              <a:rPr lang="en-US" altLang="zh-CN" sz="2000"/>
              <a:t> (Generator)</a:t>
            </a:r>
            <a:r>
              <a:rPr lang="zh-CN" altLang="en-US" sz="2000"/>
              <a:t>：接到单一小任务后，尽全力生成代码或方案。它的目标是</a:t>
            </a:r>
            <a:r>
              <a:rPr lang="en-US" altLang="zh-CN" sz="2000"/>
              <a:t>**“</a:t>
            </a:r>
            <a:r>
              <a:rPr lang="zh-CN" altLang="en-US" sz="2000"/>
              <a:t>尽快提交</a:t>
            </a:r>
            <a:r>
              <a:rPr lang="en-US" altLang="zh-CN" sz="2000"/>
              <a:t>”**</a:t>
            </a:r>
            <a:r>
              <a:rPr lang="zh-CN" altLang="en-US" sz="2000"/>
              <a:t>。</a:t>
            </a:r>
            <a:endParaRPr lang="zh-CN" altLang="en-US" sz="2000"/>
          </a:p>
          <a:p>
            <a:pPr indent="457200">
              <a:buFont typeface="Arial" panose="020B0604020202020204" pitchFamily="34" charset="0"/>
              <a:buNone/>
            </a:pPr>
            <a:endParaRPr lang="en-US" altLang="zh-CN" sz="2000"/>
          </a:p>
          <a:p>
            <a:pPr indent="457200">
              <a:buFont typeface="Arial" panose="020B0604020202020204" pitchFamily="34" charset="0"/>
              <a:buNone/>
            </a:pPr>
            <a:r>
              <a:rPr lang="zh-CN" altLang="en-US" sz="2000"/>
              <a:t>评估者</a:t>
            </a:r>
            <a:r>
              <a:rPr lang="en-US" altLang="zh-CN" sz="2000"/>
              <a:t> (Evaluator)</a:t>
            </a:r>
            <a:r>
              <a:rPr lang="zh-CN" altLang="en-US" sz="2000"/>
              <a:t>：这是对抗模式的灵魂。</a:t>
            </a:r>
            <a:r>
              <a:rPr lang="en-US" altLang="zh-CN" sz="2000"/>
              <a:t>Harness </a:t>
            </a:r>
            <a:r>
              <a:rPr lang="zh-CN" altLang="en-US" sz="2000"/>
              <a:t>会把生成者的产出拦截下来，扔给评估者。</a:t>
            </a:r>
            <a:endParaRPr lang="zh-CN" altLang="en-US" sz="2000"/>
          </a:p>
          <a:p>
            <a:pPr indent="457200">
              <a:buFont typeface="Arial" panose="020B0604020202020204" pitchFamily="34" charset="0"/>
              <a:buNone/>
            </a:pPr>
            <a:endParaRPr lang="en-US" altLang="zh-CN" sz="2000"/>
          </a:p>
          <a:p>
            <a:pPr indent="457200">
              <a:buFont typeface="Arial" panose="020B0604020202020204" pitchFamily="34" charset="0"/>
              <a:buNone/>
            </a:pPr>
            <a:r>
              <a:rPr lang="zh-CN" altLang="en-US" sz="2000"/>
              <a:t>评估者不仅依赖大模型的判断，</a:t>
            </a:r>
            <a:r>
              <a:rPr lang="en-US" altLang="zh-CN" sz="2000"/>
              <a:t>Harness </a:t>
            </a:r>
            <a:r>
              <a:rPr lang="zh-CN" altLang="en-US" sz="2000"/>
              <a:t>还会赋予它</a:t>
            </a:r>
            <a:r>
              <a:rPr lang="en-US" altLang="zh-CN" sz="2000"/>
              <a:t>**“</a:t>
            </a:r>
            <a:r>
              <a:rPr lang="zh-CN" altLang="en-US" sz="2000"/>
              <a:t>沙箱执行权限</a:t>
            </a:r>
            <a:r>
              <a:rPr lang="en-US" altLang="zh-CN" sz="2000"/>
              <a:t>”**</a:t>
            </a:r>
            <a:r>
              <a:rPr lang="zh-CN" altLang="en-US" sz="2000"/>
              <a:t>（比如运行单元测试、</a:t>
            </a:r>
            <a:r>
              <a:rPr lang="en-US" altLang="zh-CN" sz="2000"/>
              <a:t>Lint </a:t>
            </a:r>
            <a:r>
              <a:rPr lang="zh-CN" altLang="en-US" sz="2000"/>
              <a:t>检查）。</a:t>
            </a:r>
            <a:endParaRPr lang="zh-CN" altLang="en-US" sz="2000"/>
          </a:p>
          <a:p>
            <a:pPr indent="457200">
              <a:buFont typeface="Arial" panose="020B0604020202020204" pitchFamily="34" charset="0"/>
              <a:buNone/>
            </a:pPr>
            <a:endParaRPr lang="en-US" altLang="zh-CN" sz="2000"/>
          </a:p>
          <a:p>
            <a:pPr indent="457200">
              <a:buFont typeface="Arial" panose="020B0604020202020204" pitchFamily="34" charset="0"/>
              <a:buNone/>
            </a:pPr>
            <a:r>
              <a:rPr lang="zh-CN" altLang="en-US" sz="2000"/>
              <a:t>它的目标是</a:t>
            </a:r>
            <a:r>
              <a:rPr lang="en-US" altLang="zh-CN" sz="2000"/>
              <a:t>**“</a:t>
            </a:r>
            <a:r>
              <a:rPr lang="zh-CN" altLang="en-US" sz="2000"/>
              <a:t>尽一切可能找</a:t>
            </a:r>
            <a:r>
              <a:rPr lang="en-US" altLang="zh-CN" sz="2000"/>
              <a:t> Bug </a:t>
            </a:r>
            <a:r>
              <a:rPr lang="zh-CN" altLang="en-US" sz="2000"/>
              <a:t>并打回</a:t>
            </a:r>
            <a:r>
              <a:rPr lang="en-US" altLang="zh-CN" sz="2000"/>
              <a:t>”**</a:t>
            </a:r>
            <a:r>
              <a:rPr lang="zh-CN" altLang="en-US" sz="2000"/>
              <a:t>。</a:t>
            </a:r>
            <a:endParaRPr lang="zh-CN" altLang="en-US" sz="2000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0"/>
    </mc:Choice>
    <mc:Fallback>
      <p:transition/>
    </mc:Fallback>
  </mc:AlternateContent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grpSp>
        <p:nvGrpSpPr>
          <p:cNvPr id="2" name="组合 1"/>
          <p:cNvGrpSpPr/>
          <p:nvPr/>
        </p:nvGrpSpPr>
        <p:grpSpPr>
          <a:xfrm>
            <a:off x="-1386840" y="62865"/>
            <a:ext cx="8120380" cy="1326515"/>
            <a:chOff x="-2184" y="-721"/>
            <a:chExt cx="12788" cy="2089"/>
          </a:xfrm>
        </p:grpSpPr>
        <p:sp>
          <p:nvSpPr>
            <p:cNvPr id="3" name="TextBox 8"/>
            <p:cNvSpPr txBox="1"/>
            <p:nvPr/>
          </p:nvSpPr>
          <p:spPr>
            <a:xfrm>
              <a:off x="-2184" y="-721"/>
              <a:ext cx="12788" cy="1598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p>
              <a:pPr algn="ctr"/>
              <a:r>
                <a:rPr lang="en-US" sz="6000" b="1" spc="600" dirty="0" smtClean="0">
                  <a:solidFill>
                    <a:schemeClr val="bg1">
                      <a:lumMod val="95000"/>
                    </a:schemeClr>
                  </a:solidFill>
                  <a:latin typeface="庞门正道标题体" panose="02010600030101010101" charset="-122"/>
                  <a:ea typeface="庞门正道标题体" panose="02010600030101010101" charset="-122"/>
                  <a:cs typeface="Montserrat" panose="00000500000000000000" pitchFamily="50" charset="0"/>
                </a:rPr>
                <a:t>MINIMALIST</a:t>
              </a:r>
              <a:endParaRPr lang="en-US" sz="6000" b="1" spc="600" dirty="0" smtClean="0">
                <a:solidFill>
                  <a:schemeClr val="bg1">
                    <a:lumMod val="95000"/>
                  </a:schemeClr>
                </a:solidFill>
                <a:latin typeface="庞门正道标题体" panose="02010600030101010101" charset="-122"/>
                <a:ea typeface="庞门正道标题体" panose="02010600030101010101" charset="-122"/>
                <a:cs typeface="Montserrat" panose="00000500000000000000" pitchFamily="50" charset="0"/>
              </a:endParaRPr>
            </a:p>
          </p:txBody>
        </p:sp>
        <p:sp>
          <p:nvSpPr>
            <p:cNvPr id="24" name="TextBox 9"/>
            <p:cNvSpPr txBox="1"/>
            <p:nvPr/>
          </p:nvSpPr>
          <p:spPr>
            <a:xfrm>
              <a:off x="-623" y="-94"/>
              <a:ext cx="10932" cy="130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p>
              <a:pPr algn="ctr"/>
              <a:r>
                <a:rPr lang="zh-CN" altLang="en-US" sz="4800" b="1" spc="600" dirty="0" smtClean="0">
                  <a:latin typeface="方正明尚简体" panose="02000000000000000000" charset="-122"/>
                  <a:ea typeface="方正明尚简体" panose="02000000000000000000" charset="-122"/>
                  <a:cs typeface="Montserrat" panose="00000500000000000000" pitchFamily="50" charset="0"/>
                  <a:sym typeface="+mn-ea"/>
                </a:rPr>
                <a:t>多智能体对抗模式</a:t>
              </a:r>
              <a:endParaRPr lang="zh-CN" altLang="en-US" sz="4800" b="1" spc="600" dirty="0" smtClean="0">
                <a:latin typeface="方正明尚简体" panose="02000000000000000000" charset="-122"/>
                <a:ea typeface="方正明尚简体" panose="02000000000000000000" charset="-122"/>
                <a:cs typeface="Montserrat" panose="00000500000000000000" pitchFamily="50" charset="0"/>
                <a:sym typeface="+mn-ea"/>
              </a:endParaRPr>
            </a:p>
          </p:txBody>
        </p:sp>
        <p:sp>
          <p:nvSpPr>
            <p:cNvPr id="25" name="TextBox 12"/>
            <p:cNvSpPr txBox="1"/>
            <p:nvPr/>
          </p:nvSpPr>
          <p:spPr>
            <a:xfrm>
              <a:off x="291" y="799"/>
              <a:ext cx="7856" cy="56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p>
              <a:pPr algn="ctr">
                <a:lnSpc>
                  <a:spcPct val="150000"/>
                </a:lnSpc>
              </a:pPr>
              <a:endParaRPr lang="en-US" baseline="-25000" dirty="0" smtClean="0">
                <a:latin typeface="Dotum" panose="020B0600000101010101" charset="-127"/>
                <a:ea typeface="Dotum" panose="020B0600000101010101" charset="-127"/>
                <a:cs typeface="+mj-lt"/>
              </a:endParaRPr>
            </a:p>
          </p:txBody>
        </p:sp>
      </p:grpSp>
      <p:sp>
        <p:nvSpPr>
          <p:cNvPr id="6" name="文本框 5"/>
          <p:cNvSpPr txBox="1"/>
          <p:nvPr/>
        </p:nvSpPr>
        <p:spPr>
          <a:xfrm>
            <a:off x="997585" y="1541780"/>
            <a:ext cx="10449560" cy="255333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pPr indent="457200">
              <a:buFont typeface="Arial" panose="020B0604020202020204" pitchFamily="34" charset="0"/>
              <a:buNone/>
            </a:pPr>
            <a:r>
              <a:rPr lang="en-US" altLang="zh-CN" sz="2000"/>
              <a:t>3. Harness</a:t>
            </a:r>
            <a:r>
              <a:rPr lang="zh-CN" altLang="en-US" sz="2000"/>
              <a:t>在其中的作用</a:t>
            </a:r>
            <a:endParaRPr lang="zh-CN" altLang="en-US" sz="2000"/>
          </a:p>
          <a:p>
            <a:pPr indent="457200">
              <a:buFont typeface="Arial" panose="020B0604020202020204" pitchFamily="34" charset="0"/>
              <a:buNone/>
            </a:pPr>
            <a:r>
              <a:rPr lang="zh-CN" altLang="en-US" sz="2000"/>
              <a:t>大模型自己是无法完成这种循环的。</a:t>
            </a:r>
            <a:r>
              <a:rPr lang="en-US" altLang="zh-CN" sz="2000"/>
              <a:t>Harness </a:t>
            </a:r>
            <a:r>
              <a:rPr lang="zh-CN" altLang="en-US" sz="2000"/>
              <a:t>是那个无情的</a:t>
            </a:r>
            <a:r>
              <a:rPr lang="en-US" altLang="zh-CN" sz="2000"/>
              <a:t>“</a:t>
            </a:r>
            <a:r>
              <a:rPr lang="zh-CN" altLang="en-US" sz="2000"/>
              <a:t>裁判</a:t>
            </a:r>
            <a:r>
              <a:rPr lang="en-US" altLang="zh-CN" sz="2000"/>
              <a:t>”</a:t>
            </a:r>
            <a:r>
              <a:rPr lang="zh-CN" altLang="en-US" sz="2000"/>
              <a:t>和</a:t>
            </a:r>
            <a:r>
              <a:rPr lang="en-US" altLang="zh-CN" sz="2000"/>
              <a:t>“</a:t>
            </a:r>
            <a:r>
              <a:rPr lang="zh-CN" altLang="en-US" sz="2000"/>
              <a:t>快递员</a:t>
            </a:r>
            <a:r>
              <a:rPr lang="en-US" altLang="zh-CN" sz="2000"/>
              <a:t>”</a:t>
            </a:r>
            <a:r>
              <a:rPr lang="zh-CN" altLang="en-US" sz="2000"/>
              <a:t>。</a:t>
            </a:r>
            <a:endParaRPr lang="zh-CN" altLang="en-US" sz="2000"/>
          </a:p>
          <a:p>
            <a:pPr indent="457200">
              <a:buFont typeface="Arial" panose="020B0604020202020204" pitchFamily="34" charset="0"/>
              <a:buNone/>
            </a:pPr>
            <a:endParaRPr lang="en-US" altLang="zh-CN" sz="2000"/>
          </a:p>
          <a:p>
            <a:pPr indent="457200">
              <a:buFont typeface="Arial" panose="020B0604020202020204" pitchFamily="34" charset="0"/>
              <a:buNone/>
            </a:pPr>
            <a:r>
              <a:rPr lang="zh-CN" altLang="en-US" sz="2000"/>
              <a:t>如果评估者说</a:t>
            </a:r>
            <a:r>
              <a:rPr lang="en-US" altLang="zh-CN" sz="2000"/>
              <a:t>“</a:t>
            </a:r>
            <a:r>
              <a:rPr lang="zh-CN" altLang="en-US" sz="2000"/>
              <a:t>不合格，这里有内存泄漏</a:t>
            </a:r>
            <a:r>
              <a:rPr lang="en-US" altLang="zh-CN" sz="2000"/>
              <a:t>”</a:t>
            </a:r>
            <a:r>
              <a:rPr lang="zh-CN" altLang="en-US" sz="2000"/>
              <a:t>，</a:t>
            </a:r>
            <a:r>
              <a:rPr lang="en-US" altLang="zh-CN" sz="2000"/>
              <a:t>Harness </a:t>
            </a:r>
            <a:r>
              <a:rPr lang="zh-CN" altLang="en-US" sz="2000"/>
              <a:t>就会把这句冷酷的评语加上红色的</a:t>
            </a:r>
            <a:r>
              <a:rPr lang="en-US" altLang="zh-CN" sz="2000"/>
              <a:t> Error Log</a:t>
            </a:r>
            <a:r>
              <a:rPr lang="zh-CN" altLang="en-US" sz="2000"/>
              <a:t>，强行塞回给生成者的上下文中，触发重试循环。</a:t>
            </a:r>
            <a:endParaRPr lang="zh-CN" altLang="en-US" sz="2000"/>
          </a:p>
          <a:p>
            <a:pPr indent="457200">
              <a:buFont typeface="Arial" panose="020B0604020202020204" pitchFamily="34" charset="0"/>
              <a:buNone/>
            </a:pPr>
            <a:endParaRPr lang="en-US" altLang="zh-CN" sz="2000"/>
          </a:p>
          <a:p>
            <a:pPr indent="457200">
              <a:buFont typeface="Arial" panose="020B0604020202020204" pitchFamily="34" charset="0"/>
              <a:buNone/>
            </a:pPr>
            <a:r>
              <a:rPr lang="en-US" altLang="zh-CN" sz="2000"/>
              <a:t>Harness </a:t>
            </a:r>
            <a:r>
              <a:rPr lang="zh-CN" altLang="en-US" sz="2000"/>
              <a:t>会设定最大重试次数（</a:t>
            </a:r>
            <a:r>
              <a:rPr lang="en-US" altLang="zh-CN" sz="2000"/>
              <a:t>Max Retries</a:t>
            </a:r>
            <a:r>
              <a:rPr lang="zh-CN" altLang="en-US" sz="2000"/>
              <a:t>）。如果生成者和评估者互相拉扯超过</a:t>
            </a:r>
            <a:r>
              <a:rPr lang="en-US" altLang="zh-CN" sz="2000"/>
              <a:t> 10 </a:t>
            </a:r>
            <a:r>
              <a:rPr lang="zh-CN" altLang="en-US" sz="2000"/>
              <a:t>次还未解决，</a:t>
            </a:r>
            <a:r>
              <a:rPr lang="en-US" altLang="zh-CN" sz="2000"/>
              <a:t>Harness </a:t>
            </a:r>
            <a:r>
              <a:rPr lang="zh-CN" altLang="en-US" sz="2000"/>
              <a:t>会打破死锁，触发</a:t>
            </a:r>
            <a:r>
              <a:rPr lang="en-US" altLang="zh-CN" sz="2000"/>
              <a:t>“</a:t>
            </a:r>
            <a:r>
              <a:rPr lang="zh-CN" altLang="en-US" sz="2000"/>
              <a:t>呼叫人类（</a:t>
            </a:r>
            <a:r>
              <a:rPr lang="en-US" altLang="zh-CN" sz="2000"/>
              <a:t>Human-in-the-loop</a:t>
            </a:r>
            <a:r>
              <a:rPr lang="zh-CN" altLang="en-US" sz="2000"/>
              <a:t>）</a:t>
            </a:r>
            <a:r>
              <a:rPr lang="en-US" altLang="zh-CN" sz="2000"/>
              <a:t>”</a:t>
            </a:r>
            <a:r>
              <a:rPr lang="zh-CN" altLang="en-US" sz="2000"/>
              <a:t>协议。</a:t>
            </a:r>
            <a:endParaRPr lang="zh-CN" altLang="en-US" sz="2000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0"/>
    </mc:Choice>
    <mc:Fallback>
      <p:transition/>
    </mc:Fallback>
  </mc:AlternateContent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grpSp>
        <p:nvGrpSpPr>
          <p:cNvPr id="2" name="组合 1"/>
          <p:cNvGrpSpPr/>
          <p:nvPr/>
        </p:nvGrpSpPr>
        <p:grpSpPr>
          <a:xfrm>
            <a:off x="-1386840" y="62865"/>
            <a:ext cx="8237855" cy="1326515"/>
            <a:chOff x="-2184" y="-721"/>
            <a:chExt cx="12973" cy="2089"/>
          </a:xfrm>
        </p:grpSpPr>
        <p:sp>
          <p:nvSpPr>
            <p:cNvPr id="3" name="TextBox 8"/>
            <p:cNvSpPr txBox="1"/>
            <p:nvPr/>
          </p:nvSpPr>
          <p:spPr>
            <a:xfrm>
              <a:off x="-2184" y="-721"/>
              <a:ext cx="12788" cy="1598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p>
              <a:pPr algn="ctr"/>
              <a:r>
                <a:rPr lang="en-US" sz="6000" b="1" spc="600" dirty="0" smtClean="0">
                  <a:solidFill>
                    <a:schemeClr val="bg1">
                      <a:lumMod val="95000"/>
                    </a:schemeClr>
                  </a:solidFill>
                  <a:latin typeface="庞门正道标题体" panose="02010600030101010101" charset="-122"/>
                  <a:ea typeface="庞门正道标题体" panose="02010600030101010101" charset="-122"/>
                  <a:cs typeface="Montserrat" panose="00000500000000000000" pitchFamily="50" charset="0"/>
                </a:rPr>
                <a:t>MINIMALIST</a:t>
              </a:r>
              <a:endParaRPr lang="en-US" sz="6000" b="1" spc="600" dirty="0" smtClean="0">
                <a:solidFill>
                  <a:schemeClr val="bg1">
                    <a:lumMod val="95000"/>
                  </a:schemeClr>
                </a:solidFill>
                <a:latin typeface="庞门正道标题体" panose="02010600030101010101" charset="-122"/>
                <a:ea typeface="庞门正道标题体" panose="02010600030101010101" charset="-122"/>
                <a:cs typeface="Montserrat" panose="00000500000000000000" pitchFamily="50" charset="0"/>
              </a:endParaRPr>
            </a:p>
          </p:txBody>
        </p:sp>
        <p:sp>
          <p:nvSpPr>
            <p:cNvPr id="24" name="TextBox 9"/>
            <p:cNvSpPr txBox="1"/>
            <p:nvPr/>
          </p:nvSpPr>
          <p:spPr>
            <a:xfrm>
              <a:off x="-143" y="-94"/>
              <a:ext cx="10932" cy="130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p>
              <a:pPr algn="ctr"/>
              <a:r>
                <a:rPr lang="zh-CN" altLang="en-US" sz="4800" b="1" spc="600" dirty="0" smtClean="0">
                  <a:latin typeface="方正明尚简体" panose="02000000000000000000" charset="-122"/>
                  <a:ea typeface="方正明尚简体" panose="02000000000000000000" charset="-122"/>
                  <a:cs typeface="Montserrat" panose="00000500000000000000" pitchFamily="50" charset="0"/>
                  <a:sym typeface="+mn-ea"/>
                </a:rPr>
                <a:t>边界约束与验证闭环</a:t>
              </a:r>
              <a:endParaRPr lang="zh-CN" altLang="en-US" sz="4800" b="1" spc="600" dirty="0" smtClean="0">
                <a:latin typeface="方正明尚简体" panose="02000000000000000000" charset="-122"/>
                <a:ea typeface="方正明尚简体" panose="02000000000000000000" charset="-122"/>
                <a:cs typeface="Montserrat" panose="00000500000000000000" pitchFamily="50" charset="0"/>
                <a:sym typeface="+mn-ea"/>
              </a:endParaRPr>
            </a:p>
          </p:txBody>
        </p:sp>
        <p:sp>
          <p:nvSpPr>
            <p:cNvPr id="25" name="TextBox 12"/>
            <p:cNvSpPr txBox="1"/>
            <p:nvPr/>
          </p:nvSpPr>
          <p:spPr>
            <a:xfrm>
              <a:off x="291" y="799"/>
              <a:ext cx="7856" cy="56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p>
              <a:pPr algn="ctr">
                <a:lnSpc>
                  <a:spcPct val="150000"/>
                </a:lnSpc>
              </a:pPr>
              <a:endParaRPr lang="en-US" baseline="-25000" dirty="0" smtClean="0">
                <a:latin typeface="Dotum" panose="020B0600000101010101" charset="-127"/>
                <a:ea typeface="Dotum" panose="020B0600000101010101" charset="-127"/>
                <a:cs typeface="+mj-lt"/>
              </a:endParaRPr>
            </a:p>
          </p:txBody>
        </p:sp>
      </p:grpSp>
      <p:sp>
        <p:nvSpPr>
          <p:cNvPr id="6" name="文本框 5"/>
          <p:cNvSpPr txBox="1"/>
          <p:nvPr/>
        </p:nvSpPr>
        <p:spPr>
          <a:xfrm>
            <a:off x="997585" y="1541780"/>
            <a:ext cx="10449560" cy="316928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pPr indent="457200">
              <a:buFont typeface="Arial" panose="020B0604020202020204" pitchFamily="34" charset="0"/>
              <a:buNone/>
            </a:pPr>
            <a:r>
              <a:rPr lang="zh-CN" altLang="en-US" sz="2000" b="1"/>
              <a:t>痛点：没有物理护栏的智能体容易破坏现有代码结构，或者在错误的路径上无限循环。</a:t>
            </a:r>
            <a:endParaRPr lang="zh-CN" altLang="en-US" sz="2000" b="1"/>
          </a:p>
          <a:p>
            <a:pPr indent="457200">
              <a:buFont typeface="Arial" panose="020B0604020202020204" pitchFamily="34" charset="0"/>
              <a:buNone/>
            </a:pPr>
            <a:endParaRPr lang="en-US" altLang="zh-CN" sz="2000"/>
          </a:p>
          <a:p>
            <a:pPr indent="457200">
              <a:buFont typeface="Arial" panose="020B0604020202020204" pitchFamily="34" charset="0"/>
              <a:buNone/>
            </a:pPr>
            <a:r>
              <a:rPr lang="en-US" altLang="zh-CN" sz="2000"/>
              <a:t>Harness </a:t>
            </a:r>
            <a:r>
              <a:rPr lang="zh-CN" altLang="en-US" sz="2000"/>
              <a:t>要点：</a:t>
            </a:r>
            <a:endParaRPr lang="zh-CN" altLang="en-US" sz="2000"/>
          </a:p>
          <a:p>
            <a:pPr indent="457200">
              <a:buFont typeface="Arial" panose="020B0604020202020204" pitchFamily="34" charset="0"/>
              <a:buNone/>
            </a:pPr>
            <a:endParaRPr lang="en-US" altLang="zh-CN" sz="2000"/>
          </a:p>
          <a:p>
            <a:pPr indent="457200">
              <a:buFont typeface="Arial" panose="020B0604020202020204" pitchFamily="34" charset="0"/>
              <a:buNone/>
            </a:pPr>
            <a:r>
              <a:rPr lang="zh-CN" altLang="en-US" sz="2000"/>
              <a:t>构建强类型的验证门控：</a:t>
            </a:r>
            <a:r>
              <a:rPr lang="en-US" altLang="zh-CN" sz="2000"/>
              <a:t>Harness </a:t>
            </a:r>
            <a:r>
              <a:rPr lang="zh-CN" altLang="en-US" sz="2000"/>
              <a:t>会在智能体提交结果前，自动挂载</a:t>
            </a:r>
            <a:r>
              <a:rPr lang="en-US" altLang="zh-CN" sz="2000"/>
              <a:t> Linter</a:t>
            </a:r>
            <a:r>
              <a:rPr lang="zh-CN" altLang="en-US" sz="2000"/>
              <a:t>（代码检查工具）、类型检查器和单元测试。</a:t>
            </a:r>
            <a:endParaRPr lang="zh-CN" altLang="en-US" sz="2000"/>
          </a:p>
          <a:p>
            <a:pPr indent="457200">
              <a:buFont typeface="Arial" panose="020B0604020202020204" pitchFamily="34" charset="0"/>
              <a:buNone/>
            </a:pPr>
            <a:endParaRPr lang="en-US" altLang="zh-CN" sz="2000"/>
          </a:p>
          <a:p>
            <a:pPr indent="457200">
              <a:buFont typeface="Arial" panose="020B0604020202020204" pitchFamily="34" charset="0"/>
              <a:buNone/>
            </a:pPr>
            <a:r>
              <a:rPr lang="zh-CN" altLang="en-US" sz="2000"/>
              <a:t>死锁打破机制：如果在编译器级别报错，</a:t>
            </a:r>
            <a:r>
              <a:rPr lang="en-US" altLang="zh-CN" sz="2000"/>
              <a:t>Harness </a:t>
            </a:r>
            <a:r>
              <a:rPr lang="zh-CN" altLang="en-US" sz="2000"/>
              <a:t>会自动抓取错误日志并强行塞回给智能体，强迫其继续工作直至解决报错（即自动化闭环），避免让人类工程师去复制粘贴</a:t>
            </a:r>
            <a:r>
              <a:rPr lang="en-US" altLang="zh-CN" sz="2000"/>
              <a:t> CLI </a:t>
            </a:r>
            <a:r>
              <a:rPr lang="zh-CN" altLang="en-US" sz="2000"/>
              <a:t>的报错信息。</a:t>
            </a:r>
            <a:endParaRPr lang="zh-CN" altLang="en-US" sz="2000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0"/>
    </mc:Choice>
    <mc:Fallback>
      <p:transition/>
    </mc:Fallback>
  </mc:AlternateContent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grpSp>
        <p:nvGrpSpPr>
          <p:cNvPr id="2" name="组合 1"/>
          <p:cNvGrpSpPr/>
          <p:nvPr/>
        </p:nvGrpSpPr>
        <p:grpSpPr>
          <a:xfrm>
            <a:off x="-1386840" y="62865"/>
            <a:ext cx="8237855" cy="1326515"/>
            <a:chOff x="-2184" y="-721"/>
            <a:chExt cx="12973" cy="2089"/>
          </a:xfrm>
        </p:grpSpPr>
        <p:sp>
          <p:nvSpPr>
            <p:cNvPr id="3" name="TextBox 8"/>
            <p:cNvSpPr txBox="1"/>
            <p:nvPr/>
          </p:nvSpPr>
          <p:spPr>
            <a:xfrm>
              <a:off x="-2184" y="-721"/>
              <a:ext cx="12788" cy="1598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p>
              <a:pPr algn="ctr"/>
              <a:r>
                <a:rPr lang="en-US" sz="6000" b="1" spc="600" dirty="0" smtClean="0">
                  <a:solidFill>
                    <a:schemeClr val="bg1">
                      <a:lumMod val="95000"/>
                    </a:schemeClr>
                  </a:solidFill>
                  <a:latin typeface="庞门正道标题体" panose="02010600030101010101" charset="-122"/>
                  <a:ea typeface="庞门正道标题体" panose="02010600030101010101" charset="-122"/>
                  <a:cs typeface="Montserrat" panose="00000500000000000000" pitchFamily="50" charset="0"/>
                </a:rPr>
                <a:t>MINIMALIST</a:t>
              </a:r>
              <a:endParaRPr lang="en-US" sz="6000" b="1" spc="600" dirty="0" smtClean="0">
                <a:solidFill>
                  <a:schemeClr val="bg1">
                    <a:lumMod val="95000"/>
                  </a:schemeClr>
                </a:solidFill>
                <a:latin typeface="庞门正道标题体" panose="02010600030101010101" charset="-122"/>
                <a:ea typeface="庞门正道标题体" panose="02010600030101010101" charset="-122"/>
                <a:cs typeface="Montserrat" panose="00000500000000000000" pitchFamily="50" charset="0"/>
              </a:endParaRPr>
            </a:p>
          </p:txBody>
        </p:sp>
        <p:sp>
          <p:nvSpPr>
            <p:cNvPr id="24" name="TextBox 9"/>
            <p:cNvSpPr txBox="1"/>
            <p:nvPr/>
          </p:nvSpPr>
          <p:spPr>
            <a:xfrm>
              <a:off x="-143" y="-94"/>
              <a:ext cx="10932" cy="130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p>
              <a:pPr algn="ctr"/>
              <a:r>
                <a:rPr lang="zh-CN" altLang="en-US" sz="4800" b="1" spc="600" dirty="0" smtClean="0">
                  <a:latin typeface="方正明尚简体" panose="02000000000000000000" charset="-122"/>
                  <a:ea typeface="方正明尚简体" panose="02000000000000000000" charset="-122"/>
                  <a:cs typeface="Montserrat" panose="00000500000000000000" pitchFamily="50" charset="0"/>
                  <a:sym typeface="+mn-ea"/>
                </a:rPr>
                <a:t>边界约束与验证闭环</a:t>
              </a:r>
              <a:endParaRPr lang="zh-CN" altLang="en-US" sz="4800" b="1" spc="600" dirty="0" smtClean="0">
                <a:latin typeface="方正明尚简体" panose="02000000000000000000" charset="-122"/>
                <a:ea typeface="方正明尚简体" panose="02000000000000000000" charset="-122"/>
                <a:cs typeface="Montserrat" panose="00000500000000000000" pitchFamily="50" charset="0"/>
                <a:sym typeface="+mn-ea"/>
              </a:endParaRPr>
            </a:p>
          </p:txBody>
        </p:sp>
        <p:sp>
          <p:nvSpPr>
            <p:cNvPr id="25" name="TextBox 12"/>
            <p:cNvSpPr txBox="1"/>
            <p:nvPr/>
          </p:nvSpPr>
          <p:spPr>
            <a:xfrm>
              <a:off x="291" y="799"/>
              <a:ext cx="7856" cy="56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p>
              <a:pPr algn="ctr">
                <a:lnSpc>
                  <a:spcPct val="150000"/>
                </a:lnSpc>
              </a:pPr>
              <a:endParaRPr lang="en-US" baseline="-25000" dirty="0" smtClean="0">
                <a:latin typeface="Dotum" panose="020B0600000101010101" charset="-127"/>
                <a:ea typeface="Dotum" panose="020B0600000101010101" charset="-127"/>
                <a:cs typeface="+mj-lt"/>
              </a:endParaRPr>
            </a:p>
          </p:txBody>
        </p:sp>
      </p:grpSp>
      <p:sp>
        <p:nvSpPr>
          <p:cNvPr id="6" name="文本框 5"/>
          <p:cNvSpPr txBox="1"/>
          <p:nvPr/>
        </p:nvSpPr>
        <p:spPr>
          <a:xfrm>
            <a:off x="608965" y="1607820"/>
            <a:ext cx="6418580" cy="316928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pPr indent="457200">
              <a:buFont typeface="Arial" panose="020B0604020202020204" pitchFamily="34" charset="0"/>
              <a:buNone/>
            </a:pPr>
            <a:r>
              <a:rPr lang="en-US" altLang="zh-CN" sz="2000"/>
              <a:t>1</a:t>
            </a:r>
            <a:r>
              <a:rPr lang="zh-CN" altLang="en-US" sz="2000"/>
              <a:t>、资源与环境的沙箱化</a:t>
            </a:r>
            <a:r>
              <a:rPr lang="en-US" altLang="zh-CN" sz="2000"/>
              <a:t> (Sandboxing)</a:t>
            </a:r>
            <a:endParaRPr lang="en-US" altLang="zh-CN" sz="2000"/>
          </a:p>
          <a:p>
            <a:pPr indent="457200">
              <a:buFont typeface="Arial" panose="020B0604020202020204" pitchFamily="34" charset="0"/>
              <a:buNone/>
            </a:pPr>
            <a:endParaRPr lang="en-US" altLang="zh-CN" sz="2000"/>
          </a:p>
          <a:p>
            <a:pPr indent="457200">
              <a:buFont typeface="Arial" panose="020B0604020202020204" pitchFamily="34" charset="0"/>
              <a:buNone/>
            </a:pPr>
            <a:r>
              <a:rPr lang="zh-CN" altLang="en-US" sz="2000"/>
              <a:t>概念：模型生成的代码绝不能在宿主机的真实环境中运行。</a:t>
            </a:r>
            <a:endParaRPr lang="zh-CN" altLang="en-US" sz="2000"/>
          </a:p>
          <a:p>
            <a:pPr indent="457200">
              <a:buFont typeface="Arial" panose="020B0604020202020204" pitchFamily="34" charset="0"/>
              <a:buNone/>
            </a:pPr>
            <a:endParaRPr lang="en-US" altLang="zh-CN" sz="2000"/>
          </a:p>
          <a:p>
            <a:pPr indent="457200">
              <a:buFont typeface="Arial" panose="020B0604020202020204" pitchFamily="34" charset="0"/>
              <a:buNone/>
            </a:pPr>
            <a:r>
              <a:rPr lang="en-US" altLang="zh-CN" sz="2000"/>
              <a:t>Harness </a:t>
            </a:r>
            <a:r>
              <a:rPr lang="zh-CN" altLang="en-US" sz="2000"/>
              <a:t>实践：</a:t>
            </a:r>
            <a:r>
              <a:rPr lang="en-US" altLang="zh-CN" sz="2000"/>
              <a:t>Harness Engineer </a:t>
            </a:r>
            <a:r>
              <a:rPr lang="zh-CN" altLang="en-US" sz="2000"/>
              <a:t>会使用</a:t>
            </a:r>
            <a:r>
              <a:rPr lang="en-US" altLang="zh-CN" sz="2000"/>
              <a:t> Docker </a:t>
            </a:r>
            <a:r>
              <a:rPr lang="zh-CN" altLang="en-US" sz="2000"/>
              <a:t>容器或轻量级虚拟机（如</a:t>
            </a:r>
            <a:r>
              <a:rPr lang="en-US" altLang="zh-CN" sz="2000"/>
              <a:t> Firecracker</a:t>
            </a:r>
            <a:r>
              <a:rPr lang="zh-CN" altLang="en-US" sz="2000"/>
              <a:t>）作为</a:t>
            </a:r>
            <a:r>
              <a:rPr lang="en-US" altLang="zh-CN" sz="2000"/>
              <a:t>“</a:t>
            </a:r>
            <a:r>
              <a:rPr lang="zh-CN" altLang="en-US" sz="2000"/>
              <a:t>运行舱</a:t>
            </a:r>
            <a:r>
              <a:rPr lang="en-US" altLang="zh-CN" sz="2000"/>
              <a:t>”</a:t>
            </a:r>
            <a:r>
              <a:rPr lang="zh-CN" altLang="en-US" sz="2000"/>
              <a:t>。模型被赋予一个一次性的、与外网断开（或仅限白名单域名）的环境。就算模型发疯写了一段挖矿代码或勒索病毒，它也只能在几秒钟后随着沙箱的销毁而灰飞烟灭。</a:t>
            </a:r>
            <a:endParaRPr lang="zh-CN" altLang="en-US" sz="2000"/>
          </a:p>
        </p:txBody>
      </p:sp>
      <p:pic>
        <p:nvPicPr>
          <p:cNvPr id="4" name="图片 3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536180" y="1442720"/>
            <a:ext cx="3781425" cy="3149600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0"/>
    </mc:Choice>
    <mc:Fallback>
      <p:transition/>
    </mc:Fallback>
  </mc:AlternateContent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grpSp>
        <p:nvGrpSpPr>
          <p:cNvPr id="2" name="组合 1"/>
          <p:cNvGrpSpPr/>
          <p:nvPr/>
        </p:nvGrpSpPr>
        <p:grpSpPr>
          <a:xfrm>
            <a:off x="-1386840" y="62865"/>
            <a:ext cx="8237855" cy="1326515"/>
            <a:chOff x="-2184" y="-721"/>
            <a:chExt cx="12973" cy="2089"/>
          </a:xfrm>
        </p:grpSpPr>
        <p:sp>
          <p:nvSpPr>
            <p:cNvPr id="3" name="TextBox 8"/>
            <p:cNvSpPr txBox="1"/>
            <p:nvPr/>
          </p:nvSpPr>
          <p:spPr>
            <a:xfrm>
              <a:off x="-2184" y="-721"/>
              <a:ext cx="12788" cy="1598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p>
              <a:pPr algn="ctr"/>
              <a:r>
                <a:rPr lang="en-US" sz="6000" b="1" spc="600" dirty="0" smtClean="0">
                  <a:solidFill>
                    <a:schemeClr val="bg1">
                      <a:lumMod val="95000"/>
                    </a:schemeClr>
                  </a:solidFill>
                  <a:latin typeface="庞门正道标题体" panose="02010600030101010101" charset="-122"/>
                  <a:ea typeface="庞门正道标题体" panose="02010600030101010101" charset="-122"/>
                  <a:cs typeface="Montserrat" panose="00000500000000000000" pitchFamily="50" charset="0"/>
                </a:rPr>
                <a:t>MINIMALIST</a:t>
              </a:r>
              <a:endParaRPr lang="en-US" sz="6000" b="1" spc="600" dirty="0" smtClean="0">
                <a:solidFill>
                  <a:schemeClr val="bg1">
                    <a:lumMod val="95000"/>
                  </a:schemeClr>
                </a:solidFill>
                <a:latin typeface="庞门正道标题体" panose="02010600030101010101" charset="-122"/>
                <a:ea typeface="庞门正道标题体" panose="02010600030101010101" charset="-122"/>
                <a:cs typeface="Montserrat" panose="00000500000000000000" pitchFamily="50" charset="0"/>
              </a:endParaRPr>
            </a:p>
          </p:txBody>
        </p:sp>
        <p:sp>
          <p:nvSpPr>
            <p:cNvPr id="24" name="TextBox 9"/>
            <p:cNvSpPr txBox="1"/>
            <p:nvPr/>
          </p:nvSpPr>
          <p:spPr>
            <a:xfrm>
              <a:off x="-143" y="-94"/>
              <a:ext cx="10932" cy="130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p>
              <a:pPr algn="ctr"/>
              <a:r>
                <a:rPr lang="zh-CN" altLang="en-US" sz="4800" b="1" spc="600" dirty="0" smtClean="0">
                  <a:latin typeface="方正明尚简体" panose="02000000000000000000" charset="-122"/>
                  <a:ea typeface="方正明尚简体" panose="02000000000000000000" charset="-122"/>
                  <a:cs typeface="Montserrat" panose="00000500000000000000" pitchFamily="50" charset="0"/>
                  <a:sym typeface="+mn-ea"/>
                </a:rPr>
                <a:t>边界约束与验证闭环</a:t>
              </a:r>
              <a:endParaRPr lang="zh-CN" altLang="en-US" sz="4800" b="1" spc="600" dirty="0" smtClean="0">
                <a:latin typeface="方正明尚简体" panose="02000000000000000000" charset="-122"/>
                <a:ea typeface="方正明尚简体" panose="02000000000000000000" charset="-122"/>
                <a:cs typeface="Montserrat" panose="00000500000000000000" pitchFamily="50" charset="0"/>
                <a:sym typeface="+mn-ea"/>
              </a:endParaRPr>
            </a:p>
          </p:txBody>
        </p:sp>
        <p:sp>
          <p:nvSpPr>
            <p:cNvPr id="25" name="TextBox 12"/>
            <p:cNvSpPr txBox="1"/>
            <p:nvPr/>
          </p:nvSpPr>
          <p:spPr>
            <a:xfrm>
              <a:off x="291" y="799"/>
              <a:ext cx="7856" cy="56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p>
              <a:pPr algn="ctr">
                <a:lnSpc>
                  <a:spcPct val="150000"/>
                </a:lnSpc>
              </a:pPr>
              <a:endParaRPr lang="en-US" baseline="-25000" dirty="0" smtClean="0">
                <a:latin typeface="Dotum" panose="020B0600000101010101" charset="-127"/>
                <a:ea typeface="Dotum" panose="020B0600000101010101" charset="-127"/>
                <a:cs typeface="+mj-lt"/>
              </a:endParaRPr>
            </a:p>
          </p:txBody>
        </p:sp>
      </p:grpSp>
      <p:sp>
        <p:nvSpPr>
          <p:cNvPr id="6" name="文本框 5"/>
          <p:cNvSpPr txBox="1"/>
          <p:nvPr/>
        </p:nvSpPr>
        <p:spPr>
          <a:xfrm>
            <a:off x="608965" y="1607820"/>
            <a:ext cx="6418580" cy="316928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pPr indent="457200">
              <a:buFont typeface="Arial" panose="020B0604020202020204" pitchFamily="34" charset="0"/>
              <a:buNone/>
            </a:pPr>
            <a:r>
              <a:rPr lang="en-US" altLang="zh-CN" sz="2000"/>
              <a:t>2</a:t>
            </a:r>
            <a:r>
              <a:rPr lang="zh-CN" altLang="en-US" sz="2000"/>
              <a:t>、权限控制</a:t>
            </a:r>
            <a:r>
              <a:rPr lang="en-US" altLang="zh-CN" sz="2000"/>
              <a:t> (IAM Role Restriction)</a:t>
            </a:r>
            <a:endParaRPr lang="en-US" altLang="zh-CN" sz="2000"/>
          </a:p>
          <a:p>
            <a:pPr indent="457200">
              <a:buFont typeface="Arial" panose="020B0604020202020204" pitchFamily="34" charset="0"/>
              <a:buNone/>
            </a:pPr>
            <a:endParaRPr lang="en-US" altLang="zh-CN" sz="2000"/>
          </a:p>
          <a:p>
            <a:pPr indent="457200">
              <a:buFont typeface="Arial" panose="020B0604020202020204" pitchFamily="34" charset="0"/>
              <a:buNone/>
            </a:pPr>
            <a:r>
              <a:rPr lang="zh-CN" altLang="en-US" sz="2000"/>
              <a:t>概念：不仅是网络和文件，工具调用的权限也必须被降维。</a:t>
            </a:r>
            <a:endParaRPr lang="zh-CN" altLang="en-US" sz="2000"/>
          </a:p>
          <a:p>
            <a:pPr indent="457200">
              <a:buFont typeface="Arial" panose="020B0604020202020204" pitchFamily="34" charset="0"/>
              <a:buNone/>
            </a:pPr>
            <a:endParaRPr lang="en-US" altLang="zh-CN" sz="2000"/>
          </a:p>
          <a:p>
            <a:pPr indent="457200">
              <a:buFont typeface="Arial" panose="020B0604020202020204" pitchFamily="34" charset="0"/>
              <a:buNone/>
            </a:pPr>
            <a:r>
              <a:rPr lang="en-US" altLang="zh-CN" sz="2000"/>
              <a:t>Harness </a:t>
            </a:r>
            <a:r>
              <a:rPr lang="zh-CN" altLang="en-US" sz="2000"/>
              <a:t>实践：如果模型需要查询数据库，</a:t>
            </a:r>
            <a:r>
              <a:rPr lang="en-US" altLang="zh-CN" sz="2000"/>
              <a:t>Harness </a:t>
            </a:r>
            <a:r>
              <a:rPr lang="zh-CN" altLang="en-US" sz="2000"/>
              <a:t>提供的绝不是具有</a:t>
            </a:r>
            <a:r>
              <a:rPr lang="en-US" altLang="zh-CN" sz="2000"/>
              <a:t> DROP TABLE </a:t>
            </a:r>
            <a:r>
              <a:rPr lang="zh-CN" altLang="en-US" sz="2000"/>
              <a:t>权限的</a:t>
            </a:r>
            <a:r>
              <a:rPr lang="en-US" altLang="zh-CN" sz="2000"/>
              <a:t> Root </a:t>
            </a:r>
            <a:r>
              <a:rPr lang="zh-CN" altLang="en-US" sz="2000"/>
              <a:t>账号，而是一个被极其严格限制了</a:t>
            </a:r>
            <a:r>
              <a:rPr lang="en-US" altLang="zh-CN" sz="2000"/>
              <a:t> SELECT </a:t>
            </a:r>
            <a:r>
              <a:rPr lang="zh-CN" altLang="en-US" sz="2000"/>
              <a:t>范围的只读权限。当模型尝试越权时，数据库层面的拒绝（</a:t>
            </a:r>
            <a:r>
              <a:rPr lang="en-US" altLang="zh-CN" sz="2000"/>
              <a:t>Access Denied</a:t>
            </a:r>
            <a:r>
              <a:rPr lang="zh-CN" altLang="en-US" sz="2000"/>
              <a:t>）就是最坚固的边界。</a:t>
            </a:r>
            <a:endParaRPr lang="zh-CN" altLang="en-US" sz="2000"/>
          </a:p>
        </p:txBody>
      </p:sp>
      <p:pic>
        <p:nvPicPr>
          <p:cNvPr id="5" name="图片 4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842885" y="1450340"/>
            <a:ext cx="3181350" cy="3135630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0"/>
    </mc:Choice>
    <mc:Fallback>
      <p:transition/>
    </mc:Fallback>
  </mc:AlternateContent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grpSp>
        <p:nvGrpSpPr>
          <p:cNvPr id="2" name="组合 1"/>
          <p:cNvGrpSpPr/>
          <p:nvPr/>
        </p:nvGrpSpPr>
        <p:grpSpPr>
          <a:xfrm>
            <a:off x="-1386840" y="62865"/>
            <a:ext cx="8237855" cy="1326515"/>
            <a:chOff x="-2184" y="-721"/>
            <a:chExt cx="12973" cy="2089"/>
          </a:xfrm>
        </p:grpSpPr>
        <p:sp>
          <p:nvSpPr>
            <p:cNvPr id="3" name="TextBox 8"/>
            <p:cNvSpPr txBox="1"/>
            <p:nvPr/>
          </p:nvSpPr>
          <p:spPr>
            <a:xfrm>
              <a:off x="-2184" y="-721"/>
              <a:ext cx="12788" cy="1598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p>
              <a:pPr algn="ctr"/>
              <a:r>
                <a:rPr lang="en-US" sz="6000" b="1" spc="600" dirty="0" smtClean="0">
                  <a:solidFill>
                    <a:schemeClr val="bg1">
                      <a:lumMod val="95000"/>
                    </a:schemeClr>
                  </a:solidFill>
                  <a:latin typeface="庞门正道标题体" panose="02010600030101010101" charset="-122"/>
                  <a:ea typeface="庞门正道标题体" panose="02010600030101010101" charset="-122"/>
                  <a:cs typeface="Montserrat" panose="00000500000000000000" pitchFamily="50" charset="0"/>
                </a:rPr>
                <a:t>MINIMALIST</a:t>
              </a:r>
              <a:endParaRPr lang="en-US" sz="6000" b="1" spc="600" dirty="0" smtClean="0">
                <a:solidFill>
                  <a:schemeClr val="bg1">
                    <a:lumMod val="95000"/>
                  </a:schemeClr>
                </a:solidFill>
                <a:latin typeface="庞门正道标题体" panose="02010600030101010101" charset="-122"/>
                <a:ea typeface="庞门正道标题体" panose="02010600030101010101" charset="-122"/>
                <a:cs typeface="Montserrat" panose="00000500000000000000" pitchFamily="50" charset="0"/>
              </a:endParaRPr>
            </a:p>
          </p:txBody>
        </p:sp>
        <p:sp>
          <p:nvSpPr>
            <p:cNvPr id="24" name="TextBox 9"/>
            <p:cNvSpPr txBox="1"/>
            <p:nvPr/>
          </p:nvSpPr>
          <p:spPr>
            <a:xfrm>
              <a:off x="-143" y="-94"/>
              <a:ext cx="10932" cy="130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p>
              <a:pPr algn="ctr"/>
              <a:r>
                <a:rPr lang="zh-CN" altLang="en-US" sz="4800" b="1" spc="600" dirty="0" smtClean="0">
                  <a:latin typeface="方正明尚简体" panose="02000000000000000000" charset="-122"/>
                  <a:ea typeface="方正明尚简体" panose="02000000000000000000" charset="-122"/>
                  <a:cs typeface="Montserrat" panose="00000500000000000000" pitchFamily="50" charset="0"/>
                  <a:sym typeface="+mn-ea"/>
                </a:rPr>
                <a:t>边界约束与验证闭环</a:t>
              </a:r>
              <a:endParaRPr lang="zh-CN" altLang="en-US" sz="4800" b="1" spc="600" dirty="0" smtClean="0">
                <a:latin typeface="方正明尚简体" panose="02000000000000000000" charset="-122"/>
                <a:ea typeface="方正明尚简体" panose="02000000000000000000" charset="-122"/>
                <a:cs typeface="Montserrat" panose="00000500000000000000" pitchFamily="50" charset="0"/>
                <a:sym typeface="+mn-ea"/>
              </a:endParaRPr>
            </a:p>
          </p:txBody>
        </p:sp>
        <p:sp>
          <p:nvSpPr>
            <p:cNvPr id="25" name="TextBox 12"/>
            <p:cNvSpPr txBox="1"/>
            <p:nvPr/>
          </p:nvSpPr>
          <p:spPr>
            <a:xfrm>
              <a:off x="291" y="799"/>
              <a:ext cx="7856" cy="56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p>
              <a:pPr algn="ctr">
                <a:lnSpc>
                  <a:spcPct val="150000"/>
                </a:lnSpc>
              </a:pPr>
              <a:endParaRPr lang="en-US" baseline="-25000" dirty="0" smtClean="0">
                <a:latin typeface="Dotum" panose="020B0600000101010101" charset="-127"/>
                <a:ea typeface="Dotum" panose="020B0600000101010101" charset="-127"/>
                <a:cs typeface="+mj-lt"/>
              </a:endParaRPr>
            </a:p>
          </p:txBody>
        </p:sp>
      </p:grpSp>
      <p:sp>
        <p:nvSpPr>
          <p:cNvPr id="6" name="文本框 5"/>
          <p:cNvSpPr txBox="1"/>
          <p:nvPr/>
        </p:nvSpPr>
        <p:spPr>
          <a:xfrm>
            <a:off x="608965" y="1607820"/>
            <a:ext cx="6418580" cy="286131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pPr indent="457200">
              <a:buFont typeface="Arial" panose="020B0604020202020204" pitchFamily="34" charset="0"/>
              <a:buNone/>
            </a:pPr>
            <a:r>
              <a:rPr lang="en-US" altLang="zh-CN" sz="2000"/>
              <a:t>3</a:t>
            </a:r>
            <a:r>
              <a:rPr lang="zh-CN" altLang="en-US" sz="2000"/>
              <a:t>、计算与时间约束</a:t>
            </a:r>
            <a:r>
              <a:rPr lang="en-US" altLang="zh-CN" sz="2000"/>
              <a:t> (Timeouts &amp; Token Limits)</a:t>
            </a:r>
            <a:endParaRPr lang="en-US" altLang="zh-CN" sz="2000"/>
          </a:p>
          <a:p>
            <a:pPr indent="457200">
              <a:buFont typeface="Arial" panose="020B0604020202020204" pitchFamily="34" charset="0"/>
              <a:buNone/>
            </a:pPr>
            <a:endParaRPr lang="en-US" altLang="zh-CN" sz="2000"/>
          </a:p>
          <a:p>
            <a:pPr indent="457200">
              <a:buFont typeface="Arial" panose="020B0604020202020204" pitchFamily="34" charset="0"/>
              <a:buNone/>
            </a:pPr>
            <a:r>
              <a:rPr lang="zh-CN" altLang="en-US" sz="2000"/>
              <a:t>概念：防止模型陷入</a:t>
            </a:r>
            <a:r>
              <a:rPr lang="en-US" altLang="zh-CN" sz="2000"/>
              <a:t>“</a:t>
            </a:r>
            <a:r>
              <a:rPr lang="zh-CN" altLang="en-US" sz="2000"/>
              <a:t>死循环</a:t>
            </a:r>
            <a:r>
              <a:rPr lang="en-US" altLang="zh-CN" sz="2000"/>
              <a:t>”</a:t>
            </a:r>
            <a:r>
              <a:rPr lang="zh-CN" altLang="en-US" sz="2000"/>
              <a:t>或被恶意输入导致资源耗尽（类似</a:t>
            </a:r>
            <a:r>
              <a:rPr lang="en-US" altLang="zh-CN" sz="2000"/>
              <a:t> DDoS</a:t>
            </a:r>
            <a:r>
              <a:rPr lang="zh-CN" altLang="en-US" sz="2000"/>
              <a:t>）。</a:t>
            </a:r>
            <a:endParaRPr lang="zh-CN" altLang="en-US" sz="2000"/>
          </a:p>
          <a:p>
            <a:pPr indent="457200">
              <a:buFont typeface="Arial" panose="020B0604020202020204" pitchFamily="34" charset="0"/>
              <a:buNone/>
            </a:pPr>
            <a:endParaRPr lang="en-US" altLang="zh-CN" sz="2000"/>
          </a:p>
          <a:p>
            <a:pPr indent="457200">
              <a:buFont typeface="Arial" panose="020B0604020202020204" pitchFamily="34" charset="0"/>
              <a:buNone/>
            </a:pPr>
            <a:r>
              <a:rPr lang="en-US" altLang="zh-CN" sz="2000"/>
              <a:t>Harness </a:t>
            </a:r>
            <a:r>
              <a:rPr lang="zh-CN" altLang="en-US" sz="2000"/>
              <a:t>实践：</a:t>
            </a:r>
            <a:r>
              <a:rPr lang="en-US" altLang="zh-CN" sz="2000"/>
              <a:t>Harness </a:t>
            </a:r>
            <a:r>
              <a:rPr lang="zh-CN" altLang="en-US" sz="2000"/>
              <a:t>会在外部挂载看门狗定时器（</a:t>
            </a:r>
            <a:r>
              <a:rPr lang="en-US" altLang="zh-CN" sz="2000"/>
              <a:t>Watchdog Timer</a:t>
            </a:r>
            <a:r>
              <a:rPr lang="zh-CN" altLang="en-US" sz="2000"/>
              <a:t>）。如果模型生成的一个正则表达式导致了灾难性的回溯，或者一个循环执行超过</a:t>
            </a:r>
            <a:r>
              <a:rPr lang="en-US" altLang="zh-CN" sz="2000"/>
              <a:t> 5 </a:t>
            </a:r>
            <a:r>
              <a:rPr lang="zh-CN" altLang="en-US" sz="2000"/>
              <a:t>秒，</a:t>
            </a:r>
            <a:r>
              <a:rPr lang="en-US" altLang="zh-CN" sz="2000"/>
              <a:t>Harness </a:t>
            </a:r>
            <a:r>
              <a:rPr lang="zh-CN" altLang="en-US" sz="2000"/>
              <a:t>会立刻像拔电源一样终止进程。</a:t>
            </a:r>
            <a:endParaRPr lang="zh-CN" altLang="en-US" sz="2000"/>
          </a:p>
        </p:txBody>
      </p:sp>
      <p:pic>
        <p:nvPicPr>
          <p:cNvPr id="4" name="图片 3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673975" y="738505"/>
            <a:ext cx="3462020" cy="4123055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0"/>
    </mc:Choice>
    <mc:Fallback>
      <p:transition/>
    </mc:Fallback>
  </mc:AlternateContent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3" name="TextBox 8"/>
          <p:cNvSpPr txBox="1"/>
          <p:nvPr/>
        </p:nvSpPr>
        <p:spPr>
          <a:xfrm>
            <a:off x="-352107" y="1611517"/>
            <a:ext cx="12896215" cy="229933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pPr algn="ctr"/>
            <a:r>
              <a:rPr lang="en-US" sz="14350" b="1" spc="600" dirty="0" smtClean="0">
                <a:solidFill>
                  <a:srgbClr val="F7F7F7"/>
                </a:solidFill>
                <a:latin typeface="庞门正道标题体" panose="02010600030101010101" charset="-122"/>
                <a:ea typeface="庞门正道标题体" panose="02010600030101010101" charset="-122"/>
                <a:cs typeface="Montserrat" panose="00000500000000000000" pitchFamily="50" charset="0"/>
              </a:rPr>
              <a:t>TOOL USE</a:t>
            </a:r>
            <a:endParaRPr lang="en-US" sz="14350" b="1" spc="600" dirty="0" smtClean="0">
              <a:solidFill>
                <a:srgbClr val="F7F7F7"/>
              </a:solidFill>
              <a:latin typeface="庞门正道标题体" panose="02010600030101010101" charset="-122"/>
              <a:ea typeface="庞门正道标题体" panose="02010600030101010101" charset="-122"/>
              <a:cs typeface="Montserrat" panose="00000500000000000000" pitchFamily="50" charset="0"/>
            </a:endParaRPr>
          </a:p>
        </p:txBody>
      </p:sp>
      <p:sp>
        <p:nvSpPr>
          <p:cNvPr id="4" name="TextBox 9"/>
          <p:cNvSpPr txBox="1"/>
          <p:nvPr/>
        </p:nvSpPr>
        <p:spPr>
          <a:xfrm>
            <a:off x="2630577" y="2421142"/>
            <a:ext cx="6941730" cy="132207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pPr algn="ctr"/>
            <a:r>
              <a:rPr lang="en-US" altLang="zh-CN" sz="8000" b="1" spc="600" dirty="0" smtClean="0">
                <a:solidFill>
                  <a:schemeClr val="tx1"/>
                </a:solidFill>
                <a:latin typeface="方正明尚简体" panose="02000000000000000000" charset="-122"/>
                <a:ea typeface="方正明尚简体" panose="02000000000000000000" charset="-122"/>
                <a:cs typeface="Montserrat" panose="00000500000000000000" pitchFamily="50" charset="0"/>
              </a:rPr>
              <a:t>SKILLS</a:t>
            </a:r>
            <a:endParaRPr lang="en-US" altLang="zh-CN" sz="8000" b="1" spc="600" dirty="0" smtClean="0">
              <a:solidFill>
                <a:schemeClr val="tx1"/>
              </a:solidFill>
              <a:latin typeface="方正明尚简体" panose="02000000000000000000" charset="-122"/>
              <a:ea typeface="方正明尚简体" panose="02000000000000000000" charset="-122"/>
              <a:cs typeface="Montserrat" panose="00000500000000000000" pitchFamily="50" charset="0"/>
            </a:endParaRPr>
          </a:p>
        </p:txBody>
      </p:sp>
      <p:sp>
        <p:nvSpPr>
          <p:cNvPr id="5" name="TextBox 12"/>
          <p:cNvSpPr txBox="1"/>
          <p:nvPr/>
        </p:nvSpPr>
        <p:spPr>
          <a:xfrm>
            <a:off x="3607261" y="3592841"/>
            <a:ext cx="4988364" cy="49593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pPr algn="ctr">
              <a:lnSpc>
                <a:spcPct val="150000"/>
              </a:lnSpc>
            </a:pPr>
            <a:r>
              <a:rPr lang="en-US" sz="2700" baseline="-25000" dirty="0" smtClean="0">
                <a:latin typeface="Dotum" panose="020B0600000101010101" charset="-127"/>
                <a:ea typeface="Dotum" panose="020B0600000101010101" charset="-127"/>
                <a:cs typeface="+mj-lt"/>
              </a:rPr>
              <a:t>skill </a:t>
            </a:r>
            <a:r>
              <a:rPr lang="zh-CN" altLang="en-US" sz="2700" baseline="-25000" dirty="0" smtClean="0">
                <a:latin typeface="Dotum" panose="020B0600000101010101" charset="-127"/>
                <a:ea typeface="Dotum" panose="020B0600000101010101" charset="-127"/>
                <a:cs typeface="+mj-lt"/>
              </a:rPr>
              <a:t>工程化</a:t>
            </a:r>
            <a:r>
              <a:rPr lang="zh-CN" altLang="en-US" sz="2700" baseline="-25000" dirty="0" smtClean="0">
                <a:latin typeface="Dotum" panose="020B0600000101010101" charset="-127"/>
                <a:ea typeface="Dotum" panose="020B0600000101010101" charset="-127"/>
                <a:cs typeface="+mj-lt"/>
              </a:rPr>
              <a:t>应用</a:t>
            </a:r>
            <a:endParaRPr lang="zh-CN" altLang="en-US" sz="2700" baseline="-25000" dirty="0" smtClean="0">
              <a:latin typeface="Dotum" panose="020B0600000101010101" charset="-127"/>
              <a:ea typeface="Dotum" panose="020B0600000101010101" charset="-127"/>
              <a:cs typeface="+mj-lt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0"/>
    </mc:Choice>
    <mc:Fallback>
      <p:transition/>
    </mc:Fallback>
  </mc:AlternateContent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6" name="Oval 5"/>
          <p:cNvSpPr>
            <a:spLocks noChangeAspect="1"/>
          </p:cNvSpPr>
          <p:nvPr>
            <p:custDataLst>
              <p:tags r:id="rId1"/>
            </p:custDataLst>
          </p:nvPr>
        </p:nvSpPr>
        <p:spPr>
          <a:xfrm>
            <a:off x="1281430" y="2751455"/>
            <a:ext cx="720005" cy="720005"/>
          </a:xfrm>
          <a:prstGeom prst="rect">
            <a:avLst/>
          </a:prstGeom>
          <a:solidFill>
            <a:schemeClr val="bg1"/>
          </a:solidFill>
          <a:ln w="63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180000" tIns="180000" rIns="0" bIns="45720" numCol="1" spcCol="0" rtlCol="0" fromWordArt="0" anchor="t" anchorCtr="0" forceAA="0" compatLnSpc="1">
            <a:noAutofit/>
          </a:bodyPr>
          <a:p>
            <a:endParaRPr lang="en-US" sz="1000" dirty="0">
              <a:solidFill>
                <a:schemeClr val="tx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7" name="TextBox 6"/>
          <p:cNvSpPr txBox="1"/>
          <p:nvPr>
            <p:custDataLst>
              <p:tags r:id="rId2"/>
            </p:custDataLst>
          </p:nvPr>
        </p:nvSpPr>
        <p:spPr>
          <a:xfrm>
            <a:off x="2580640" y="2849880"/>
            <a:ext cx="3239770" cy="691515"/>
          </a:xfrm>
          <a:prstGeom prst="rect">
            <a:avLst/>
          </a:prstGeom>
          <a:noFill/>
        </p:spPr>
        <p:txBody>
          <a:bodyPr wrap="square" lIns="0" rIns="0" rtlCol="0">
            <a:spAutoFit/>
          </a:bodyPr>
          <a:p>
            <a:pPr marL="171450" indent="-171450">
              <a:lnSpc>
                <a:spcPct val="130000"/>
              </a:lnSpc>
              <a:buFont typeface="Arial" panose="020B0604020202020204" pitchFamily="34" charset="0"/>
              <a:buChar char="•"/>
            </a:pPr>
            <a:r>
              <a:rPr lang="zh-CN" altLang="en-US" sz="1000" dirty="0">
                <a:solidFill>
                  <a:schemeClr val="tx1">
                    <a:alpha val="70000"/>
                  </a:schemeClr>
                </a:solidFill>
                <a:latin typeface="微软雅黑" panose="020B0503020204020204" charset="-122"/>
                <a:ea typeface="微软雅黑" panose="020B0503020204020204" charset="-122"/>
              </a:rPr>
              <a:t>保持</a:t>
            </a:r>
            <a:r>
              <a:rPr lang="zh-CN" altLang="en-US" sz="1000" dirty="0">
                <a:solidFill>
                  <a:schemeClr val="tx1">
                    <a:alpha val="70000"/>
                  </a:schemeClr>
                </a:solidFill>
                <a:latin typeface="微软雅黑" panose="020B0503020204020204" charset="-122"/>
                <a:ea typeface="微软雅黑" panose="020B0503020204020204" charset="-122"/>
              </a:rPr>
              <a:t>简单</a:t>
            </a:r>
            <a:endParaRPr lang="zh-CN" altLang="en-US" sz="1000" dirty="0">
              <a:solidFill>
                <a:schemeClr val="tx1">
                  <a:alpha val="70000"/>
                </a:schemeClr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marL="171450" indent="-171450">
              <a:lnSpc>
                <a:spcPct val="130000"/>
              </a:lnSpc>
              <a:buFont typeface="Arial" panose="020B0604020202020204" pitchFamily="34" charset="0"/>
              <a:buChar char="•"/>
            </a:pPr>
            <a:r>
              <a:rPr lang="zh-CN" altLang="en-US" sz="1000" dirty="0">
                <a:solidFill>
                  <a:schemeClr val="tx1">
                    <a:alpha val="70000"/>
                  </a:schemeClr>
                </a:solidFill>
                <a:latin typeface="微软雅黑" panose="020B0503020204020204" charset="-122"/>
                <a:ea typeface="微软雅黑" panose="020B0503020204020204" charset="-122"/>
              </a:rPr>
              <a:t>保持</a:t>
            </a:r>
            <a:r>
              <a:rPr lang="zh-CN" altLang="en-US" sz="1000" dirty="0">
                <a:solidFill>
                  <a:schemeClr val="tx1">
                    <a:alpha val="70000"/>
                  </a:schemeClr>
                </a:solidFill>
                <a:latin typeface="微软雅黑" panose="020B0503020204020204" charset="-122"/>
                <a:ea typeface="微软雅黑" panose="020B0503020204020204" charset="-122"/>
              </a:rPr>
              <a:t>透明</a:t>
            </a:r>
            <a:endParaRPr lang="zh-CN" altLang="en-US" sz="1000" dirty="0">
              <a:solidFill>
                <a:schemeClr val="tx1">
                  <a:alpha val="70000"/>
                </a:schemeClr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marL="171450" indent="-171450">
              <a:lnSpc>
                <a:spcPct val="130000"/>
              </a:lnSpc>
              <a:buFont typeface="Arial" panose="020B0604020202020204" pitchFamily="34" charset="0"/>
              <a:buChar char="•"/>
            </a:pPr>
            <a:r>
              <a:rPr lang="zh-CN" altLang="en-US" sz="1000" dirty="0">
                <a:solidFill>
                  <a:schemeClr val="tx1">
                    <a:alpha val="70000"/>
                  </a:schemeClr>
                </a:solidFill>
                <a:latin typeface="微软雅黑" panose="020B0503020204020204" charset="-122"/>
                <a:ea typeface="微软雅黑" panose="020B0503020204020204" charset="-122"/>
              </a:rPr>
              <a:t>精心打磨工具</a:t>
            </a:r>
            <a:r>
              <a:rPr lang="zh-CN" altLang="en-US" sz="1000" dirty="0">
                <a:solidFill>
                  <a:schemeClr val="tx1">
                    <a:alpha val="70000"/>
                  </a:schemeClr>
                </a:solidFill>
                <a:latin typeface="微软雅黑" panose="020B0503020204020204" charset="-122"/>
                <a:ea typeface="微软雅黑" panose="020B0503020204020204" charset="-122"/>
              </a:rPr>
              <a:t>文档</a:t>
            </a:r>
            <a:endParaRPr lang="zh-CN" altLang="en-US" sz="1000" dirty="0">
              <a:solidFill>
                <a:schemeClr val="tx1">
                  <a:alpha val="70000"/>
                </a:schemeClr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8" name="TextBox 7"/>
          <p:cNvSpPr txBox="1"/>
          <p:nvPr>
            <p:custDataLst>
              <p:tags r:id="rId3"/>
            </p:custDataLst>
          </p:nvPr>
        </p:nvSpPr>
        <p:spPr>
          <a:xfrm>
            <a:off x="2580640" y="2514600"/>
            <a:ext cx="1371600" cy="368300"/>
          </a:xfrm>
          <a:prstGeom prst="rect">
            <a:avLst/>
          </a:prstGeom>
          <a:noFill/>
        </p:spPr>
        <p:txBody>
          <a:bodyPr wrap="none" lIns="0" rIns="0" rtlCol="0">
            <a:spAutoFit/>
          </a:bodyPr>
          <a:p>
            <a:r>
              <a:rPr lang="zh-CN" altLang="en-US" b="1" dirty="0">
                <a:latin typeface="微软雅黑" panose="020B0503020204020204" charset="-122"/>
                <a:ea typeface="微软雅黑" panose="020B0503020204020204" charset="-122"/>
                <a:cs typeface="Open Sans" panose="020B0606030504020204" charset="0"/>
              </a:rPr>
              <a:t>三大设计原则</a:t>
            </a:r>
            <a:endParaRPr lang="zh-CN" altLang="en-US" b="1" dirty="0">
              <a:latin typeface="微软雅黑" panose="020B0503020204020204" charset="-122"/>
              <a:ea typeface="微软雅黑" panose="020B0503020204020204" charset="-122"/>
              <a:cs typeface="Open Sans" panose="020B0606030504020204" charset="0"/>
            </a:endParaRPr>
          </a:p>
        </p:txBody>
      </p:sp>
      <p:sp>
        <p:nvSpPr>
          <p:cNvPr id="4" name="Freeform 3"/>
          <p:cNvSpPr/>
          <p:nvPr>
            <p:custDataLst>
              <p:tags r:id="rId4"/>
            </p:custDataLst>
          </p:nvPr>
        </p:nvSpPr>
        <p:spPr bwMode="auto">
          <a:xfrm>
            <a:off x="1410970" y="2947035"/>
            <a:ext cx="461010" cy="328930"/>
          </a:xfrm>
          <a:custGeom>
            <a:avLst/>
            <a:gdLst>
              <a:gd name="T0" fmla="*/ 159 w 162"/>
              <a:gd name="T1" fmla="*/ 12 h 115"/>
              <a:gd name="T2" fmla="*/ 58 w 162"/>
              <a:gd name="T3" fmla="*/ 113 h 115"/>
              <a:gd name="T4" fmla="*/ 53 w 162"/>
              <a:gd name="T5" fmla="*/ 115 h 115"/>
              <a:gd name="T6" fmla="*/ 49 w 162"/>
              <a:gd name="T7" fmla="*/ 113 h 115"/>
              <a:gd name="T8" fmla="*/ 3 w 162"/>
              <a:gd name="T9" fmla="*/ 67 h 115"/>
              <a:gd name="T10" fmla="*/ 3 w 162"/>
              <a:gd name="T11" fmla="*/ 58 h 115"/>
              <a:gd name="T12" fmla="*/ 12 w 162"/>
              <a:gd name="T13" fmla="*/ 58 h 115"/>
              <a:gd name="T14" fmla="*/ 53 w 162"/>
              <a:gd name="T15" fmla="*/ 99 h 115"/>
              <a:gd name="T16" fmla="*/ 150 w 162"/>
              <a:gd name="T17" fmla="*/ 3 h 115"/>
              <a:gd name="T18" fmla="*/ 159 w 162"/>
              <a:gd name="T19" fmla="*/ 3 h 115"/>
              <a:gd name="T20" fmla="*/ 159 w 162"/>
              <a:gd name="T21" fmla="*/ 12 h 115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</a:cxnLst>
            <a:rect l="0" t="0" r="r" b="b"/>
            <a:pathLst>
              <a:path w="162" h="115">
                <a:moveTo>
                  <a:pt x="159" y="12"/>
                </a:moveTo>
                <a:cubicBezTo>
                  <a:pt x="58" y="113"/>
                  <a:pt x="58" y="113"/>
                  <a:pt x="58" y="113"/>
                </a:cubicBezTo>
                <a:cubicBezTo>
                  <a:pt x="57" y="114"/>
                  <a:pt x="55" y="115"/>
                  <a:pt x="53" y="115"/>
                </a:cubicBezTo>
                <a:cubicBezTo>
                  <a:pt x="52" y="115"/>
                  <a:pt x="50" y="114"/>
                  <a:pt x="49" y="113"/>
                </a:cubicBezTo>
                <a:cubicBezTo>
                  <a:pt x="3" y="67"/>
                  <a:pt x="3" y="67"/>
                  <a:pt x="3" y="67"/>
                </a:cubicBezTo>
                <a:cubicBezTo>
                  <a:pt x="0" y="65"/>
                  <a:pt x="0" y="61"/>
                  <a:pt x="3" y="58"/>
                </a:cubicBezTo>
                <a:cubicBezTo>
                  <a:pt x="5" y="56"/>
                  <a:pt x="10" y="56"/>
                  <a:pt x="12" y="58"/>
                </a:cubicBezTo>
                <a:cubicBezTo>
                  <a:pt x="53" y="99"/>
                  <a:pt x="53" y="99"/>
                  <a:pt x="53" y="99"/>
                </a:cubicBezTo>
                <a:cubicBezTo>
                  <a:pt x="150" y="3"/>
                  <a:pt x="150" y="3"/>
                  <a:pt x="150" y="3"/>
                </a:cubicBezTo>
                <a:cubicBezTo>
                  <a:pt x="152" y="0"/>
                  <a:pt x="157" y="0"/>
                  <a:pt x="159" y="3"/>
                </a:cubicBezTo>
                <a:cubicBezTo>
                  <a:pt x="162" y="5"/>
                  <a:pt x="162" y="10"/>
                  <a:pt x="159" y="12"/>
                </a:cubicBezTo>
                <a:close/>
              </a:path>
            </a:pathLst>
          </a:custGeom>
          <a:solidFill>
            <a:srgbClr val="010101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</a14:hiddenLine>
            </a:ext>
          </a:extLst>
        </p:spPr>
        <p:txBody>
          <a:bodyPr vert="horz" wrap="square" lIns="91440" tIns="45720" rIns="91440" bIns="45720" numCol="1" anchor="t" anchorCtr="0" compatLnSpc="1"/>
          <a:p>
            <a:endParaRPr lang="en-US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0" name="Oval 9"/>
          <p:cNvSpPr>
            <a:spLocks noChangeAspect="1"/>
          </p:cNvSpPr>
          <p:nvPr>
            <p:custDataLst>
              <p:tags r:id="rId5"/>
            </p:custDataLst>
          </p:nvPr>
        </p:nvSpPr>
        <p:spPr>
          <a:xfrm>
            <a:off x="1281430" y="4676775"/>
            <a:ext cx="720005" cy="720005"/>
          </a:xfrm>
          <a:prstGeom prst="rect">
            <a:avLst/>
          </a:prstGeom>
          <a:solidFill>
            <a:schemeClr val="bg1"/>
          </a:solidFill>
          <a:ln w="63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180000" tIns="180000" rIns="0" bIns="45720" numCol="1" spcCol="0" rtlCol="0" fromWordArt="0" anchor="t" anchorCtr="0" forceAA="0" compatLnSpc="1">
            <a:noAutofit/>
          </a:bodyPr>
          <a:p>
            <a:endParaRPr lang="en-US" sz="1000" dirty="0">
              <a:solidFill>
                <a:schemeClr val="tx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1" name="TextBox 10"/>
          <p:cNvSpPr txBox="1"/>
          <p:nvPr>
            <p:custDataLst>
              <p:tags r:id="rId6"/>
            </p:custDataLst>
          </p:nvPr>
        </p:nvSpPr>
        <p:spPr>
          <a:xfrm>
            <a:off x="2580640" y="4775835"/>
            <a:ext cx="3239770" cy="691515"/>
          </a:xfrm>
          <a:prstGeom prst="rect">
            <a:avLst/>
          </a:prstGeom>
          <a:noFill/>
        </p:spPr>
        <p:txBody>
          <a:bodyPr wrap="square" lIns="0" rIns="0" rtlCol="0">
            <a:spAutoFit/>
          </a:bodyPr>
          <a:p>
            <a:pPr marL="171450" indent="-171450">
              <a:lnSpc>
                <a:spcPct val="130000"/>
              </a:lnSpc>
              <a:buFont typeface="Arial" panose="020B0604020202020204" pitchFamily="34" charset="0"/>
              <a:buChar char="•"/>
            </a:pPr>
            <a:r>
              <a:rPr lang="zh-CN" altLang="en-US" sz="1000" dirty="0">
                <a:solidFill>
                  <a:schemeClr val="tx1">
                    <a:alpha val="70000"/>
                  </a:schemeClr>
                </a:solidFill>
                <a:latin typeface="微软雅黑" panose="020B0503020204020204" charset="-122"/>
                <a:ea typeface="微软雅黑" panose="020B0503020204020204" charset="-122"/>
              </a:rPr>
              <a:t>极度精确的描述</a:t>
            </a:r>
            <a:r>
              <a:rPr lang="zh-CN" altLang="en-US" sz="1000" dirty="0">
                <a:solidFill>
                  <a:schemeClr val="tx1">
                    <a:alpha val="70000"/>
                  </a:schemeClr>
                </a:solidFill>
                <a:latin typeface="微软雅黑" panose="020B0503020204020204" charset="-122"/>
                <a:ea typeface="微软雅黑" panose="020B0503020204020204" charset="-122"/>
              </a:rPr>
              <a:t>文档</a:t>
            </a:r>
            <a:endParaRPr lang="zh-CN" altLang="en-US" sz="1000" dirty="0">
              <a:solidFill>
                <a:schemeClr val="tx1">
                  <a:alpha val="70000"/>
                </a:schemeClr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marL="171450" indent="-171450">
              <a:lnSpc>
                <a:spcPct val="130000"/>
              </a:lnSpc>
              <a:buFont typeface="Arial" panose="020B0604020202020204" pitchFamily="34" charset="0"/>
              <a:buChar char="•"/>
            </a:pPr>
            <a:r>
              <a:rPr lang="zh-CN" altLang="en-US" sz="1000" dirty="0">
                <a:solidFill>
                  <a:schemeClr val="tx1">
                    <a:alpha val="70000"/>
                  </a:schemeClr>
                </a:solidFill>
                <a:latin typeface="微软雅黑" panose="020B0503020204020204" charset="-122"/>
                <a:ea typeface="微软雅黑" panose="020B0503020204020204" charset="-122"/>
              </a:rPr>
              <a:t>标准化的输入输出</a:t>
            </a:r>
            <a:r>
              <a:rPr lang="zh-CN" altLang="en-US" sz="1000" dirty="0">
                <a:solidFill>
                  <a:schemeClr val="tx1">
                    <a:alpha val="70000"/>
                  </a:schemeClr>
                </a:solidFill>
                <a:latin typeface="微软雅黑" panose="020B0503020204020204" charset="-122"/>
                <a:ea typeface="微软雅黑" panose="020B0503020204020204" charset="-122"/>
              </a:rPr>
              <a:t>接口</a:t>
            </a:r>
            <a:endParaRPr lang="zh-CN" altLang="en-US" sz="1000" dirty="0">
              <a:solidFill>
                <a:schemeClr val="tx1">
                  <a:alpha val="70000"/>
                </a:schemeClr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marL="171450" indent="-171450">
              <a:lnSpc>
                <a:spcPct val="130000"/>
              </a:lnSpc>
              <a:buFont typeface="Arial" panose="020B0604020202020204" pitchFamily="34" charset="0"/>
              <a:buChar char="•"/>
            </a:pPr>
            <a:r>
              <a:rPr lang="zh-CN" altLang="en-US" sz="1000" dirty="0">
                <a:solidFill>
                  <a:schemeClr val="tx1">
                    <a:alpha val="70000"/>
                  </a:schemeClr>
                </a:solidFill>
                <a:latin typeface="微软雅黑" panose="020B0503020204020204" charset="-122"/>
                <a:ea typeface="微软雅黑" panose="020B0503020204020204" charset="-122"/>
              </a:rPr>
              <a:t>上下文反馈</a:t>
            </a:r>
            <a:r>
              <a:rPr lang="zh-CN" altLang="en-US" sz="1000" dirty="0">
                <a:solidFill>
                  <a:schemeClr val="tx1">
                    <a:alpha val="70000"/>
                  </a:schemeClr>
                </a:solidFill>
                <a:latin typeface="微软雅黑" panose="020B0503020204020204" charset="-122"/>
                <a:ea typeface="微软雅黑" panose="020B0503020204020204" charset="-122"/>
              </a:rPr>
              <a:t>闭环</a:t>
            </a:r>
            <a:endParaRPr lang="zh-CN" altLang="en-US" sz="1000" dirty="0">
              <a:solidFill>
                <a:schemeClr val="tx1">
                  <a:alpha val="70000"/>
                </a:schemeClr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2" name="TextBox 11"/>
          <p:cNvSpPr txBox="1"/>
          <p:nvPr>
            <p:custDataLst>
              <p:tags r:id="rId7"/>
            </p:custDataLst>
          </p:nvPr>
        </p:nvSpPr>
        <p:spPr>
          <a:xfrm>
            <a:off x="2580640" y="4440555"/>
            <a:ext cx="1371600" cy="368300"/>
          </a:xfrm>
          <a:prstGeom prst="rect">
            <a:avLst/>
          </a:prstGeom>
          <a:noFill/>
        </p:spPr>
        <p:txBody>
          <a:bodyPr wrap="none" lIns="0" rIns="0" rtlCol="0">
            <a:spAutoFit/>
          </a:bodyPr>
          <a:p>
            <a:pPr algn="l"/>
            <a:r>
              <a:rPr lang="zh-CN" altLang="en-US" b="1" dirty="0">
                <a:latin typeface="微软雅黑" panose="020B0503020204020204" charset="-122"/>
                <a:ea typeface="微软雅黑" panose="020B0503020204020204" charset="-122"/>
                <a:cs typeface="Open Sans" panose="020B0606030504020204" charset="0"/>
                <a:sym typeface="+mn-ea"/>
              </a:rPr>
              <a:t>工程构建规范</a:t>
            </a:r>
            <a:endParaRPr lang="zh-CN" altLang="en-US" b="1" dirty="0">
              <a:latin typeface="微软雅黑" panose="020B0503020204020204" charset="-122"/>
              <a:ea typeface="微软雅黑" panose="020B0503020204020204" charset="-122"/>
              <a:cs typeface="Open Sans" panose="020B0606030504020204" charset="0"/>
              <a:sym typeface="+mn-ea"/>
            </a:endParaRPr>
          </a:p>
        </p:txBody>
      </p:sp>
      <p:sp>
        <p:nvSpPr>
          <p:cNvPr id="13" name="Freeform 12"/>
          <p:cNvSpPr/>
          <p:nvPr>
            <p:custDataLst>
              <p:tags r:id="rId8"/>
            </p:custDataLst>
          </p:nvPr>
        </p:nvSpPr>
        <p:spPr bwMode="auto">
          <a:xfrm>
            <a:off x="1410970" y="4872990"/>
            <a:ext cx="461010" cy="328930"/>
          </a:xfrm>
          <a:custGeom>
            <a:avLst/>
            <a:gdLst>
              <a:gd name="T0" fmla="*/ 159 w 162"/>
              <a:gd name="T1" fmla="*/ 12 h 115"/>
              <a:gd name="T2" fmla="*/ 58 w 162"/>
              <a:gd name="T3" fmla="*/ 113 h 115"/>
              <a:gd name="T4" fmla="*/ 53 w 162"/>
              <a:gd name="T5" fmla="*/ 115 h 115"/>
              <a:gd name="T6" fmla="*/ 49 w 162"/>
              <a:gd name="T7" fmla="*/ 113 h 115"/>
              <a:gd name="T8" fmla="*/ 3 w 162"/>
              <a:gd name="T9" fmla="*/ 67 h 115"/>
              <a:gd name="T10" fmla="*/ 3 w 162"/>
              <a:gd name="T11" fmla="*/ 58 h 115"/>
              <a:gd name="T12" fmla="*/ 12 w 162"/>
              <a:gd name="T13" fmla="*/ 58 h 115"/>
              <a:gd name="T14" fmla="*/ 53 w 162"/>
              <a:gd name="T15" fmla="*/ 99 h 115"/>
              <a:gd name="T16" fmla="*/ 150 w 162"/>
              <a:gd name="T17" fmla="*/ 3 h 115"/>
              <a:gd name="T18" fmla="*/ 159 w 162"/>
              <a:gd name="T19" fmla="*/ 3 h 115"/>
              <a:gd name="T20" fmla="*/ 159 w 162"/>
              <a:gd name="T21" fmla="*/ 12 h 115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</a:cxnLst>
            <a:rect l="0" t="0" r="r" b="b"/>
            <a:pathLst>
              <a:path w="162" h="115">
                <a:moveTo>
                  <a:pt x="159" y="12"/>
                </a:moveTo>
                <a:cubicBezTo>
                  <a:pt x="58" y="113"/>
                  <a:pt x="58" y="113"/>
                  <a:pt x="58" y="113"/>
                </a:cubicBezTo>
                <a:cubicBezTo>
                  <a:pt x="57" y="114"/>
                  <a:pt x="55" y="115"/>
                  <a:pt x="53" y="115"/>
                </a:cubicBezTo>
                <a:cubicBezTo>
                  <a:pt x="52" y="115"/>
                  <a:pt x="50" y="114"/>
                  <a:pt x="49" y="113"/>
                </a:cubicBezTo>
                <a:cubicBezTo>
                  <a:pt x="3" y="67"/>
                  <a:pt x="3" y="67"/>
                  <a:pt x="3" y="67"/>
                </a:cubicBezTo>
                <a:cubicBezTo>
                  <a:pt x="0" y="65"/>
                  <a:pt x="0" y="61"/>
                  <a:pt x="3" y="58"/>
                </a:cubicBezTo>
                <a:cubicBezTo>
                  <a:pt x="5" y="56"/>
                  <a:pt x="10" y="56"/>
                  <a:pt x="12" y="58"/>
                </a:cubicBezTo>
                <a:cubicBezTo>
                  <a:pt x="53" y="99"/>
                  <a:pt x="53" y="99"/>
                  <a:pt x="53" y="99"/>
                </a:cubicBezTo>
                <a:cubicBezTo>
                  <a:pt x="150" y="3"/>
                  <a:pt x="150" y="3"/>
                  <a:pt x="150" y="3"/>
                </a:cubicBezTo>
                <a:cubicBezTo>
                  <a:pt x="152" y="0"/>
                  <a:pt x="157" y="0"/>
                  <a:pt x="159" y="3"/>
                </a:cubicBezTo>
                <a:cubicBezTo>
                  <a:pt x="162" y="5"/>
                  <a:pt x="162" y="10"/>
                  <a:pt x="159" y="12"/>
                </a:cubicBezTo>
                <a:close/>
              </a:path>
            </a:pathLst>
          </a:custGeom>
          <a:solidFill>
            <a:srgbClr val="010101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</a14:hiddenLine>
            </a:ext>
          </a:extLst>
        </p:spPr>
        <p:txBody>
          <a:bodyPr vert="horz" wrap="square" lIns="91440" tIns="45720" rIns="91440" bIns="45720" numCol="1" anchor="t" anchorCtr="0" compatLnSpc="1"/>
          <a:p>
            <a:endParaRPr lang="en-US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5" name="Oval 14"/>
          <p:cNvSpPr>
            <a:spLocks noChangeAspect="1"/>
          </p:cNvSpPr>
          <p:nvPr>
            <p:custDataLst>
              <p:tags r:id="rId9"/>
            </p:custDataLst>
          </p:nvPr>
        </p:nvSpPr>
        <p:spPr>
          <a:xfrm>
            <a:off x="6615430" y="2751455"/>
            <a:ext cx="720005" cy="720005"/>
          </a:xfrm>
          <a:prstGeom prst="rect">
            <a:avLst/>
          </a:prstGeom>
          <a:solidFill>
            <a:schemeClr val="bg1"/>
          </a:solidFill>
          <a:ln w="63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180000" tIns="180000" rIns="0" bIns="45720" numCol="1" spcCol="0" rtlCol="0" fromWordArt="0" anchor="t" anchorCtr="0" forceAA="0" compatLnSpc="1">
            <a:noAutofit/>
          </a:bodyPr>
          <a:p>
            <a:endParaRPr lang="en-US" sz="1000" dirty="0">
              <a:solidFill>
                <a:schemeClr val="tx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6" name="TextBox 15"/>
          <p:cNvSpPr txBox="1"/>
          <p:nvPr>
            <p:custDataLst>
              <p:tags r:id="rId10"/>
            </p:custDataLst>
          </p:nvPr>
        </p:nvSpPr>
        <p:spPr>
          <a:xfrm>
            <a:off x="7914640" y="2849880"/>
            <a:ext cx="3239770" cy="691515"/>
          </a:xfrm>
          <a:prstGeom prst="rect">
            <a:avLst/>
          </a:prstGeom>
          <a:noFill/>
        </p:spPr>
        <p:txBody>
          <a:bodyPr wrap="square" lIns="0" rIns="0" rtlCol="0">
            <a:spAutoFit/>
          </a:bodyPr>
          <a:p>
            <a:pPr marL="171450" indent="-171450">
              <a:lnSpc>
                <a:spcPct val="130000"/>
              </a:lnSpc>
              <a:buFont typeface="Arial" panose="020B0604020202020204" pitchFamily="34" charset="0"/>
              <a:buChar char="•"/>
            </a:pPr>
            <a:r>
              <a:rPr lang="zh-CN" altLang="en-US" sz="1000" dirty="0">
                <a:solidFill>
                  <a:schemeClr val="tx1">
                    <a:alpha val="70000"/>
                  </a:schemeClr>
                </a:solidFill>
                <a:latin typeface="微软雅黑" panose="020B0503020204020204" charset="-122"/>
                <a:ea typeface="微软雅黑" panose="020B0503020204020204" charset="-122"/>
              </a:rPr>
              <a:t>路由分配</a:t>
            </a:r>
            <a:r>
              <a:rPr lang="zh-CN" altLang="en-US" sz="1000" dirty="0">
                <a:solidFill>
                  <a:schemeClr val="tx1">
                    <a:alpha val="70000"/>
                  </a:schemeClr>
                </a:solidFill>
                <a:latin typeface="微软雅黑" panose="020B0503020204020204" charset="-122"/>
                <a:ea typeface="微软雅黑" panose="020B0503020204020204" charset="-122"/>
              </a:rPr>
              <a:t>模式</a:t>
            </a:r>
            <a:endParaRPr lang="zh-CN" altLang="en-US" sz="1000" dirty="0">
              <a:solidFill>
                <a:schemeClr val="tx1">
                  <a:alpha val="70000"/>
                </a:schemeClr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marL="171450" indent="-171450">
              <a:lnSpc>
                <a:spcPct val="130000"/>
              </a:lnSpc>
              <a:buFont typeface="Arial" panose="020B0604020202020204" pitchFamily="34" charset="0"/>
              <a:buChar char="•"/>
            </a:pPr>
            <a:r>
              <a:rPr lang="zh-CN" altLang="en-US" sz="1000" dirty="0">
                <a:solidFill>
                  <a:schemeClr val="tx1">
                    <a:alpha val="70000"/>
                  </a:schemeClr>
                </a:solidFill>
                <a:latin typeface="微软雅黑" panose="020B0503020204020204" charset="-122"/>
                <a:ea typeface="微软雅黑" panose="020B0503020204020204" charset="-122"/>
              </a:rPr>
              <a:t>自发内化调用</a:t>
            </a:r>
            <a:r>
              <a:rPr lang="zh-CN" altLang="en-US" sz="1000" dirty="0">
                <a:solidFill>
                  <a:schemeClr val="tx1">
                    <a:alpha val="70000"/>
                  </a:schemeClr>
                </a:solidFill>
                <a:latin typeface="微软雅黑" panose="020B0503020204020204" charset="-122"/>
                <a:ea typeface="微软雅黑" panose="020B0503020204020204" charset="-122"/>
              </a:rPr>
              <a:t>模型</a:t>
            </a:r>
            <a:endParaRPr lang="zh-CN" altLang="en-US" sz="1000" dirty="0">
              <a:solidFill>
                <a:schemeClr val="tx1">
                  <a:alpha val="70000"/>
                </a:schemeClr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marL="171450" indent="-171450">
              <a:lnSpc>
                <a:spcPct val="130000"/>
              </a:lnSpc>
              <a:buFont typeface="Arial" panose="020B0604020202020204" pitchFamily="34" charset="0"/>
              <a:buChar char="•"/>
            </a:pPr>
            <a:r>
              <a:rPr lang="zh-CN" altLang="en-US" sz="1000" dirty="0">
                <a:solidFill>
                  <a:schemeClr val="tx1">
                    <a:alpha val="70000"/>
                  </a:schemeClr>
                </a:solidFill>
                <a:latin typeface="微软雅黑" panose="020B0503020204020204" charset="-122"/>
                <a:ea typeface="微软雅黑" panose="020B0503020204020204" charset="-122"/>
              </a:rPr>
              <a:t>基于描述的动态选择</a:t>
            </a:r>
            <a:r>
              <a:rPr lang="zh-CN" altLang="en-US" sz="1000" dirty="0">
                <a:solidFill>
                  <a:schemeClr val="tx1">
                    <a:alpha val="70000"/>
                  </a:schemeClr>
                </a:solidFill>
                <a:latin typeface="微软雅黑" panose="020B0503020204020204" charset="-122"/>
                <a:ea typeface="微软雅黑" panose="020B0503020204020204" charset="-122"/>
              </a:rPr>
              <a:t>模式</a:t>
            </a:r>
            <a:endParaRPr lang="zh-CN" altLang="en-US" sz="1000" dirty="0">
              <a:solidFill>
                <a:schemeClr val="tx1">
                  <a:alpha val="70000"/>
                </a:schemeClr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7" name="TextBox 16"/>
          <p:cNvSpPr txBox="1"/>
          <p:nvPr>
            <p:custDataLst>
              <p:tags r:id="rId11"/>
            </p:custDataLst>
          </p:nvPr>
        </p:nvSpPr>
        <p:spPr>
          <a:xfrm>
            <a:off x="7914640" y="2514600"/>
            <a:ext cx="1371600" cy="368300"/>
          </a:xfrm>
          <a:prstGeom prst="rect">
            <a:avLst/>
          </a:prstGeom>
          <a:noFill/>
        </p:spPr>
        <p:txBody>
          <a:bodyPr wrap="none" lIns="0" rIns="0" rtlCol="0">
            <a:spAutoFit/>
          </a:bodyPr>
          <a:p>
            <a:pPr algn="l"/>
            <a:r>
              <a:rPr lang="zh-CN" altLang="en-US" b="1" dirty="0">
                <a:latin typeface="微软雅黑" panose="020B0503020204020204" charset="-122"/>
                <a:ea typeface="微软雅黑" panose="020B0503020204020204" charset="-122"/>
                <a:cs typeface="Open Sans" panose="020B0606030504020204" charset="0"/>
                <a:sym typeface="+mn-ea"/>
              </a:rPr>
              <a:t>三大设计模式</a:t>
            </a:r>
            <a:endParaRPr lang="zh-CN" altLang="en-US" b="1" dirty="0">
              <a:latin typeface="微软雅黑" panose="020B0503020204020204" charset="-122"/>
              <a:ea typeface="微软雅黑" panose="020B0503020204020204" charset="-122"/>
              <a:cs typeface="Open Sans" panose="020B0606030504020204" charset="0"/>
              <a:sym typeface="+mn-ea"/>
            </a:endParaRPr>
          </a:p>
        </p:txBody>
      </p:sp>
      <p:sp>
        <p:nvSpPr>
          <p:cNvPr id="18" name="Freeform 17"/>
          <p:cNvSpPr/>
          <p:nvPr>
            <p:custDataLst>
              <p:tags r:id="rId12"/>
            </p:custDataLst>
          </p:nvPr>
        </p:nvSpPr>
        <p:spPr bwMode="auto">
          <a:xfrm>
            <a:off x="6744970" y="2947035"/>
            <a:ext cx="461010" cy="328930"/>
          </a:xfrm>
          <a:custGeom>
            <a:avLst/>
            <a:gdLst>
              <a:gd name="T0" fmla="*/ 159 w 162"/>
              <a:gd name="T1" fmla="*/ 12 h 115"/>
              <a:gd name="T2" fmla="*/ 58 w 162"/>
              <a:gd name="T3" fmla="*/ 113 h 115"/>
              <a:gd name="T4" fmla="*/ 53 w 162"/>
              <a:gd name="T5" fmla="*/ 115 h 115"/>
              <a:gd name="T6" fmla="*/ 49 w 162"/>
              <a:gd name="T7" fmla="*/ 113 h 115"/>
              <a:gd name="T8" fmla="*/ 3 w 162"/>
              <a:gd name="T9" fmla="*/ 67 h 115"/>
              <a:gd name="T10" fmla="*/ 3 w 162"/>
              <a:gd name="T11" fmla="*/ 58 h 115"/>
              <a:gd name="T12" fmla="*/ 12 w 162"/>
              <a:gd name="T13" fmla="*/ 58 h 115"/>
              <a:gd name="T14" fmla="*/ 53 w 162"/>
              <a:gd name="T15" fmla="*/ 99 h 115"/>
              <a:gd name="T16" fmla="*/ 150 w 162"/>
              <a:gd name="T17" fmla="*/ 3 h 115"/>
              <a:gd name="T18" fmla="*/ 159 w 162"/>
              <a:gd name="T19" fmla="*/ 3 h 115"/>
              <a:gd name="T20" fmla="*/ 159 w 162"/>
              <a:gd name="T21" fmla="*/ 12 h 115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</a:cxnLst>
            <a:rect l="0" t="0" r="r" b="b"/>
            <a:pathLst>
              <a:path w="162" h="115">
                <a:moveTo>
                  <a:pt x="159" y="12"/>
                </a:moveTo>
                <a:cubicBezTo>
                  <a:pt x="58" y="113"/>
                  <a:pt x="58" y="113"/>
                  <a:pt x="58" y="113"/>
                </a:cubicBezTo>
                <a:cubicBezTo>
                  <a:pt x="57" y="114"/>
                  <a:pt x="55" y="115"/>
                  <a:pt x="53" y="115"/>
                </a:cubicBezTo>
                <a:cubicBezTo>
                  <a:pt x="52" y="115"/>
                  <a:pt x="50" y="114"/>
                  <a:pt x="49" y="113"/>
                </a:cubicBezTo>
                <a:cubicBezTo>
                  <a:pt x="3" y="67"/>
                  <a:pt x="3" y="67"/>
                  <a:pt x="3" y="67"/>
                </a:cubicBezTo>
                <a:cubicBezTo>
                  <a:pt x="0" y="65"/>
                  <a:pt x="0" y="61"/>
                  <a:pt x="3" y="58"/>
                </a:cubicBezTo>
                <a:cubicBezTo>
                  <a:pt x="5" y="56"/>
                  <a:pt x="10" y="56"/>
                  <a:pt x="12" y="58"/>
                </a:cubicBezTo>
                <a:cubicBezTo>
                  <a:pt x="53" y="99"/>
                  <a:pt x="53" y="99"/>
                  <a:pt x="53" y="99"/>
                </a:cubicBezTo>
                <a:cubicBezTo>
                  <a:pt x="150" y="3"/>
                  <a:pt x="150" y="3"/>
                  <a:pt x="150" y="3"/>
                </a:cubicBezTo>
                <a:cubicBezTo>
                  <a:pt x="152" y="0"/>
                  <a:pt x="157" y="0"/>
                  <a:pt x="159" y="3"/>
                </a:cubicBezTo>
                <a:cubicBezTo>
                  <a:pt x="162" y="5"/>
                  <a:pt x="162" y="10"/>
                  <a:pt x="159" y="12"/>
                </a:cubicBezTo>
                <a:close/>
              </a:path>
            </a:pathLst>
          </a:custGeom>
          <a:solidFill>
            <a:srgbClr val="010101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</a14:hiddenLine>
            </a:ext>
          </a:extLst>
        </p:spPr>
        <p:txBody>
          <a:bodyPr vert="horz" wrap="square" lIns="91440" tIns="45720" rIns="91440" bIns="45720" numCol="1" anchor="t" anchorCtr="0" compatLnSpc="1"/>
          <a:p>
            <a:endParaRPr lang="en-US">
              <a:latin typeface="微软雅黑" panose="020B0503020204020204" charset="-122"/>
              <a:ea typeface="微软雅黑" panose="020B0503020204020204" charset="-122"/>
            </a:endParaRPr>
          </a:p>
        </p:txBody>
      </p:sp>
      <p:grpSp>
        <p:nvGrpSpPr>
          <p:cNvPr id="2" name="组合 1"/>
          <p:cNvGrpSpPr/>
          <p:nvPr/>
        </p:nvGrpSpPr>
        <p:grpSpPr>
          <a:xfrm>
            <a:off x="2035810" y="582930"/>
            <a:ext cx="8120380" cy="1356360"/>
            <a:chOff x="3206" y="98"/>
            <a:chExt cx="12788" cy="2136"/>
          </a:xfrm>
        </p:grpSpPr>
        <p:sp>
          <p:nvSpPr>
            <p:cNvPr id="3" name="TextBox 8"/>
            <p:cNvSpPr txBox="1"/>
            <p:nvPr/>
          </p:nvSpPr>
          <p:spPr>
            <a:xfrm>
              <a:off x="3206" y="98"/>
              <a:ext cx="12788" cy="1598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p>
              <a:pPr algn="ctr"/>
              <a:r>
                <a:rPr lang="en-US" sz="6000" b="1" spc="600" dirty="0" smtClean="0">
                  <a:solidFill>
                    <a:schemeClr val="bg1">
                      <a:lumMod val="95000"/>
                    </a:schemeClr>
                  </a:solidFill>
                  <a:latin typeface="庞门正道标题体" panose="02010600030101010101" charset="-122"/>
                  <a:ea typeface="庞门正道标题体" panose="02010600030101010101" charset="-122"/>
                  <a:cs typeface="Montserrat" panose="00000500000000000000" pitchFamily="50" charset="0"/>
                </a:rPr>
                <a:t>TOOL USE</a:t>
              </a:r>
              <a:endParaRPr lang="en-US" sz="6000" b="1" spc="600" dirty="0" smtClean="0">
                <a:solidFill>
                  <a:schemeClr val="bg1">
                    <a:lumMod val="95000"/>
                  </a:schemeClr>
                </a:solidFill>
                <a:latin typeface="庞门正道标题体" panose="02010600030101010101" charset="-122"/>
                <a:ea typeface="庞门正道标题体" panose="02010600030101010101" charset="-122"/>
                <a:cs typeface="Montserrat" panose="00000500000000000000" pitchFamily="50" charset="0"/>
              </a:endParaRPr>
            </a:p>
          </p:txBody>
        </p:sp>
        <p:sp>
          <p:nvSpPr>
            <p:cNvPr id="24" name="TextBox 9"/>
            <p:cNvSpPr txBox="1"/>
            <p:nvPr/>
          </p:nvSpPr>
          <p:spPr>
            <a:xfrm>
              <a:off x="4143" y="653"/>
              <a:ext cx="10932" cy="130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p>
              <a:pPr algn="ctr"/>
              <a:r>
                <a:rPr lang="en-US" altLang="zh-CN" sz="4800" b="1" spc="600" dirty="0" smtClean="0">
                  <a:solidFill>
                    <a:schemeClr val="tx1"/>
                  </a:solidFill>
                  <a:latin typeface="方正明尚简体" panose="02000000000000000000" charset="-122"/>
                  <a:ea typeface="方正明尚简体" panose="02000000000000000000" charset="-122"/>
                  <a:cs typeface="Montserrat" panose="00000500000000000000" pitchFamily="50" charset="0"/>
                </a:rPr>
                <a:t>SKILLS</a:t>
              </a:r>
              <a:endParaRPr lang="en-US" altLang="zh-CN" sz="4800" b="1" spc="600" dirty="0" smtClean="0">
                <a:solidFill>
                  <a:schemeClr val="tx1"/>
                </a:solidFill>
                <a:latin typeface="方正明尚简体" panose="02000000000000000000" charset="-122"/>
                <a:ea typeface="方正明尚简体" panose="02000000000000000000" charset="-122"/>
                <a:cs typeface="Montserrat" panose="00000500000000000000" pitchFamily="50" charset="0"/>
              </a:endParaRPr>
            </a:p>
          </p:txBody>
        </p:sp>
        <p:sp>
          <p:nvSpPr>
            <p:cNvPr id="25" name="TextBox 12"/>
            <p:cNvSpPr txBox="1"/>
            <p:nvPr/>
          </p:nvSpPr>
          <p:spPr>
            <a:xfrm>
              <a:off x="5681" y="1618"/>
              <a:ext cx="7856" cy="616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p>
              <a:pPr algn="ctr">
                <a:lnSpc>
                  <a:spcPct val="150000"/>
                </a:lnSpc>
              </a:pPr>
              <a:r>
                <a:rPr lang="en-US" sz="2000" baseline="-25000" dirty="0" smtClean="0">
                  <a:latin typeface="Dotum" panose="020B0600000101010101" charset="-127"/>
                  <a:ea typeface="Dotum" panose="020B0600000101010101" charset="-127"/>
                  <a:cs typeface="+mj-lt"/>
                  <a:sym typeface="+mn-ea"/>
                </a:rPr>
                <a:t>skill </a:t>
              </a:r>
              <a:r>
                <a:rPr lang="en-US" altLang="zh-CN" sz="2000" baseline="-25000" dirty="0" smtClean="0">
                  <a:latin typeface="Dotum" panose="020B0600000101010101" charset="-127"/>
                  <a:ea typeface="Dotum" panose="020B0600000101010101" charset="-127"/>
                  <a:cs typeface="+mj-lt"/>
                  <a:sym typeface="+mn-ea"/>
                </a:rPr>
                <a:t>engineering applications</a:t>
              </a:r>
              <a:r>
                <a:rPr lang="en-US" sz="2000" baseline="-25000" dirty="0" smtClean="0">
                  <a:latin typeface="Dotum" panose="020B0600000101010101" charset="-127"/>
                  <a:ea typeface="Dotum" panose="020B0600000101010101" charset="-127"/>
                  <a:cs typeface="+mj-lt"/>
                  <a:sym typeface="+mn-ea"/>
                </a:rPr>
                <a:t> </a:t>
              </a:r>
              <a:endParaRPr lang="en-US" sz="2000" baseline="-25000" dirty="0" smtClean="0">
                <a:latin typeface="Dotum" panose="020B0600000101010101" charset="-127"/>
                <a:ea typeface="Dotum" panose="020B0600000101010101" charset="-127"/>
                <a:cs typeface="+mj-lt"/>
              </a:endParaRPr>
            </a:p>
          </p:txBody>
        </p:sp>
      </p:grp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0"/>
    </mc:Choice>
    <mc:Fallback>
      <p:transition/>
    </mc:Fallback>
  </mc:AlternateContent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grpSp>
        <p:nvGrpSpPr>
          <p:cNvPr id="2" name="组合 1"/>
          <p:cNvGrpSpPr/>
          <p:nvPr/>
        </p:nvGrpSpPr>
        <p:grpSpPr>
          <a:xfrm>
            <a:off x="-1386840" y="62865"/>
            <a:ext cx="8120380" cy="1326515"/>
            <a:chOff x="-2184" y="-721"/>
            <a:chExt cx="12788" cy="2089"/>
          </a:xfrm>
        </p:grpSpPr>
        <p:sp>
          <p:nvSpPr>
            <p:cNvPr id="3" name="TextBox 8"/>
            <p:cNvSpPr txBox="1"/>
            <p:nvPr/>
          </p:nvSpPr>
          <p:spPr>
            <a:xfrm>
              <a:off x="-2184" y="-721"/>
              <a:ext cx="12788" cy="1598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p>
              <a:pPr algn="ctr"/>
              <a:r>
                <a:rPr lang="en-US" sz="6000" b="1" spc="600" dirty="0" smtClean="0">
                  <a:solidFill>
                    <a:schemeClr val="bg1">
                      <a:lumMod val="95000"/>
                    </a:schemeClr>
                  </a:solidFill>
                  <a:latin typeface="庞门正道标题体" panose="02010600030101010101" charset="-122"/>
                  <a:ea typeface="庞门正道标题体" panose="02010600030101010101" charset="-122"/>
                  <a:cs typeface="Montserrat" panose="00000500000000000000" pitchFamily="50" charset="0"/>
                </a:rPr>
                <a:t>MINIMALIST</a:t>
              </a:r>
              <a:endParaRPr lang="en-US" sz="6000" b="1" spc="600" dirty="0" smtClean="0">
                <a:solidFill>
                  <a:schemeClr val="bg1">
                    <a:lumMod val="95000"/>
                  </a:schemeClr>
                </a:solidFill>
                <a:latin typeface="庞门正道标题体" panose="02010600030101010101" charset="-122"/>
                <a:ea typeface="庞门正道标题体" panose="02010600030101010101" charset="-122"/>
                <a:cs typeface="Montserrat" panose="00000500000000000000" pitchFamily="50" charset="0"/>
              </a:endParaRPr>
            </a:p>
          </p:txBody>
        </p:sp>
        <p:sp>
          <p:nvSpPr>
            <p:cNvPr id="24" name="TextBox 9"/>
            <p:cNvSpPr txBox="1"/>
            <p:nvPr/>
          </p:nvSpPr>
          <p:spPr>
            <a:xfrm>
              <a:off x="-1247" y="-166"/>
              <a:ext cx="10932" cy="130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p>
              <a:pPr algn="ctr"/>
              <a:r>
                <a:rPr lang="zh-CN" altLang="en-US" sz="4800" b="1" spc="600" dirty="0" smtClean="0">
                  <a:latin typeface="方正明尚简体" panose="02000000000000000000" charset="-122"/>
                  <a:ea typeface="方正明尚简体" panose="02000000000000000000" charset="-122"/>
                  <a:cs typeface="Montserrat" panose="00000500000000000000" pitchFamily="50" charset="0"/>
                  <a:sym typeface="+mn-ea"/>
                </a:rPr>
                <a:t>三大设计原则</a:t>
              </a:r>
              <a:endParaRPr lang="zh-CN" altLang="zh-CN" sz="4800" spc="600" dirty="0" smtClean="0">
                <a:solidFill>
                  <a:schemeClr val="tx1"/>
                </a:solidFill>
                <a:latin typeface="方正明尚简体" panose="02000000000000000000" charset="-122"/>
                <a:ea typeface="方正明尚简体" panose="02000000000000000000" charset="-122"/>
                <a:cs typeface="Montserrat" panose="00000500000000000000" pitchFamily="50" charset="0"/>
              </a:endParaRPr>
            </a:p>
          </p:txBody>
        </p:sp>
        <p:sp>
          <p:nvSpPr>
            <p:cNvPr id="25" name="TextBox 12"/>
            <p:cNvSpPr txBox="1"/>
            <p:nvPr/>
          </p:nvSpPr>
          <p:spPr>
            <a:xfrm>
              <a:off x="291" y="799"/>
              <a:ext cx="7856" cy="56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p>
              <a:pPr algn="ctr">
                <a:lnSpc>
                  <a:spcPct val="150000"/>
                </a:lnSpc>
              </a:pPr>
              <a:r>
                <a:rPr lang="en-US" baseline="-25000" dirty="0" smtClean="0">
                  <a:latin typeface="Dotum" panose="020B0600000101010101" charset="-127"/>
                  <a:ea typeface="Dotum" panose="020B0600000101010101" charset="-127"/>
                  <a:cs typeface="+mj-lt"/>
                </a:rPr>
                <a:t>minimal presentation template</a:t>
              </a:r>
              <a:endParaRPr lang="en-US" baseline="-25000" dirty="0" smtClean="0">
                <a:latin typeface="Dotum" panose="020B0600000101010101" charset="-127"/>
                <a:ea typeface="Dotum" panose="020B0600000101010101" charset="-127"/>
                <a:cs typeface="+mj-lt"/>
              </a:endParaRPr>
            </a:p>
          </p:txBody>
        </p:sp>
      </p:grpSp>
      <p:sp>
        <p:nvSpPr>
          <p:cNvPr id="5" name="文本框 4"/>
          <p:cNvSpPr txBox="1"/>
          <p:nvPr/>
        </p:nvSpPr>
        <p:spPr>
          <a:xfrm>
            <a:off x="1188085" y="1887855"/>
            <a:ext cx="9215120" cy="341503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pPr marL="285750" indent="-285750">
              <a:buFont typeface="Arial" panose="020B0604020202020204" pitchFamily="34" charset="0"/>
              <a:buChar char="•"/>
            </a:pPr>
            <a:r>
              <a:rPr lang="zh-CN" altLang="en-US"/>
              <a:t>保持简单</a:t>
            </a:r>
            <a:r>
              <a:rPr lang="en-US" altLang="zh-CN"/>
              <a:t> (Maintain simplicity)</a:t>
            </a:r>
            <a:r>
              <a:rPr lang="zh-CN" altLang="en-US"/>
              <a:t>：</a:t>
            </a:r>
            <a:r>
              <a:rPr lang="en-US" altLang="zh-CN"/>
              <a:t> </a:t>
            </a:r>
            <a:endParaRPr lang="en-US" altLang="zh-CN"/>
          </a:p>
          <a:p>
            <a:pPr lvl="1" indent="0">
              <a:buFont typeface="Arial" panose="020B0604020202020204" pitchFamily="34" charset="0"/>
              <a:buNone/>
            </a:pPr>
            <a:r>
              <a:rPr lang="zh-CN" altLang="en-US"/>
              <a:t>不要过度设计复杂的</a:t>
            </a:r>
            <a:r>
              <a:rPr lang="en-US" altLang="zh-CN"/>
              <a:t> Agent </a:t>
            </a:r>
            <a:r>
              <a:rPr lang="zh-CN" altLang="en-US"/>
              <a:t>框架</a:t>
            </a:r>
            <a:endParaRPr lang="zh-CN" altLang="en-US"/>
          </a:p>
          <a:p>
            <a:endParaRPr lang="en-US" altLang="zh-CN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zh-CN" altLang="en-US"/>
              <a:t>保持透明</a:t>
            </a:r>
            <a:r>
              <a:rPr lang="en-US" altLang="zh-CN"/>
              <a:t> (Prioritize transparency)</a:t>
            </a:r>
            <a:r>
              <a:rPr lang="zh-CN" altLang="en-US"/>
              <a:t>：</a:t>
            </a:r>
            <a:r>
              <a:rPr lang="en-US" altLang="zh-CN"/>
              <a:t> </a:t>
            </a:r>
            <a:endParaRPr lang="en-US" altLang="zh-CN"/>
          </a:p>
          <a:p>
            <a:pPr indent="457200">
              <a:buFont typeface="Arial" panose="020B0604020202020204" pitchFamily="34" charset="0"/>
              <a:buNone/>
            </a:pPr>
            <a:r>
              <a:rPr lang="zh-CN" altLang="en-US"/>
              <a:t>强制模型在调用</a:t>
            </a:r>
            <a:r>
              <a:rPr lang="en-US" altLang="zh-CN"/>
              <a:t> Skill </a:t>
            </a:r>
            <a:r>
              <a:rPr lang="zh-CN" altLang="en-US"/>
              <a:t>之前输出它的</a:t>
            </a:r>
            <a:r>
              <a:rPr lang="en-US" altLang="zh-CN"/>
              <a:t>“</a:t>
            </a:r>
            <a:r>
              <a:rPr lang="zh-CN" altLang="en-US"/>
              <a:t>思考和计划步骤</a:t>
            </a:r>
            <a:r>
              <a:rPr lang="en-US" altLang="zh-CN"/>
              <a:t>”</a:t>
            </a:r>
            <a:r>
              <a:rPr lang="zh-CN" altLang="en-US"/>
              <a:t>（即</a:t>
            </a:r>
            <a:r>
              <a:rPr lang="en-US" altLang="zh-CN"/>
              <a:t> Chain of Thought</a:t>
            </a:r>
            <a:r>
              <a:rPr lang="zh-CN" altLang="en-US"/>
              <a:t>），这能极大降低调用错误率。</a:t>
            </a:r>
            <a:endParaRPr lang="zh-CN" altLang="en-US"/>
          </a:p>
          <a:p>
            <a:endParaRPr lang="en-US" altLang="zh-CN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zh-CN" altLang="en-US"/>
              <a:t>精心打磨工具文档：</a:t>
            </a:r>
            <a:r>
              <a:rPr lang="en-US" altLang="zh-CN"/>
              <a:t> </a:t>
            </a:r>
            <a:endParaRPr lang="en-US" altLang="zh-CN"/>
          </a:p>
          <a:p>
            <a:pPr indent="457200">
              <a:buFont typeface="Arial" panose="020B0604020202020204" pitchFamily="34" charset="0"/>
              <a:buNone/>
            </a:pPr>
            <a:r>
              <a:rPr lang="en-US" altLang="zh-CN"/>
              <a:t>Anthropic </a:t>
            </a:r>
            <a:r>
              <a:rPr lang="zh-CN" altLang="en-US"/>
              <a:t>提出一个非常有意思的检验标准</a:t>
            </a:r>
            <a:r>
              <a:rPr lang="en-US" altLang="zh-CN"/>
              <a:t>——“</a:t>
            </a:r>
            <a:r>
              <a:rPr lang="zh-CN" altLang="en-US"/>
              <a:t>换位思考（</a:t>
            </a:r>
            <a:r>
              <a:rPr lang="en-US" altLang="zh-CN"/>
              <a:t>Put yourself in the model's shoes</a:t>
            </a:r>
            <a:r>
              <a:rPr lang="zh-CN" altLang="en-US"/>
              <a:t>）</a:t>
            </a:r>
            <a:r>
              <a:rPr lang="en-US" altLang="zh-CN"/>
              <a:t>”</a:t>
            </a:r>
            <a:r>
              <a:rPr lang="zh-CN" altLang="en-US"/>
              <a:t>。如果您看一眼</a:t>
            </a:r>
            <a:r>
              <a:rPr lang="en-US" altLang="zh-CN"/>
              <a:t> Skill </a:t>
            </a:r>
            <a:r>
              <a:rPr lang="zh-CN" altLang="en-US"/>
              <a:t>的名称和参数列表，不能立刻明白怎么用，那大模型也一样。好的</a:t>
            </a:r>
            <a:r>
              <a:rPr lang="en-US" altLang="zh-CN"/>
              <a:t> Skill </a:t>
            </a:r>
            <a:r>
              <a:rPr lang="zh-CN" altLang="en-US"/>
              <a:t>定义必须包含：示例用法、边缘情况（</a:t>
            </a:r>
            <a:r>
              <a:rPr lang="en-US" altLang="zh-CN"/>
              <a:t>Edge cases</a:t>
            </a:r>
            <a:r>
              <a:rPr lang="zh-CN" altLang="en-US"/>
              <a:t>）、输入格式要求，以及与其他相似工具的清晰边界。</a:t>
            </a:r>
            <a:endParaRPr lang="zh-CN" altLang="en-US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0"/>
    </mc:Choice>
    <mc:Fallback>
      <p:transition/>
    </mc:Fallback>
  </mc:AlternateContent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grpSp>
        <p:nvGrpSpPr>
          <p:cNvPr id="2" name="组合 1"/>
          <p:cNvGrpSpPr/>
          <p:nvPr/>
        </p:nvGrpSpPr>
        <p:grpSpPr>
          <a:xfrm>
            <a:off x="-1386840" y="62865"/>
            <a:ext cx="8120380" cy="1521460"/>
            <a:chOff x="-2184" y="-721"/>
            <a:chExt cx="12788" cy="2396"/>
          </a:xfrm>
        </p:grpSpPr>
        <p:sp>
          <p:nvSpPr>
            <p:cNvPr id="3" name="TextBox 8"/>
            <p:cNvSpPr txBox="1"/>
            <p:nvPr/>
          </p:nvSpPr>
          <p:spPr>
            <a:xfrm>
              <a:off x="-2184" y="-721"/>
              <a:ext cx="12788" cy="1598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p>
              <a:pPr algn="ctr"/>
              <a:r>
                <a:rPr lang="en-US" sz="6000" b="1" spc="600" dirty="0" smtClean="0">
                  <a:solidFill>
                    <a:schemeClr val="bg1">
                      <a:lumMod val="95000"/>
                    </a:schemeClr>
                  </a:solidFill>
                  <a:latin typeface="庞门正道标题体" panose="02010600030101010101" charset="-122"/>
                  <a:ea typeface="庞门正道标题体" panose="02010600030101010101" charset="-122"/>
                  <a:cs typeface="Montserrat" panose="00000500000000000000" pitchFamily="50" charset="0"/>
                </a:rPr>
                <a:t>MINIMALIST</a:t>
              </a:r>
              <a:endParaRPr lang="en-US" sz="6000" b="1" spc="600" dirty="0" smtClean="0">
                <a:solidFill>
                  <a:schemeClr val="bg1">
                    <a:lumMod val="95000"/>
                  </a:schemeClr>
                </a:solidFill>
                <a:latin typeface="庞门正道标题体" panose="02010600030101010101" charset="-122"/>
                <a:ea typeface="庞门正道标题体" panose="02010600030101010101" charset="-122"/>
                <a:cs typeface="Montserrat" panose="00000500000000000000" pitchFamily="50" charset="0"/>
              </a:endParaRPr>
            </a:p>
          </p:txBody>
        </p:sp>
        <p:sp>
          <p:nvSpPr>
            <p:cNvPr id="24" name="TextBox 9"/>
            <p:cNvSpPr txBox="1"/>
            <p:nvPr/>
          </p:nvSpPr>
          <p:spPr>
            <a:xfrm>
              <a:off x="-1247" y="-166"/>
              <a:ext cx="10932" cy="130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p>
              <a:pPr algn="ctr"/>
              <a:r>
                <a:rPr lang="zh-CN" altLang="en-US" sz="4800" b="1" spc="600" dirty="0" smtClean="0">
                  <a:latin typeface="方正明尚简体" panose="02000000000000000000" charset="-122"/>
                  <a:ea typeface="方正明尚简体" panose="02000000000000000000" charset="-122"/>
                  <a:cs typeface="Montserrat" panose="00000500000000000000" pitchFamily="50" charset="0"/>
                  <a:sym typeface="+mn-ea"/>
                </a:rPr>
                <a:t>三大设计原则</a:t>
              </a:r>
              <a:endParaRPr lang="zh-CN" altLang="zh-CN" sz="4800" spc="600" dirty="0" smtClean="0">
                <a:solidFill>
                  <a:schemeClr val="tx1"/>
                </a:solidFill>
                <a:latin typeface="方正明尚简体" panose="02000000000000000000" charset="-122"/>
                <a:ea typeface="方正明尚简体" panose="02000000000000000000" charset="-122"/>
                <a:cs typeface="Montserrat" panose="00000500000000000000" pitchFamily="50" charset="0"/>
              </a:endParaRPr>
            </a:p>
          </p:txBody>
        </p:sp>
        <p:sp>
          <p:nvSpPr>
            <p:cNvPr id="25" name="TextBox 12"/>
            <p:cNvSpPr txBox="1"/>
            <p:nvPr/>
          </p:nvSpPr>
          <p:spPr>
            <a:xfrm>
              <a:off x="-1840" y="877"/>
              <a:ext cx="7856" cy="798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p>
              <a:pPr algn="ctr">
                <a:lnSpc>
                  <a:spcPct val="150000"/>
                </a:lnSpc>
              </a:pPr>
              <a:r>
                <a:rPr lang="zh-CN" altLang="en-US" b="1">
                  <a:latin typeface="黑体" panose="02010609060101010101" charset="-122"/>
                  <a:ea typeface="黑体" panose="02010609060101010101" charset="-122"/>
                  <a:sym typeface="+mn-ea"/>
                </a:rPr>
                <a:t>保持简单案例</a:t>
              </a:r>
              <a:r>
                <a:rPr lang="en-US" altLang="zh-CN" b="1">
                  <a:latin typeface="黑体" panose="02010609060101010101" charset="-122"/>
                  <a:ea typeface="黑体" panose="02010609060101010101" charset="-122"/>
                  <a:sym typeface="+mn-ea"/>
                </a:rPr>
                <a:t>1</a:t>
              </a:r>
              <a:endParaRPr lang="en-US" altLang="zh-CN" b="1">
                <a:latin typeface="黑体" panose="02010609060101010101" charset="-122"/>
                <a:ea typeface="黑体" panose="02010609060101010101" charset="-122"/>
                <a:sym typeface="+mn-ea"/>
              </a:endParaRPr>
            </a:p>
          </p:txBody>
        </p:sp>
      </p:grpSp>
      <p:sp>
        <p:nvSpPr>
          <p:cNvPr id="7" name="文本框 6"/>
          <p:cNvSpPr txBox="1"/>
          <p:nvPr/>
        </p:nvSpPr>
        <p:spPr>
          <a:xfrm>
            <a:off x="2230120" y="1245235"/>
            <a:ext cx="7045325" cy="30670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zh-CN" altLang="en-US" sz="1400"/>
              <a:t>吴恩达：</a:t>
            </a:r>
            <a:r>
              <a:rPr lang="en-US" altLang="zh-CN" sz="1400"/>
              <a:t>Agentic Design Patterns</a:t>
            </a:r>
            <a:r>
              <a:rPr lang="zh-CN" altLang="en-US" sz="1400"/>
              <a:t>（智能体设计模式）</a:t>
            </a:r>
            <a:endParaRPr lang="zh-CN" altLang="en-US" sz="1400"/>
          </a:p>
        </p:txBody>
      </p:sp>
      <p:sp>
        <p:nvSpPr>
          <p:cNvPr id="9" name="文本框 8"/>
          <p:cNvSpPr txBox="1"/>
          <p:nvPr/>
        </p:nvSpPr>
        <p:spPr>
          <a:xfrm>
            <a:off x="745490" y="1719580"/>
            <a:ext cx="10593705" cy="64516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zh-CN" altLang="en-US" b="1"/>
              <a:t>多个</a:t>
            </a:r>
            <a:r>
              <a:rPr lang="en-US" altLang="zh-CN" b="1"/>
              <a:t> Agent </a:t>
            </a:r>
            <a:r>
              <a:rPr lang="zh-CN" altLang="en-US" b="1"/>
              <a:t>互相</a:t>
            </a:r>
            <a:r>
              <a:rPr lang="en-US" altLang="zh-CN" b="1"/>
              <a:t>“</a:t>
            </a:r>
            <a:r>
              <a:rPr lang="zh-CN" altLang="en-US" b="1"/>
              <a:t>辩论</a:t>
            </a:r>
            <a:r>
              <a:rPr lang="en-US" altLang="zh-CN" b="1"/>
              <a:t>”</a:t>
            </a:r>
            <a:r>
              <a:rPr lang="zh-CN" altLang="en-US" b="1"/>
              <a:t>或</a:t>
            </a:r>
            <a:r>
              <a:rPr lang="en-US" altLang="zh-CN" b="1"/>
              <a:t>“</a:t>
            </a:r>
            <a:r>
              <a:rPr lang="zh-CN" altLang="en-US" b="1"/>
              <a:t>协作</a:t>
            </a:r>
            <a:r>
              <a:rPr lang="en-US" altLang="zh-CN" b="1"/>
              <a:t>”</a:t>
            </a:r>
            <a:r>
              <a:rPr lang="zh-CN" altLang="en-US" b="1"/>
              <a:t>的演示看起来极具未来感，但在真实的工业级生产环境中，优先采用</a:t>
            </a:r>
            <a:r>
              <a:rPr lang="en-US" altLang="zh-CN" b="1"/>
              <a:t>“</a:t>
            </a:r>
            <a:r>
              <a:rPr lang="zh-CN" altLang="en-US" b="1"/>
              <a:t>单体反思</a:t>
            </a:r>
            <a:r>
              <a:rPr lang="en-US" altLang="zh-CN" b="1"/>
              <a:t> + </a:t>
            </a:r>
            <a:r>
              <a:rPr lang="zh-CN" altLang="en-US" b="1"/>
              <a:t>工具调用</a:t>
            </a:r>
            <a:r>
              <a:rPr lang="en-US" altLang="zh-CN" b="1"/>
              <a:t>”</a:t>
            </a:r>
            <a:r>
              <a:rPr lang="zh-CN" altLang="en-US" b="1"/>
              <a:t>的简单组合，往往能带来远超预期的鲁棒性和投资回报率。</a:t>
            </a:r>
            <a:endParaRPr lang="zh-CN" altLang="en-US" b="1"/>
          </a:p>
        </p:txBody>
      </p:sp>
      <p:sp>
        <p:nvSpPr>
          <p:cNvPr id="10" name="文本框 9"/>
          <p:cNvSpPr txBox="1"/>
          <p:nvPr/>
        </p:nvSpPr>
        <p:spPr>
          <a:xfrm>
            <a:off x="935990" y="2716530"/>
            <a:ext cx="10578465" cy="230695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/>
              <a:t>1. </a:t>
            </a:r>
            <a:r>
              <a:rPr lang="zh-CN" altLang="en-US"/>
              <a:t>状态空间爆炸</a:t>
            </a:r>
            <a:r>
              <a:rPr lang="en-US" altLang="zh-CN"/>
              <a:t> vs. </a:t>
            </a:r>
            <a:r>
              <a:rPr lang="zh-CN" altLang="en-US"/>
              <a:t>确定性控制</a:t>
            </a:r>
            <a:r>
              <a:rPr lang="en-US" altLang="zh-CN"/>
              <a:t> (Predictability &amp; Control)</a:t>
            </a:r>
            <a:endParaRPr lang="en-US" altLang="zh-CN"/>
          </a:p>
          <a:p>
            <a:r>
              <a:rPr lang="zh-CN" altLang="en-US"/>
              <a:t>多智能体系统的本质是一个</a:t>
            </a:r>
            <a:r>
              <a:rPr lang="en-US" altLang="zh-CN"/>
              <a:t>“</a:t>
            </a:r>
            <a:r>
              <a:rPr lang="zh-CN" altLang="en-US"/>
              <a:t>分布式的异步网络</a:t>
            </a:r>
            <a:r>
              <a:rPr lang="en-US" altLang="zh-CN"/>
              <a:t>”</a:t>
            </a:r>
            <a:r>
              <a:rPr lang="zh-CN" altLang="en-US"/>
              <a:t>。当</a:t>
            </a:r>
            <a:r>
              <a:rPr lang="en-US" altLang="zh-CN"/>
              <a:t> Agent A </a:t>
            </a:r>
            <a:r>
              <a:rPr lang="zh-CN" altLang="en-US"/>
              <a:t>生成一段结果，交给</a:t>
            </a:r>
            <a:r>
              <a:rPr lang="en-US" altLang="zh-CN"/>
              <a:t> Agent B </a:t>
            </a:r>
            <a:r>
              <a:rPr lang="zh-CN" altLang="en-US"/>
              <a:t>审查，再由</a:t>
            </a:r>
            <a:r>
              <a:rPr lang="en-US" altLang="zh-CN"/>
              <a:t> Agent C </a:t>
            </a:r>
            <a:r>
              <a:rPr lang="zh-CN" altLang="en-US"/>
              <a:t>去执行时，系统内部的交互状态空间呈指数级膨胀。在工业场景中，这种缺乏边界的</a:t>
            </a:r>
            <a:r>
              <a:rPr lang="en-US" altLang="zh-CN"/>
              <a:t>“</a:t>
            </a:r>
            <a:r>
              <a:rPr lang="zh-CN" altLang="en-US"/>
              <a:t>自由对话</a:t>
            </a:r>
            <a:r>
              <a:rPr lang="en-US" altLang="zh-CN"/>
              <a:t>”</a:t>
            </a:r>
            <a:r>
              <a:rPr lang="zh-CN" altLang="en-US"/>
              <a:t>很容易陷入死循环、话题跑偏或角色混淆，导致极高的系统调试（</a:t>
            </a:r>
            <a:r>
              <a:rPr lang="en-US" altLang="zh-CN"/>
              <a:t>Debug</a:t>
            </a:r>
            <a:r>
              <a:rPr lang="zh-CN" altLang="en-US"/>
              <a:t>）成本。</a:t>
            </a:r>
            <a:endParaRPr lang="zh-CN" altLang="en-US"/>
          </a:p>
          <a:p>
            <a:endParaRPr lang="en-US" altLang="zh-CN"/>
          </a:p>
          <a:p>
            <a:r>
              <a:rPr lang="zh-CN" altLang="en-US"/>
              <a:t>相反，</a:t>
            </a:r>
            <a:r>
              <a:rPr lang="en-US" altLang="zh-CN"/>
              <a:t>“</a:t>
            </a:r>
            <a:r>
              <a:rPr lang="zh-CN" altLang="en-US"/>
              <a:t>单体</a:t>
            </a:r>
            <a:r>
              <a:rPr lang="en-US" altLang="zh-CN"/>
              <a:t> Agent + Reflection” </a:t>
            </a:r>
            <a:r>
              <a:rPr lang="zh-CN" altLang="en-US"/>
              <a:t>模式更像是一个经典的、带条件的</a:t>
            </a:r>
            <a:r>
              <a:rPr lang="en-US" altLang="zh-CN"/>
              <a:t> while </a:t>
            </a:r>
            <a:r>
              <a:rPr lang="zh-CN" altLang="en-US"/>
              <a:t>循环：模型调用工具执行</a:t>
            </a:r>
            <a:r>
              <a:rPr lang="en-US" altLang="zh-CN"/>
              <a:t> -&gt; </a:t>
            </a:r>
            <a:r>
              <a:rPr lang="zh-CN" altLang="en-US"/>
              <a:t>获取执行结果</a:t>
            </a:r>
            <a:r>
              <a:rPr lang="en-US" altLang="zh-CN"/>
              <a:t> -&gt; </a:t>
            </a:r>
            <a:r>
              <a:rPr lang="zh-CN" altLang="en-US"/>
              <a:t>自己审视结果是否达标</a:t>
            </a:r>
            <a:r>
              <a:rPr lang="en-US" altLang="zh-CN"/>
              <a:t> -&gt; </a:t>
            </a:r>
            <a:r>
              <a:rPr lang="zh-CN" altLang="en-US"/>
              <a:t>修正错误并重试。这种模式的数据流向是单向且明确的，开发者可以通过严格的代码逻辑（</a:t>
            </a:r>
            <a:r>
              <a:rPr lang="en-US" altLang="zh-CN"/>
              <a:t>Harness</a:t>
            </a:r>
            <a:r>
              <a:rPr lang="zh-CN" altLang="en-US"/>
              <a:t>）来控制最大重试次数，确保系统行为的确定性。</a:t>
            </a:r>
            <a:endParaRPr lang="zh-CN" altLang="en-US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0"/>
    </mc:Choice>
    <mc:Fallback>
      <p:transition/>
    </mc:Fallback>
  </mc:AlternateContent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grpSp>
        <p:nvGrpSpPr>
          <p:cNvPr id="2" name="组合 1"/>
          <p:cNvGrpSpPr/>
          <p:nvPr/>
        </p:nvGrpSpPr>
        <p:grpSpPr>
          <a:xfrm>
            <a:off x="-1386840" y="62865"/>
            <a:ext cx="8120380" cy="1521460"/>
            <a:chOff x="-2184" y="-721"/>
            <a:chExt cx="12788" cy="2396"/>
          </a:xfrm>
        </p:grpSpPr>
        <p:sp>
          <p:nvSpPr>
            <p:cNvPr id="3" name="TextBox 8"/>
            <p:cNvSpPr txBox="1"/>
            <p:nvPr/>
          </p:nvSpPr>
          <p:spPr>
            <a:xfrm>
              <a:off x="-2184" y="-721"/>
              <a:ext cx="12788" cy="1598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p>
              <a:pPr algn="ctr"/>
              <a:r>
                <a:rPr lang="en-US" sz="6000" b="1" spc="600" dirty="0" smtClean="0">
                  <a:solidFill>
                    <a:schemeClr val="bg1">
                      <a:lumMod val="95000"/>
                    </a:schemeClr>
                  </a:solidFill>
                  <a:latin typeface="庞门正道标题体" panose="02010600030101010101" charset="-122"/>
                  <a:ea typeface="庞门正道标题体" panose="02010600030101010101" charset="-122"/>
                  <a:cs typeface="Montserrat" panose="00000500000000000000" pitchFamily="50" charset="0"/>
                </a:rPr>
                <a:t>MINIMALIST</a:t>
              </a:r>
              <a:endParaRPr lang="en-US" sz="6000" b="1" spc="600" dirty="0" smtClean="0">
                <a:solidFill>
                  <a:schemeClr val="bg1">
                    <a:lumMod val="95000"/>
                  </a:schemeClr>
                </a:solidFill>
                <a:latin typeface="庞门正道标题体" panose="02010600030101010101" charset="-122"/>
                <a:ea typeface="庞门正道标题体" panose="02010600030101010101" charset="-122"/>
                <a:cs typeface="Montserrat" panose="00000500000000000000" pitchFamily="50" charset="0"/>
              </a:endParaRPr>
            </a:p>
          </p:txBody>
        </p:sp>
        <p:sp>
          <p:nvSpPr>
            <p:cNvPr id="24" name="TextBox 9"/>
            <p:cNvSpPr txBox="1"/>
            <p:nvPr/>
          </p:nvSpPr>
          <p:spPr>
            <a:xfrm>
              <a:off x="-1247" y="-166"/>
              <a:ext cx="10932" cy="130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p>
              <a:pPr algn="ctr"/>
              <a:r>
                <a:rPr lang="zh-CN" altLang="en-US" sz="4800" b="1" spc="600" dirty="0" smtClean="0">
                  <a:latin typeface="方正明尚简体" panose="02000000000000000000" charset="-122"/>
                  <a:ea typeface="方正明尚简体" panose="02000000000000000000" charset="-122"/>
                  <a:cs typeface="Montserrat" panose="00000500000000000000" pitchFamily="50" charset="0"/>
                  <a:sym typeface="+mn-ea"/>
                </a:rPr>
                <a:t>三大设计原则</a:t>
              </a:r>
              <a:endParaRPr lang="zh-CN" altLang="zh-CN" sz="4800" spc="600" dirty="0" smtClean="0">
                <a:solidFill>
                  <a:schemeClr val="tx1"/>
                </a:solidFill>
                <a:latin typeface="方正明尚简体" panose="02000000000000000000" charset="-122"/>
                <a:ea typeface="方正明尚简体" panose="02000000000000000000" charset="-122"/>
                <a:cs typeface="Montserrat" panose="00000500000000000000" pitchFamily="50" charset="0"/>
              </a:endParaRPr>
            </a:p>
          </p:txBody>
        </p:sp>
        <p:sp>
          <p:nvSpPr>
            <p:cNvPr id="25" name="TextBox 12"/>
            <p:cNvSpPr txBox="1"/>
            <p:nvPr/>
          </p:nvSpPr>
          <p:spPr>
            <a:xfrm>
              <a:off x="-1828" y="877"/>
              <a:ext cx="7856" cy="798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p>
              <a:pPr algn="ctr">
                <a:lnSpc>
                  <a:spcPct val="150000"/>
                </a:lnSpc>
              </a:pPr>
              <a:r>
                <a:rPr lang="zh-CN" altLang="en-US" b="1">
                  <a:latin typeface="黑体" panose="02010609060101010101" charset="-122"/>
                  <a:ea typeface="黑体" panose="02010609060101010101" charset="-122"/>
                  <a:sym typeface="+mn-ea"/>
                </a:rPr>
                <a:t>保持简单案例</a:t>
              </a:r>
              <a:r>
                <a:rPr lang="en-US" altLang="zh-CN" b="1">
                  <a:latin typeface="黑体" panose="02010609060101010101" charset="-122"/>
                  <a:ea typeface="黑体" panose="02010609060101010101" charset="-122"/>
                  <a:sym typeface="+mn-ea"/>
                </a:rPr>
                <a:t>1</a:t>
              </a:r>
              <a:endParaRPr lang="en-US" altLang="zh-CN" b="1">
                <a:latin typeface="黑体" panose="02010609060101010101" charset="-122"/>
                <a:ea typeface="黑体" panose="02010609060101010101" charset="-122"/>
                <a:sym typeface="+mn-ea"/>
              </a:endParaRPr>
            </a:p>
          </p:txBody>
        </p:sp>
      </p:grpSp>
      <p:sp>
        <p:nvSpPr>
          <p:cNvPr id="7" name="文本框 6"/>
          <p:cNvSpPr txBox="1"/>
          <p:nvPr/>
        </p:nvSpPr>
        <p:spPr>
          <a:xfrm>
            <a:off x="2169160" y="1245235"/>
            <a:ext cx="7045325" cy="30670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zh-CN" altLang="en-US" sz="1400"/>
              <a:t>吴恩达：</a:t>
            </a:r>
            <a:r>
              <a:rPr lang="en-US" altLang="zh-CN" sz="1400"/>
              <a:t>Agentic Design Patterns</a:t>
            </a:r>
            <a:r>
              <a:rPr lang="zh-CN" altLang="en-US" sz="1400"/>
              <a:t>（智能体设计模式）</a:t>
            </a:r>
            <a:endParaRPr lang="zh-CN" altLang="en-US" sz="1400"/>
          </a:p>
        </p:txBody>
      </p:sp>
      <p:sp>
        <p:nvSpPr>
          <p:cNvPr id="9" name="文本框 8"/>
          <p:cNvSpPr txBox="1"/>
          <p:nvPr/>
        </p:nvSpPr>
        <p:spPr>
          <a:xfrm>
            <a:off x="745490" y="1719580"/>
            <a:ext cx="10593705" cy="64516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zh-CN" altLang="en-US" b="1"/>
              <a:t>多个</a:t>
            </a:r>
            <a:r>
              <a:rPr lang="en-US" altLang="zh-CN" b="1"/>
              <a:t> Agent </a:t>
            </a:r>
            <a:r>
              <a:rPr lang="zh-CN" altLang="en-US" b="1"/>
              <a:t>互相</a:t>
            </a:r>
            <a:r>
              <a:rPr lang="en-US" altLang="zh-CN" b="1"/>
              <a:t>“</a:t>
            </a:r>
            <a:r>
              <a:rPr lang="zh-CN" altLang="en-US" b="1"/>
              <a:t>辩论</a:t>
            </a:r>
            <a:r>
              <a:rPr lang="en-US" altLang="zh-CN" b="1"/>
              <a:t>”</a:t>
            </a:r>
            <a:r>
              <a:rPr lang="zh-CN" altLang="en-US" b="1"/>
              <a:t>或</a:t>
            </a:r>
            <a:r>
              <a:rPr lang="en-US" altLang="zh-CN" b="1"/>
              <a:t>“</a:t>
            </a:r>
            <a:r>
              <a:rPr lang="zh-CN" altLang="en-US" b="1"/>
              <a:t>协作</a:t>
            </a:r>
            <a:r>
              <a:rPr lang="en-US" altLang="zh-CN" b="1"/>
              <a:t>”</a:t>
            </a:r>
            <a:r>
              <a:rPr lang="zh-CN" altLang="en-US" b="1"/>
              <a:t>的演示看起来极具未来感，但在真实的工业级生产环境中，优先采用</a:t>
            </a:r>
            <a:r>
              <a:rPr lang="en-US" altLang="zh-CN" b="1"/>
              <a:t>“</a:t>
            </a:r>
            <a:r>
              <a:rPr lang="zh-CN" altLang="en-US" b="1"/>
              <a:t>单体反思</a:t>
            </a:r>
            <a:r>
              <a:rPr lang="en-US" altLang="zh-CN" b="1"/>
              <a:t> + </a:t>
            </a:r>
            <a:r>
              <a:rPr lang="zh-CN" altLang="en-US" b="1"/>
              <a:t>工具调用</a:t>
            </a:r>
            <a:r>
              <a:rPr lang="en-US" altLang="zh-CN" b="1"/>
              <a:t>”</a:t>
            </a:r>
            <a:r>
              <a:rPr lang="zh-CN" altLang="en-US" b="1"/>
              <a:t>的简单组合，往往能带来远超预期的鲁棒性和投资回报率。</a:t>
            </a:r>
            <a:endParaRPr lang="zh-CN" altLang="en-US" b="1"/>
          </a:p>
        </p:txBody>
      </p:sp>
      <p:sp>
        <p:nvSpPr>
          <p:cNvPr id="10" name="文本框 9"/>
          <p:cNvSpPr txBox="1"/>
          <p:nvPr/>
        </p:nvSpPr>
        <p:spPr>
          <a:xfrm>
            <a:off x="935990" y="2716530"/>
            <a:ext cx="10578465" cy="258445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/>
              <a:t>2. </a:t>
            </a:r>
            <a:r>
              <a:rPr lang="zh-CN" altLang="en-US"/>
              <a:t>错误的级联放大</a:t>
            </a:r>
            <a:r>
              <a:rPr lang="en-US" altLang="zh-CN"/>
              <a:t> vs. </a:t>
            </a:r>
            <a:r>
              <a:rPr lang="zh-CN" altLang="en-US"/>
              <a:t>即时收敛的闭环</a:t>
            </a:r>
            <a:r>
              <a:rPr lang="en-US" altLang="zh-CN"/>
              <a:t> (Error Mitigation)</a:t>
            </a:r>
            <a:endParaRPr lang="en-US" altLang="zh-CN"/>
          </a:p>
          <a:p>
            <a:r>
              <a:rPr lang="zh-CN" altLang="en-US"/>
              <a:t>在多智能体架构中，经常会出现</a:t>
            </a:r>
            <a:r>
              <a:rPr lang="en-US" altLang="zh-CN"/>
              <a:t>“</a:t>
            </a:r>
            <a:r>
              <a:rPr lang="zh-CN" altLang="en-US"/>
              <a:t>三人成虎</a:t>
            </a:r>
            <a:r>
              <a:rPr lang="en-US" altLang="zh-CN"/>
              <a:t>”</a:t>
            </a:r>
            <a:r>
              <a:rPr lang="zh-CN" altLang="en-US"/>
              <a:t>的现象。如果负责编写代码的</a:t>
            </a:r>
            <a:r>
              <a:rPr lang="en-US" altLang="zh-CN"/>
              <a:t> Agent </a:t>
            </a:r>
            <a:r>
              <a:rPr lang="zh-CN" altLang="en-US"/>
              <a:t>产生了一个微妙的幻觉（</a:t>
            </a:r>
            <a:r>
              <a:rPr lang="en-US" altLang="zh-CN"/>
              <a:t>Hallucination</a:t>
            </a:r>
            <a:r>
              <a:rPr lang="zh-CN" altLang="en-US"/>
              <a:t>），负责审查的</a:t>
            </a:r>
            <a:r>
              <a:rPr lang="en-US" altLang="zh-CN"/>
              <a:t> Agent </a:t>
            </a:r>
            <a:r>
              <a:rPr lang="zh-CN" altLang="en-US"/>
              <a:t>如果没有通过客观环境进行验证，极有可能会</a:t>
            </a:r>
            <a:r>
              <a:rPr lang="en-US" altLang="zh-CN"/>
              <a:t>“</a:t>
            </a:r>
            <a:r>
              <a:rPr lang="zh-CN" altLang="en-US"/>
              <a:t>顺从</a:t>
            </a:r>
            <a:r>
              <a:rPr lang="en-US" altLang="zh-CN"/>
              <a:t>”</a:t>
            </a:r>
            <a:r>
              <a:rPr lang="zh-CN" altLang="en-US"/>
              <a:t>甚至</a:t>
            </a:r>
            <a:r>
              <a:rPr lang="en-US" altLang="zh-CN"/>
              <a:t>“</a:t>
            </a:r>
            <a:r>
              <a:rPr lang="zh-CN" altLang="en-US"/>
              <a:t>赞同</a:t>
            </a:r>
            <a:r>
              <a:rPr lang="en-US" altLang="zh-CN"/>
              <a:t>”</a:t>
            </a:r>
            <a:r>
              <a:rPr lang="zh-CN" altLang="en-US"/>
              <a:t>这个错误，导致错误在调用链中被级联放大并固化。</a:t>
            </a:r>
            <a:endParaRPr lang="zh-CN" altLang="en-US"/>
          </a:p>
          <a:p>
            <a:endParaRPr lang="en-US" altLang="zh-CN"/>
          </a:p>
          <a:p>
            <a:r>
              <a:rPr lang="zh-CN" altLang="en-US"/>
              <a:t>而在单体</a:t>
            </a:r>
            <a:r>
              <a:rPr lang="en-US" altLang="zh-CN"/>
              <a:t> Reflection </a:t>
            </a:r>
            <a:r>
              <a:rPr lang="zh-CN" altLang="en-US"/>
              <a:t>模式下，系统强制建立了一个基于客观事实的反馈闭环。例如：模型调用了某个</a:t>
            </a:r>
            <a:r>
              <a:rPr lang="en-US" altLang="zh-CN"/>
              <a:t> API</a:t>
            </a:r>
            <a:r>
              <a:rPr lang="zh-CN" altLang="en-US"/>
              <a:t>（</a:t>
            </a:r>
            <a:r>
              <a:rPr lang="en-US" altLang="zh-CN"/>
              <a:t>Tool Use</a:t>
            </a:r>
            <a:r>
              <a:rPr lang="zh-CN" altLang="en-US"/>
              <a:t>）并报错，系统会直接把底层的堆栈追踪（</a:t>
            </a:r>
            <a:r>
              <a:rPr lang="en-US" altLang="zh-CN"/>
              <a:t>Traceback</a:t>
            </a:r>
            <a:r>
              <a:rPr lang="zh-CN" altLang="en-US"/>
              <a:t>）或系统级报错信息作为事实塞回给模型，要求其反思（</a:t>
            </a:r>
            <a:r>
              <a:rPr lang="en-US" altLang="zh-CN"/>
              <a:t>Reflection</a:t>
            </a:r>
            <a:r>
              <a:rPr lang="zh-CN" altLang="en-US"/>
              <a:t>）。这种直接面对冰冷报错信息的机制，能最快打断模型的幻觉，迫使其向正确的方向收敛。</a:t>
            </a:r>
            <a:endParaRPr lang="zh-CN" altLang="en-US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0"/>
    </mc:Choice>
    <mc:Fallback>
      <p:transition/>
    </mc:Fallback>
  </mc:AlternateContent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grpSp>
        <p:nvGrpSpPr>
          <p:cNvPr id="2" name="组合 1"/>
          <p:cNvGrpSpPr/>
          <p:nvPr/>
        </p:nvGrpSpPr>
        <p:grpSpPr>
          <a:xfrm>
            <a:off x="-1386840" y="62865"/>
            <a:ext cx="8120380" cy="1521460"/>
            <a:chOff x="-2184" y="-721"/>
            <a:chExt cx="12788" cy="2396"/>
          </a:xfrm>
        </p:grpSpPr>
        <p:sp>
          <p:nvSpPr>
            <p:cNvPr id="3" name="TextBox 8"/>
            <p:cNvSpPr txBox="1"/>
            <p:nvPr/>
          </p:nvSpPr>
          <p:spPr>
            <a:xfrm>
              <a:off x="-2184" y="-721"/>
              <a:ext cx="12788" cy="1598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p>
              <a:pPr algn="ctr"/>
              <a:r>
                <a:rPr lang="en-US" sz="6000" b="1" spc="600" dirty="0" smtClean="0">
                  <a:solidFill>
                    <a:schemeClr val="bg1">
                      <a:lumMod val="95000"/>
                    </a:schemeClr>
                  </a:solidFill>
                  <a:latin typeface="庞门正道标题体" panose="02010600030101010101" charset="-122"/>
                  <a:ea typeface="庞门正道标题体" panose="02010600030101010101" charset="-122"/>
                  <a:cs typeface="Montserrat" panose="00000500000000000000" pitchFamily="50" charset="0"/>
                </a:rPr>
                <a:t>MINIMALIST</a:t>
              </a:r>
              <a:endParaRPr lang="en-US" sz="6000" b="1" spc="600" dirty="0" smtClean="0">
                <a:solidFill>
                  <a:schemeClr val="bg1">
                    <a:lumMod val="95000"/>
                  </a:schemeClr>
                </a:solidFill>
                <a:latin typeface="庞门正道标题体" panose="02010600030101010101" charset="-122"/>
                <a:ea typeface="庞门正道标题体" panose="02010600030101010101" charset="-122"/>
                <a:cs typeface="Montserrat" panose="00000500000000000000" pitchFamily="50" charset="0"/>
              </a:endParaRPr>
            </a:p>
          </p:txBody>
        </p:sp>
        <p:sp>
          <p:nvSpPr>
            <p:cNvPr id="24" name="TextBox 9"/>
            <p:cNvSpPr txBox="1"/>
            <p:nvPr/>
          </p:nvSpPr>
          <p:spPr>
            <a:xfrm>
              <a:off x="-1247" y="-166"/>
              <a:ext cx="10932" cy="130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p>
              <a:pPr algn="ctr"/>
              <a:r>
                <a:rPr lang="zh-CN" altLang="en-US" sz="4800" b="1" spc="600" dirty="0" smtClean="0">
                  <a:latin typeface="方正明尚简体" panose="02000000000000000000" charset="-122"/>
                  <a:ea typeface="方正明尚简体" panose="02000000000000000000" charset="-122"/>
                  <a:cs typeface="Montserrat" panose="00000500000000000000" pitchFamily="50" charset="0"/>
                  <a:sym typeface="+mn-ea"/>
                </a:rPr>
                <a:t>三大设计原则</a:t>
              </a:r>
              <a:endParaRPr lang="zh-CN" altLang="zh-CN" sz="4800" spc="600" dirty="0" smtClean="0">
                <a:solidFill>
                  <a:schemeClr val="tx1"/>
                </a:solidFill>
                <a:latin typeface="方正明尚简体" panose="02000000000000000000" charset="-122"/>
                <a:ea typeface="方正明尚简体" panose="02000000000000000000" charset="-122"/>
                <a:cs typeface="Montserrat" panose="00000500000000000000" pitchFamily="50" charset="0"/>
              </a:endParaRPr>
            </a:p>
          </p:txBody>
        </p:sp>
        <p:sp>
          <p:nvSpPr>
            <p:cNvPr id="25" name="TextBox 12"/>
            <p:cNvSpPr txBox="1"/>
            <p:nvPr/>
          </p:nvSpPr>
          <p:spPr>
            <a:xfrm>
              <a:off x="-1840" y="877"/>
              <a:ext cx="7856" cy="798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p>
              <a:pPr algn="ctr">
                <a:lnSpc>
                  <a:spcPct val="150000"/>
                </a:lnSpc>
              </a:pPr>
              <a:r>
                <a:rPr lang="zh-CN" altLang="en-US" b="1">
                  <a:latin typeface="黑体" panose="02010609060101010101" charset="-122"/>
                  <a:ea typeface="黑体" panose="02010609060101010101" charset="-122"/>
                  <a:sym typeface="+mn-ea"/>
                </a:rPr>
                <a:t>保持简单案例</a:t>
              </a:r>
              <a:r>
                <a:rPr lang="en-US" altLang="zh-CN" b="1">
                  <a:latin typeface="黑体" panose="02010609060101010101" charset="-122"/>
                  <a:ea typeface="黑体" panose="02010609060101010101" charset="-122"/>
                  <a:sym typeface="+mn-ea"/>
                </a:rPr>
                <a:t>1</a:t>
              </a:r>
              <a:endParaRPr lang="en-US" altLang="zh-CN" b="1">
                <a:latin typeface="黑体" panose="02010609060101010101" charset="-122"/>
                <a:ea typeface="黑体" panose="02010609060101010101" charset="-122"/>
                <a:sym typeface="+mn-ea"/>
              </a:endParaRPr>
            </a:p>
          </p:txBody>
        </p:sp>
      </p:grpSp>
      <p:sp>
        <p:nvSpPr>
          <p:cNvPr id="7" name="文本框 6"/>
          <p:cNvSpPr txBox="1"/>
          <p:nvPr/>
        </p:nvSpPr>
        <p:spPr>
          <a:xfrm>
            <a:off x="2214880" y="1245235"/>
            <a:ext cx="7045325" cy="30670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zh-CN" altLang="en-US" sz="1400"/>
              <a:t>吴恩达：</a:t>
            </a:r>
            <a:r>
              <a:rPr lang="en-US" altLang="zh-CN" sz="1400"/>
              <a:t>Agentic Design Patterns</a:t>
            </a:r>
            <a:r>
              <a:rPr lang="zh-CN" altLang="en-US" sz="1400"/>
              <a:t>（智能体设计模式）</a:t>
            </a:r>
            <a:endParaRPr lang="zh-CN" altLang="en-US" sz="1400"/>
          </a:p>
        </p:txBody>
      </p:sp>
      <p:sp>
        <p:nvSpPr>
          <p:cNvPr id="9" name="文本框 8"/>
          <p:cNvSpPr txBox="1"/>
          <p:nvPr/>
        </p:nvSpPr>
        <p:spPr>
          <a:xfrm>
            <a:off x="745490" y="1719580"/>
            <a:ext cx="10593705" cy="64516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zh-CN" altLang="en-US" b="1"/>
              <a:t>多个</a:t>
            </a:r>
            <a:r>
              <a:rPr lang="en-US" altLang="zh-CN" b="1"/>
              <a:t> Agent </a:t>
            </a:r>
            <a:r>
              <a:rPr lang="zh-CN" altLang="en-US" b="1"/>
              <a:t>互相</a:t>
            </a:r>
            <a:r>
              <a:rPr lang="en-US" altLang="zh-CN" b="1"/>
              <a:t>“</a:t>
            </a:r>
            <a:r>
              <a:rPr lang="zh-CN" altLang="en-US" b="1"/>
              <a:t>辩论</a:t>
            </a:r>
            <a:r>
              <a:rPr lang="en-US" altLang="zh-CN" b="1"/>
              <a:t>”</a:t>
            </a:r>
            <a:r>
              <a:rPr lang="zh-CN" altLang="en-US" b="1"/>
              <a:t>或</a:t>
            </a:r>
            <a:r>
              <a:rPr lang="en-US" altLang="zh-CN" b="1"/>
              <a:t>“</a:t>
            </a:r>
            <a:r>
              <a:rPr lang="zh-CN" altLang="en-US" b="1"/>
              <a:t>协作</a:t>
            </a:r>
            <a:r>
              <a:rPr lang="en-US" altLang="zh-CN" b="1"/>
              <a:t>”</a:t>
            </a:r>
            <a:r>
              <a:rPr lang="zh-CN" altLang="en-US" b="1"/>
              <a:t>的演示看起来极具未来感，但在真实的工业级生产环境中，优先采用</a:t>
            </a:r>
            <a:r>
              <a:rPr lang="en-US" altLang="zh-CN" b="1"/>
              <a:t>“</a:t>
            </a:r>
            <a:r>
              <a:rPr lang="zh-CN" altLang="en-US" b="1"/>
              <a:t>单体反思</a:t>
            </a:r>
            <a:r>
              <a:rPr lang="en-US" altLang="zh-CN" b="1"/>
              <a:t> + </a:t>
            </a:r>
            <a:r>
              <a:rPr lang="zh-CN" altLang="en-US" b="1"/>
              <a:t>工具调用</a:t>
            </a:r>
            <a:r>
              <a:rPr lang="en-US" altLang="zh-CN" b="1"/>
              <a:t>”</a:t>
            </a:r>
            <a:r>
              <a:rPr lang="zh-CN" altLang="en-US" b="1"/>
              <a:t>的简单组合，往往能带来远超预期的鲁棒性和投资回报率。</a:t>
            </a:r>
            <a:endParaRPr lang="zh-CN" altLang="en-US" b="1"/>
          </a:p>
        </p:txBody>
      </p:sp>
      <p:sp>
        <p:nvSpPr>
          <p:cNvPr id="10" name="文本框 9"/>
          <p:cNvSpPr txBox="1"/>
          <p:nvPr/>
        </p:nvSpPr>
        <p:spPr>
          <a:xfrm>
            <a:off x="935990" y="2716530"/>
            <a:ext cx="10578465" cy="203009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/>
              <a:t>3. </a:t>
            </a:r>
            <a:r>
              <a:rPr lang="zh-CN" altLang="en-US"/>
              <a:t>冗余交互成本与延迟</a:t>
            </a:r>
            <a:r>
              <a:rPr lang="en-US" altLang="zh-CN"/>
              <a:t> (Latency &amp; Token Efficiency)</a:t>
            </a:r>
            <a:endParaRPr lang="en-US" altLang="zh-CN"/>
          </a:p>
          <a:p>
            <a:r>
              <a:rPr lang="zh-CN" altLang="en-US"/>
              <a:t>工业级系统的核心指标除了准确率，还有响应时间和</a:t>
            </a:r>
            <a:r>
              <a:rPr lang="en-US" altLang="zh-CN"/>
              <a:t> API </a:t>
            </a:r>
            <a:r>
              <a:rPr lang="zh-CN" altLang="en-US"/>
              <a:t>成本。多智能体系统在完成任务前，往往需要花费大量的</a:t>
            </a:r>
            <a:r>
              <a:rPr lang="en-US" altLang="zh-CN"/>
              <a:t> Token </a:t>
            </a:r>
            <a:r>
              <a:rPr lang="zh-CN" altLang="en-US"/>
              <a:t>用于</a:t>
            </a:r>
            <a:r>
              <a:rPr lang="en-US" altLang="zh-CN"/>
              <a:t>“</a:t>
            </a:r>
            <a:r>
              <a:rPr lang="zh-CN" altLang="en-US"/>
              <a:t>相互打招呼</a:t>
            </a:r>
            <a:r>
              <a:rPr lang="en-US" altLang="zh-CN"/>
              <a:t>”</a:t>
            </a:r>
            <a:r>
              <a:rPr lang="zh-CN" altLang="en-US"/>
              <a:t>、</a:t>
            </a:r>
            <a:r>
              <a:rPr lang="en-US" altLang="zh-CN"/>
              <a:t>“</a:t>
            </a:r>
            <a:r>
              <a:rPr lang="zh-CN" altLang="en-US"/>
              <a:t>角色扮演前置设定</a:t>
            </a:r>
            <a:r>
              <a:rPr lang="en-US" altLang="zh-CN"/>
              <a:t>”</a:t>
            </a:r>
            <a:r>
              <a:rPr lang="zh-CN" altLang="en-US"/>
              <a:t>以及</a:t>
            </a:r>
            <a:r>
              <a:rPr lang="en-US" altLang="zh-CN"/>
              <a:t>“</a:t>
            </a:r>
            <a:r>
              <a:rPr lang="zh-CN" altLang="en-US"/>
              <a:t>过度礼貌的交接</a:t>
            </a:r>
            <a:r>
              <a:rPr lang="en-US" altLang="zh-CN"/>
              <a:t>”</a:t>
            </a:r>
            <a:r>
              <a:rPr lang="zh-CN" altLang="en-US"/>
              <a:t>（例如：</a:t>
            </a:r>
            <a:r>
              <a:rPr lang="en-US" altLang="zh-CN"/>
              <a:t>“</a:t>
            </a:r>
            <a:r>
              <a:rPr lang="zh-CN" altLang="en-US"/>
              <a:t>你做得很好，接下来请交给我</a:t>
            </a:r>
            <a:r>
              <a:rPr lang="en-US" altLang="zh-CN"/>
              <a:t>”</a:t>
            </a:r>
            <a:r>
              <a:rPr lang="zh-CN" altLang="en-US"/>
              <a:t>）。这种</a:t>
            </a:r>
            <a:r>
              <a:rPr lang="en-US" altLang="zh-CN"/>
              <a:t>“</a:t>
            </a:r>
            <a:r>
              <a:rPr lang="zh-CN" altLang="en-US"/>
              <a:t>开会式</a:t>
            </a:r>
            <a:r>
              <a:rPr lang="en-US" altLang="zh-CN"/>
              <a:t>”</a:t>
            </a:r>
            <a:r>
              <a:rPr lang="zh-CN" altLang="en-US"/>
              <a:t>的执行路径极其昂贵且缓慢。</a:t>
            </a:r>
            <a:endParaRPr lang="zh-CN" altLang="en-US"/>
          </a:p>
          <a:p>
            <a:endParaRPr lang="en-US" altLang="zh-CN"/>
          </a:p>
          <a:p>
            <a:r>
              <a:rPr lang="zh-CN" altLang="en-US"/>
              <a:t>单体模型配合工具使用，去除了所有这些不必要的社交冗余，直奔主题。模型仅在遇到明确错误或结果不达标时，才触发反思与重试机制，实现了</a:t>
            </a:r>
            <a:r>
              <a:rPr lang="en-US" altLang="zh-CN"/>
              <a:t> Token </a:t>
            </a:r>
            <a:r>
              <a:rPr lang="zh-CN" altLang="en-US"/>
              <a:t>开销与任务复杂度的动态匹配。</a:t>
            </a:r>
            <a:endParaRPr lang="zh-CN" altLang="en-US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0"/>
    </mc:Choice>
    <mc:Fallback>
      <p:transition/>
    </mc:Fallback>
  </mc:AlternateContent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grpSp>
        <p:nvGrpSpPr>
          <p:cNvPr id="2" name="组合 1"/>
          <p:cNvGrpSpPr/>
          <p:nvPr/>
        </p:nvGrpSpPr>
        <p:grpSpPr>
          <a:xfrm>
            <a:off x="-1386840" y="62865"/>
            <a:ext cx="8120380" cy="1521460"/>
            <a:chOff x="-2184" y="-721"/>
            <a:chExt cx="12788" cy="2396"/>
          </a:xfrm>
        </p:grpSpPr>
        <p:sp>
          <p:nvSpPr>
            <p:cNvPr id="3" name="TextBox 8"/>
            <p:cNvSpPr txBox="1"/>
            <p:nvPr/>
          </p:nvSpPr>
          <p:spPr>
            <a:xfrm>
              <a:off x="-2184" y="-721"/>
              <a:ext cx="12788" cy="1598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p>
              <a:pPr algn="ctr"/>
              <a:r>
                <a:rPr lang="en-US" sz="6000" b="1" spc="600" dirty="0" smtClean="0">
                  <a:solidFill>
                    <a:schemeClr val="bg1">
                      <a:lumMod val="95000"/>
                    </a:schemeClr>
                  </a:solidFill>
                  <a:latin typeface="庞门正道标题体" panose="02010600030101010101" charset="-122"/>
                  <a:ea typeface="庞门正道标题体" panose="02010600030101010101" charset="-122"/>
                  <a:cs typeface="Montserrat" panose="00000500000000000000" pitchFamily="50" charset="0"/>
                </a:rPr>
                <a:t>MINIMALIST</a:t>
              </a:r>
              <a:endParaRPr lang="en-US" sz="6000" b="1" spc="600" dirty="0" smtClean="0">
                <a:solidFill>
                  <a:schemeClr val="bg1">
                    <a:lumMod val="95000"/>
                  </a:schemeClr>
                </a:solidFill>
                <a:latin typeface="庞门正道标题体" panose="02010600030101010101" charset="-122"/>
                <a:ea typeface="庞门正道标题体" panose="02010600030101010101" charset="-122"/>
                <a:cs typeface="Montserrat" panose="00000500000000000000" pitchFamily="50" charset="0"/>
              </a:endParaRPr>
            </a:p>
          </p:txBody>
        </p:sp>
        <p:sp>
          <p:nvSpPr>
            <p:cNvPr id="24" name="TextBox 9"/>
            <p:cNvSpPr txBox="1"/>
            <p:nvPr/>
          </p:nvSpPr>
          <p:spPr>
            <a:xfrm>
              <a:off x="-1247" y="-166"/>
              <a:ext cx="10932" cy="130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p>
              <a:pPr algn="ctr"/>
              <a:r>
                <a:rPr lang="zh-CN" altLang="en-US" sz="4800" b="1" spc="600" dirty="0" smtClean="0">
                  <a:latin typeface="方正明尚简体" panose="02000000000000000000" charset="-122"/>
                  <a:ea typeface="方正明尚简体" panose="02000000000000000000" charset="-122"/>
                  <a:cs typeface="Montserrat" panose="00000500000000000000" pitchFamily="50" charset="0"/>
                  <a:sym typeface="+mn-ea"/>
                </a:rPr>
                <a:t>三大设计原则</a:t>
              </a:r>
              <a:endParaRPr lang="zh-CN" altLang="zh-CN" sz="4800" spc="600" dirty="0" smtClean="0">
                <a:solidFill>
                  <a:schemeClr val="tx1"/>
                </a:solidFill>
                <a:latin typeface="方正明尚简体" panose="02000000000000000000" charset="-122"/>
                <a:ea typeface="方正明尚简体" panose="02000000000000000000" charset="-122"/>
                <a:cs typeface="Montserrat" panose="00000500000000000000" pitchFamily="50" charset="0"/>
              </a:endParaRPr>
            </a:p>
          </p:txBody>
        </p:sp>
        <p:sp>
          <p:nvSpPr>
            <p:cNvPr id="25" name="TextBox 12"/>
            <p:cNvSpPr txBox="1"/>
            <p:nvPr/>
          </p:nvSpPr>
          <p:spPr>
            <a:xfrm>
              <a:off x="-1888" y="877"/>
              <a:ext cx="7856" cy="798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p>
              <a:pPr algn="ctr">
                <a:lnSpc>
                  <a:spcPct val="150000"/>
                </a:lnSpc>
              </a:pPr>
              <a:r>
                <a:rPr lang="zh-CN" altLang="en-US" b="1">
                  <a:latin typeface="黑体" panose="02010609060101010101" charset="-122"/>
                  <a:ea typeface="黑体" panose="02010609060101010101" charset="-122"/>
                  <a:sym typeface="+mn-ea"/>
                </a:rPr>
                <a:t>保持简单案例</a:t>
              </a:r>
              <a:r>
                <a:rPr lang="en-US" altLang="zh-CN" b="1">
                  <a:latin typeface="黑体" panose="02010609060101010101" charset="-122"/>
                  <a:ea typeface="黑体" panose="02010609060101010101" charset="-122"/>
                  <a:sym typeface="+mn-ea"/>
                </a:rPr>
                <a:t>2</a:t>
              </a:r>
              <a:endParaRPr lang="en-US" altLang="zh-CN" b="1">
                <a:latin typeface="黑体" panose="02010609060101010101" charset="-122"/>
                <a:ea typeface="黑体" panose="02010609060101010101" charset="-122"/>
                <a:sym typeface="+mn-ea"/>
              </a:endParaRPr>
            </a:p>
          </p:txBody>
        </p:sp>
      </p:grpSp>
      <p:sp>
        <p:nvSpPr>
          <p:cNvPr id="4" name="文本框 3"/>
          <p:cNvSpPr txBox="1"/>
          <p:nvPr/>
        </p:nvSpPr>
        <p:spPr>
          <a:xfrm>
            <a:off x="963930" y="1386205"/>
            <a:ext cx="10088245" cy="107632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endParaRPr lang="zh-CN" altLang="en-US" sz="1600"/>
          </a:p>
          <a:p>
            <a:r>
              <a:rPr lang="zh-CN" altLang="en-US" sz="1600"/>
              <a:t>过去我们喜欢给大模型提供几十个零碎的</a:t>
            </a:r>
            <a:r>
              <a:rPr lang="en-US" altLang="zh-CN" sz="1600"/>
              <a:t> JSON API</a:t>
            </a:r>
            <a:r>
              <a:rPr lang="zh-CN" altLang="en-US" sz="1600"/>
              <a:t>。</a:t>
            </a:r>
            <a:r>
              <a:rPr lang="en-US" altLang="zh-CN" sz="1600"/>
              <a:t>CodeAct </a:t>
            </a:r>
            <a:r>
              <a:rPr lang="zh-CN" altLang="en-US" sz="1600"/>
              <a:t>提出，真正的简单是统一动作空间</a:t>
            </a:r>
            <a:r>
              <a:rPr lang="en-US" altLang="zh-CN" sz="1600"/>
              <a:t>——</a:t>
            </a:r>
            <a:r>
              <a:rPr lang="zh-CN" altLang="en-US" sz="1600"/>
              <a:t>不要给一堆零碎的</a:t>
            </a:r>
            <a:r>
              <a:rPr lang="en-US" altLang="zh-CN" sz="1600"/>
              <a:t> API</a:t>
            </a:r>
            <a:r>
              <a:rPr lang="zh-CN" altLang="en-US" sz="1600"/>
              <a:t>，而是直接给模型一个</a:t>
            </a:r>
            <a:r>
              <a:rPr lang="en-US" altLang="zh-CN" sz="1600"/>
              <a:t> Python </a:t>
            </a:r>
            <a:r>
              <a:rPr lang="zh-CN" altLang="en-US" sz="1600"/>
              <a:t>解释器环境。让模型通过写代码来调用一切，这极大地简化了</a:t>
            </a:r>
            <a:r>
              <a:rPr lang="en-US" altLang="zh-CN" sz="1600"/>
              <a:t> Skill </a:t>
            </a:r>
            <a:r>
              <a:rPr lang="zh-CN" altLang="en-US" sz="1600"/>
              <a:t>架构的复杂度，并提升了执行成功率。</a:t>
            </a:r>
            <a:endParaRPr lang="zh-CN" altLang="en-US" sz="1600"/>
          </a:p>
        </p:txBody>
      </p:sp>
      <p:sp>
        <p:nvSpPr>
          <p:cNvPr id="7" name="文本框 6"/>
          <p:cNvSpPr txBox="1"/>
          <p:nvPr/>
        </p:nvSpPr>
        <p:spPr>
          <a:xfrm>
            <a:off x="2085340" y="1245235"/>
            <a:ext cx="7045325" cy="52197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zh-CN" altLang="en-US" sz="1400">
                <a:sym typeface="+mn-ea"/>
              </a:rPr>
              <a:t>论文：</a:t>
            </a:r>
            <a:r>
              <a:rPr lang="en-US" altLang="zh-CN" sz="1400">
                <a:sym typeface="+mn-ea"/>
              </a:rPr>
              <a:t>"Executable Code Actions Elicit Better LLM Agents" (CodeAct, Wang et al., 2024)</a:t>
            </a:r>
            <a:endParaRPr lang="en-US" altLang="zh-CN" sz="1400"/>
          </a:p>
          <a:p>
            <a:endParaRPr lang="zh-CN" altLang="en-US" sz="1400"/>
          </a:p>
        </p:txBody>
      </p:sp>
      <p:pic>
        <p:nvPicPr>
          <p:cNvPr id="8" name="图片 7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2419985"/>
            <a:ext cx="12192000" cy="4438015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0"/>
    </mc:Choice>
    <mc:Fallback>
      <p:transition/>
    </mc:Fallback>
  </mc:AlternateContent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grpSp>
        <p:nvGrpSpPr>
          <p:cNvPr id="2" name="组合 1"/>
          <p:cNvGrpSpPr/>
          <p:nvPr/>
        </p:nvGrpSpPr>
        <p:grpSpPr>
          <a:xfrm>
            <a:off x="-1386840" y="62865"/>
            <a:ext cx="8120380" cy="1521460"/>
            <a:chOff x="-2184" y="-721"/>
            <a:chExt cx="12788" cy="2396"/>
          </a:xfrm>
        </p:grpSpPr>
        <p:sp>
          <p:nvSpPr>
            <p:cNvPr id="3" name="TextBox 8"/>
            <p:cNvSpPr txBox="1"/>
            <p:nvPr/>
          </p:nvSpPr>
          <p:spPr>
            <a:xfrm>
              <a:off x="-2184" y="-721"/>
              <a:ext cx="12788" cy="1598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p>
              <a:pPr algn="ctr"/>
              <a:r>
                <a:rPr lang="en-US" sz="6000" b="1" spc="600" dirty="0" smtClean="0">
                  <a:solidFill>
                    <a:schemeClr val="bg1">
                      <a:lumMod val="95000"/>
                    </a:schemeClr>
                  </a:solidFill>
                  <a:latin typeface="庞门正道标题体" panose="02010600030101010101" charset="-122"/>
                  <a:ea typeface="庞门正道标题体" panose="02010600030101010101" charset="-122"/>
                  <a:cs typeface="Montserrat" panose="00000500000000000000" pitchFamily="50" charset="0"/>
                </a:rPr>
                <a:t>MINIMALIST</a:t>
              </a:r>
              <a:endParaRPr lang="en-US" sz="6000" b="1" spc="600" dirty="0" smtClean="0">
                <a:solidFill>
                  <a:schemeClr val="bg1">
                    <a:lumMod val="95000"/>
                  </a:schemeClr>
                </a:solidFill>
                <a:latin typeface="庞门正道标题体" panose="02010600030101010101" charset="-122"/>
                <a:ea typeface="庞门正道标题体" panose="02010600030101010101" charset="-122"/>
                <a:cs typeface="Montserrat" panose="00000500000000000000" pitchFamily="50" charset="0"/>
              </a:endParaRPr>
            </a:p>
          </p:txBody>
        </p:sp>
        <p:sp>
          <p:nvSpPr>
            <p:cNvPr id="24" name="TextBox 9"/>
            <p:cNvSpPr txBox="1"/>
            <p:nvPr/>
          </p:nvSpPr>
          <p:spPr>
            <a:xfrm>
              <a:off x="-1247" y="-166"/>
              <a:ext cx="10932" cy="130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p>
              <a:pPr algn="ctr"/>
              <a:r>
                <a:rPr lang="zh-CN" altLang="en-US" sz="4800" b="1" spc="600" dirty="0" smtClean="0">
                  <a:latin typeface="方正明尚简体" panose="02000000000000000000" charset="-122"/>
                  <a:ea typeface="方正明尚简体" panose="02000000000000000000" charset="-122"/>
                  <a:cs typeface="Montserrat" panose="00000500000000000000" pitchFamily="50" charset="0"/>
                  <a:sym typeface="+mn-ea"/>
                </a:rPr>
                <a:t>三大设计原则</a:t>
              </a:r>
              <a:endParaRPr lang="zh-CN" altLang="zh-CN" sz="4800" spc="600" dirty="0" smtClean="0">
                <a:solidFill>
                  <a:schemeClr val="tx1"/>
                </a:solidFill>
                <a:latin typeface="方正明尚简体" panose="02000000000000000000" charset="-122"/>
                <a:ea typeface="方正明尚简体" panose="02000000000000000000" charset="-122"/>
                <a:cs typeface="Montserrat" panose="00000500000000000000" pitchFamily="50" charset="0"/>
              </a:endParaRPr>
            </a:p>
          </p:txBody>
        </p:sp>
        <p:sp>
          <p:nvSpPr>
            <p:cNvPr id="25" name="TextBox 12"/>
            <p:cNvSpPr txBox="1"/>
            <p:nvPr/>
          </p:nvSpPr>
          <p:spPr>
            <a:xfrm>
              <a:off x="-1840" y="877"/>
              <a:ext cx="7856" cy="798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p>
              <a:pPr algn="ctr">
                <a:lnSpc>
                  <a:spcPct val="150000"/>
                </a:lnSpc>
              </a:pPr>
              <a:r>
                <a:rPr lang="zh-CN" altLang="en-US" b="1">
                  <a:latin typeface="黑体" panose="02010609060101010101" charset="-122"/>
                  <a:ea typeface="黑体" panose="02010609060101010101" charset="-122"/>
                  <a:sym typeface="+mn-ea"/>
                </a:rPr>
                <a:t>保持简单案例</a:t>
              </a:r>
              <a:r>
                <a:rPr lang="en-US" altLang="zh-CN" b="1">
                  <a:latin typeface="黑体" panose="02010609060101010101" charset="-122"/>
                  <a:ea typeface="黑体" panose="02010609060101010101" charset="-122"/>
                  <a:sym typeface="+mn-ea"/>
                </a:rPr>
                <a:t>2</a:t>
              </a:r>
              <a:endParaRPr lang="en-US" altLang="zh-CN" b="1">
                <a:latin typeface="黑体" panose="02010609060101010101" charset="-122"/>
                <a:ea typeface="黑体" panose="02010609060101010101" charset="-122"/>
                <a:sym typeface="+mn-ea"/>
              </a:endParaRPr>
            </a:p>
          </p:txBody>
        </p:sp>
      </p:grpSp>
      <p:sp>
        <p:nvSpPr>
          <p:cNvPr id="4" name="文本框 3"/>
          <p:cNvSpPr txBox="1"/>
          <p:nvPr/>
        </p:nvSpPr>
        <p:spPr>
          <a:xfrm>
            <a:off x="979170" y="1713865"/>
            <a:ext cx="10088245" cy="427672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zh-CN" altLang="en-US" sz="1600" b="1">
                <a:latin typeface="黑体" panose="02010609060101010101" charset="-122"/>
                <a:ea typeface="黑体" panose="02010609060101010101" charset="-122"/>
              </a:rPr>
              <a:t>统一接口规范</a:t>
            </a:r>
            <a:endParaRPr lang="zh-CN" altLang="en-US" sz="1600" b="1">
              <a:latin typeface="黑体" panose="02010609060101010101" charset="-122"/>
              <a:ea typeface="黑体" panose="02010609060101010101" charset="-122"/>
            </a:endParaRPr>
          </a:p>
          <a:p>
            <a:r>
              <a:rPr lang="zh-CN" altLang="en-US" sz="1600"/>
              <a:t>在传统的</a:t>
            </a:r>
            <a:r>
              <a:rPr lang="en-US" altLang="zh-CN" sz="1600"/>
              <a:t> Agent </a:t>
            </a:r>
            <a:r>
              <a:rPr lang="zh-CN" altLang="en-US" sz="1600"/>
              <a:t>架构中，如果您有</a:t>
            </a:r>
            <a:r>
              <a:rPr lang="en-US" altLang="zh-CN" sz="1600"/>
              <a:t> 50 </a:t>
            </a:r>
            <a:r>
              <a:rPr lang="zh-CN" altLang="en-US" sz="1600"/>
              <a:t>个工具，您就需要向模型解释</a:t>
            </a:r>
            <a:r>
              <a:rPr lang="en-US" altLang="zh-CN" sz="1600"/>
              <a:t> 50 </a:t>
            </a:r>
            <a:r>
              <a:rPr lang="zh-CN" altLang="en-US" sz="1600"/>
              <a:t>种不同的</a:t>
            </a:r>
            <a:r>
              <a:rPr lang="en-US" altLang="zh-CN" sz="1600"/>
              <a:t> JSON Schema </a:t>
            </a:r>
            <a:r>
              <a:rPr lang="zh-CN" altLang="en-US" sz="1600"/>
              <a:t>输入输出规范，甚至还需要辅以大量的自然语言描述来防止模型用错。这不仅极大地消耗了上下文窗口，还会导致模型在</a:t>
            </a:r>
            <a:r>
              <a:rPr lang="en-US" altLang="zh-CN" sz="1600"/>
              <a:t>“</a:t>
            </a:r>
            <a:r>
              <a:rPr lang="zh-CN" altLang="en-US" sz="1600"/>
              <a:t>路由</a:t>
            </a:r>
            <a:r>
              <a:rPr lang="en-US" altLang="zh-CN" sz="1600"/>
              <a:t>”</a:t>
            </a:r>
            <a:r>
              <a:rPr lang="zh-CN" altLang="en-US" sz="1600"/>
              <a:t>时产生混乱。</a:t>
            </a:r>
            <a:endParaRPr lang="zh-CN" altLang="en-US" sz="1600"/>
          </a:p>
          <a:p>
            <a:endParaRPr lang="zh-CN" altLang="en-US" sz="1600"/>
          </a:p>
          <a:p>
            <a:r>
              <a:rPr lang="zh-CN" altLang="en-US" sz="1600" b="1">
                <a:latin typeface="黑体" panose="02010609060101010101" charset="-122"/>
                <a:ea typeface="黑体" panose="02010609060101010101" charset="-122"/>
              </a:rPr>
              <a:t>状态保持的交互式环境</a:t>
            </a:r>
            <a:endParaRPr lang="zh-CN" altLang="en-US" sz="1600" b="1">
              <a:latin typeface="黑体" panose="02010609060101010101" charset="-122"/>
              <a:ea typeface="黑体" panose="02010609060101010101" charset="-122"/>
            </a:endParaRPr>
          </a:p>
          <a:p>
            <a:r>
              <a:rPr lang="en-US" altLang="zh-CN" sz="1600"/>
              <a:t>CodeAct </a:t>
            </a:r>
            <a:r>
              <a:rPr lang="zh-CN" altLang="en-US" sz="1600"/>
              <a:t>论证了，与其维护复杂的工具注册表和参数解析器，不如直接提供一个代码解释器。因为绝大多数的工具调用，最终都可以用标准库或第三方包来实现。这使得</a:t>
            </a:r>
            <a:r>
              <a:rPr lang="en-US" altLang="zh-CN" sz="1600"/>
              <a:t> Agent </a:t>
            </a:r>
            <a:r>
              <a:rPr lang="zh-CN" altLang="en-US" sz="1600"/>
              <a:t>的动作空间从</a:t>
            </a:r>
            <a:r>
              <a:rPr lang="en-US" altLang="zh-CN" sz="1600"/>
              <a:t>“N</a:t>
            </a:r>
            <a:r>
              <a:rPr lang="zh-CN" altLang="en-US" sz="1600"/>
              <a:t>个复杂的自定义</a:t>
            </a:r>
            <a:r>
              <a:rPr lang="en-US" altLang="zh-CN" sz="1600"/>
              <a:t>API</a:t>
            </a:r>
            <a:r>
              <a:rPr lang="zh-CN" altLang="en-US" sz="1600"/>
              <a:t>接口</a:t>
            </a:r>
            <a:r>
              <a:rPr lang="en-US" altLang="zh-CN" sz="1600"/>
              <a:t>”</a:t>
            </a:r>
            <a:r>
              <a:rPr lang="zh-CN" altLang="en-US" sz="1600"/>
              <a:t>瞬间简化为</a:t>
            </a:r>
            <a:r>
              <a:rPr lang="en-US" altLang="zh-CN" sz="1600"/>
              <a:t>“1</a:t>
            </a:r>
            <a:r>
              <a:rPr lang="zh-CN" altLang="en-US" sz="1600"/>
              <a:t>个统一的代码执行环境</a:t>
            </a:r>
            <a:r>
              <a:rPr lang="en-US" altLang="zh-CN" sz="1600"/>
              <a:t>”</a:t>
            </a:r>
            <a:r>
              <a:rPr lang="zh-CN" altLang="en-US" sz="1600"/>
              <a:t>。</a:t>
            </a:r>
            <a:endParaRPr lang="zh-CN" altLang="en-US" sz="1600"/>
          </a:p>
          <a:p>
            <a:endParaRPr lang="zh-CN" altLang="en-US" sz="160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altLang="zh-CN" sz="1600"/>
              <a:t>Jupyter </a:t>
            </a:r>
            <a:r>
              <a:rPr lang="zh-CN" altLang="en-US" sz="1600"/>
              <a:t>级别的上下文记忆：</a:t>
            </a:r>
            <a:r>
              <a:rPr lang="en-US" altLang="zh-CN" sz="1600"/>
              <a:t> </a:t>
            </a:r>
            <a:r>
              <a:rPr lang="zh-CN" altLang="en-US" sz="1600"/>
              <a:t>解释器被设计为有状态的（</a:t>
            </a:r>
            <a:r>
              <a:rPr lang="en-US" altLang="zh-CN" sz="1600"/>
              <a:t>Stateful</a:t>
            </a:r>
            <a:r>
              <a:rPr lang="zh-CN" altLang="en-US" sz="1600"/>
              <a:t>），类似于一个持续运行的</a:t>
            </a:r>
            <a:r>
              <a:rPr lang="en-US" altLang="zh-CN" sz="1600"/>
              <a:t> Jupyter Notebook </a:t>
            </a:r>
            <a:r>
              <a:rPr lang="zh-CN" altLang="en-US" sz="1600"/>
              <a:t>进程。当模型在第一轮对话中执行了</a:t>
            </a:r>
            <a:r>
              <a:rPr lang="en-US" altLang="zh-CN" sz="1600"/>
              <a:t> df = pd.read_csv("data.csv")</a:t>
            </a:r>
            <a:r>
              <a:rPr lang="zh-CN" altLang="en-US" sz="1600"/>
              <a:t>，在第二轮对话中，它依然可以直接调用</a:t>
            </a:r>
            <a:r>
              <a:rPr lang="en-US" altLang="zh-CN" sz="1600"/>
              <a:t> df.head()</a:t>
            </a:r>
            <a:r>
              <a:rPr lang="zh-CN" altLang="en-US" sz="1600"/>
              <a:t>，而不需要重新加载数据。</a:t>
            </a:r>
            <a:endParaRPr lang="zh-CN" altLang="en-US" sz="1600"/>
          </a:p>
          <a:p>
            <a:endParaRPr lang="en-US" altLang="zh-CN" sz="160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zh-CN" altLang="en-US" sz="1600"/>
              <a:t>替代复杂的</a:t>
            </a:r>
            <a:r>
              <a:rPr lang="en-US" altLang="zh-CN" sz="1600"/>
              <a:t> Agent </a:t>
            </a:r>
            <a:r>
              <a:rPr lang="zh-CN" altLang="en-US" sz="1600"/>
              <a:t>记忆机制：</a:t>
            </a:r>
            <a:r>
              <a:rPr lang="en-US" altLang="zh-CN" sz="1600"/>
              <a:t> </a:t>
            </a:r>
            <a:r>
              <a:rPr lang="zh-CN" altLang="en-US" sz="1600"/>
              <a:t>这种设计直接在底层取代了传统</a:t>
            </a:r>
            <a:r>
              <a:rPr lang="en-US" altLang="zh-CN" sz="1600"/>
              <a:t> Agent </a:t>
            </a:r>
            <a:r>
              <a:rPr lang="zh-CN" altLang="en-US" sz="1600"/>
              <a:t>框架中臃肿的</a:t>
            </a:r>
            <a:r>
              <a:rPr lang="en-US" altLang="zh-CN" sz="1600"/>
              <a:t>“</a:t>
            </a:r>
            <a:r>
              <a:rPr lang="zh-CN" altLang="en-US" sz="1600"/>
              <a:t>上下文变量传递</a:t>
            </a:r>
            <a:r>
              <a:rPr lang="en-US" altLang="zh-CN" sz="1600"/>
              <a:t>”</a:t>
            </a:r>
            <a:r>
              <a:rPr lang="zh-CN" altLang="en-US" sz="1600"/>
              <a:t>或</a:t>
            </a:r>
            <a:r>
              <a:rPr lang="en-US" altLang="zh-CN" sz="1600"/>
              <a:t>“</a:t>
            </a:r>
            <a:r>
              <a:rPr lang="zh-CN" altLang="en-US" sz="1600"/>
              <a:t>短期记忆库</a:t>
            </a:r>
            <a:r>
              <a:rPr lang="en-US" altLang="zh-CN" sz="1600"/>
              <a:t>”</a:t>
            </a:r>
            <a:r>
              <a:rPr lang="zh-CN" altLang="en-US" sz="1600"/>
              <a:t>设计。系统的状态、中间计算结果全部原生存储在</a:t>
            </a:r>
            <a:r>
              <a:rPr lang="en-US" altLang="zh-CN" sz="1600"/>
              <a:t> Python </a:t>
            </a:r>
            <a:r>
              <a:rPr lang="zh-CN" altLang="en-US" sz="1600"/>
              <a:t>解释器的内存中，极大降低了框架的开发复杂度。</a:t>
            </a:r>
            <a:endParaRPr lang="zh-CN" altLang="en-US" sz="1600"/>
          </a:p>
        </p:txBody>
      </p:sp>
      <p:sp>
        <p:nvSpPr>
          <p:cNvPr id="7" name="文本框 6"/>
          <p:cNvSpPr txBox="1"/>
          <p:nvPr/>
        </p:nvSpPr>
        <p:spPr>
          <a:xfrm>
            <a:off x="2047240" y="1245235"/>
            <a:ext cx="7045325" cy="52197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zh-CN" altLang="en-US" sz="1400">
                <a:sym typeface="+mn-ea"/>
              </a:rPr>
              <a:t>论文：</a:t>
            </a:r>
            <a:r>
              <a:rPr lang="en-US" altLang="zh-CN" sz="1400">
                <a:sym typeface="+mn-ea"/>
              </a:rPr>
              <a:t>"Executable Code Actions Elicit Better LLM Agents" (CodeAct, Wang et al., 2024)</a:t>
            </a:r>
            <a:endParaRPr lang="en-US" altLang="zh-CN" sz="1400"/>
          </a:p>
          <a:p>
            <a:endParaRPr lang="zh-CN" altLang="en-US" sz="1400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0"/>
    </mc:Choice>
    <mc:Fallback>
      <p:transition/>
    </mc:Fallback>
  </mc:AlternateContent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grpSp>
        <p:nvGrpSpPr>
          <p:cNvPr id="2" name="组合 1"/>
          <p:cNvGrpSpPr/>
          <p:nvPr/>
        </p:nvGrpSpPr>
        <p:grpSpPr>
          <a:xfrm>
            <a:off x="-1386840" y="62865"/>
            <a:ext cx="8120380" cy="1521460"/>
            <a:chOff x="-2184" y="-721"/>
            <a:chExt cx="12788" cy="2396"/>
          </a:xfrm>
        </p:grpSpPr>
        <p:sp>
          <p:nvSpPr>
            <p:cNvPr id="3" name="TextBox 8"/>
            <p:cNvSpPr txBox="1"/>
            <p:nvPr/>
          </p:nvSpPr>
          <p:spPr>
            <a:xfrm>
              <a:off x="-2184" y="-721"/>
              <a:ext cx="12788" cy="1598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p>
              <a:pPr algn="ctr"/>
              <a:r>
                <a:rPr lang="en-US" sz="6000" b="1" spc="600" dirty="0" smtClean="0">
                  <a:solidFill>
                    <a:schemeClr val="bg1">
                      <a:lumMod val="95000"/>
                    </a:schemeClr>
                  </a:solidFill>
                  <a:latin typeface="庞门正道标题体" panose="02010600030101010101" charset="-122"/>
                  <a:ea typeface="庞门正道标题体" panose="02010600030101010101" charset="-122"/>
                  <a:cs typeface="Montserrat" panose="00000500000000000000" pitchFamily="50" charset="0"/>
                </a:rPr>
                <a:t>MINIMALIST</a:t>
              </a:r>
              <a:endParaRPr lang="en-US" sz="6000" b="1" spc="600" dirty="0" smtClean="0">
                <a:solidFill>
                  <a:schemeClr val="bg1">
                    <a:lumMod val="95000"/>
                  </a:schemeClr>
                </a:solidFill>
                <a:latin typeface="庞门正道标题体" panose="02010600030101010101" charset="-122"/>
                <a:ea typeface="庞门正道标题体" panose="02010600030101010101" charset="-122"/>
                <a:cs typeface="Montserrat" panose="00000500000000000000" pitchFamily="50" charset="0"/>
              </a:endParaRPr>
            </a:p>
          </p:txBody>
        </p:sp>
        <p:sp>
          <p:nvSpPr>
            <p:cNvPr id="24" name="TextBox 9"/>
            <p:cNvSpPr txBox="1"/>
            <p:nvPr/>
          </p:nvSpPr>
          <p:spPr>
            <a:xfrm>
              <a:off x="-1247" y="-166"/>
              <a:ext cx="10932" cy="130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p>
              <a:pPr algn="ctr"/>
              <a:r>
                <a:rPr lang="zh-CN" altLang="en-US" sz="4800" b="1" spc="600" dirty="0" smtClean="0">
                  <a:latin typeface="方正明尚简体" panose="02000000000000000000" charset="-122"/>
                  <a:ea typeface="方正明尚简体" panose="02000000000000000000" charset="-122"/>
                  <a:cs typeface="Montserrat" panose="00000500000000000000" pitchFamily="50" charset="0"/>
                  <a:sym typeface="+mn-ea"/>
                </a:rPr>
                <a:t>三大设计原则</a:t>
              </a:r>
              <a:endParaRPr lang="zh-CN" altLang="zh-CN" sz="4800" spc="600" dirty="0" smtClean="0">
                <a:solidFill>
                  <a:schemeClr val="tx1"/>
                </a:solidFill>
                <a:latin typeface="方正明尚简体" panose="02000000000000000000" charset="-122"/>
                <a:ea typeface="方正明尚简体" panose="02000000000000000000" charset="-122"/>
                <a:cs typeface="Montserrat" panose="00000500000000000000" pitchFamily="50" charset="0"/>
              </a:endParaRPr>
            </a:p>
          </p:txBody>
        </p:sp>
        <p:sp>
          <p:nvSpPr>
            <p:cNvPr id="25" name="TextBox 12"/>
            <p:cNvSpPr txBox="1"/>
            <p:nvPr/>
          </p:nvSpPr>
          <p:spPr>
            <a:xfrm>
              <a:off x="-1792" y="877"/>
              <a:ext cx="7856" cy="798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p>
              <a:pPr algn="ctr">
                <a:lnSpc>
                  <a:spcPct val="150000"/>
                </a:lnSpc>
              </a:pPr>
              <a:r>
                <a:rPr lang="zh-CN" altLang="en-US" b="1">
                  <a:latin typeface="黑体" panose="02010609060101010101" charset="-122"/>
                  <a:ea typeface="黑体" panose="02010609060101010101" charset="-122"/>
                  <a:sym typeface="+mn-ea"/>
                </a:rPr>
                <a:t>保持简单案例</a:t>
              </a:r>
              <a:r>
                <a:rPr lang="en-US" altLang="zh-CN" b="1">
                  <a:latin typeface="黑体" panose="02010609060101010101" charset="-122"/>
                  <a:ea typeface="黑体" panose="02010609060101010101" charset="-122"/>
                  <a:sym typeface="+mn-ea"/>
                </a:rPr>
                <a:t>2</a:t>
              </a:r>
              <a:endParaRPr lang="en-US" altLang="zh-CN" b="1">
                <a:latin typeface="黑体" panose="02010609060101010101" charset="-122"/>
                <a:ea typeface="黑体" panose="02010609060101010101" charset="-122"/>
                <a:sym typeface="+mn-ea"/>
              </a:endParaRPr>
            </a:p>
          </p:txBody>
        </p:sp>
      </p:grpSp>
      <p:sp>
        <p:nvSpPr>
          <p:cNvPr id="4" name="文本框 3"/>
          <p:cNvSpPr txBox="1"/>
          <p:nvPr/>
        </p:nvSpPr>
        <p:spPr>
          <a:xfrm>
            <a:off x="979170" y="2064385"/>
            <a:ext cx="10088245" cy="341503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zh-CN" altLang="en-US" b="1">
                <a:latin typeface="黑体" panose="02010609060101010101" charset="-122"/>
                <a:ea typeface="黑体" panose="02010609060101010101" charset="-122"/>
              </a:rPr>
              <a:t>动态依赖与开放域能力扩展</a:t>
            </a:r>
            <a:endParaRPr lang="zh-CN" altLang="en-US" b="1">
              <a:latin typeface="黑体" panose="02010609060101010101" charset="-122"/>
              <a:ea typeface="黑体" panose="02010609060101010101" charset="-122"/>
            </a:endParaRPr>
          </a:p>
          <a:p>
            <a:endParaRPr lang="zh-CN" altLang="en-US"/>
          </a:p>
          <a:p>
            <a:r>
              <a:rPr lang="zh-CN" altLang="en-US"/>
              <a:t>在传统的</a:t>
            </a:r>
            <a:r>
              <a:rPr lang="en-US" altLang="zh-CN"/>
              <a:t> Tool Use </a:t>
            </a:r>
            <a:r>
              <a:rPr lang="zh-CN" altLang="en-US"/>
              <a:t>范式中，如果你想让</a:t>
            </a:r>
            <a:r>
              <a:rPr lang="en-US" altLang="zh-CN"/>
              <a:t> Agent </a:t>
            </a:r>
            <a:r>
              <a:rPr lang="zh-CN" altLang="en-US"/>
              <a:t>具备查询天气的能力，你需要提前注册一个天气</a:t>
            </a:r>
            <a:r>
              <a:rPr lang="en-US" altLang="zh-CN"/>
              <a:t> API</a:t>
            </a:r>
            <a:r>
              <a:rPr lang="zh-CN" altLang="en-US"/>
              <a:t>；想让它画图，需要注册一个画图</a:t>
            </a:r>
            <a:r>
              <a:rPr lang="en-US" altLang="zh-CN"/>
              <a:t> API</a:t>
            </a:r>
            <a:r>
              <a:rPr lang="zh-CN" altLang="en-US"/>
              <a:t>。</a:t>
            </a:r>
            <a:endParaRPr lang="zh-CN" altLang="en-US"/>
          </a:p>
          <a:p>
            <a:endParaRPr lang="en-US" altLang="zh-CN"/>
          </a:p>
          <a:p>
            <a:r>
              <a:rPr lang="zh-CN" altLang="en-US"/>
              <a:t>按需安装（</a:t>
            </a:r>
            <a:r>
              <a:rPr lang="en-US" altLang="zh-CN"/>
              <a:t>Pip Install on the fly</a:t>
            </a:r>
            <a:r>
              <a:rPr lang="zh-CN" altLang="en-US"/>
              <a:t>）：</a:t>
            </a:r>
            <a:r>
              <a:rPr lang="en-US" altLang="zh-CN"/>
              <a:t> CodeAct </a:t>
            </a:r>
            <a:r>
              <a:rPr lang="zh-CN" altLang="en-US"/>
              <a:t>的解释器允许模型在运行时动态安装依赖。如果模型在推理中发现需要进行矩阵计算，它可以直接写一行代码</a:t>
            </a:r>
            <a:r>
              <a:rPr lang="en-US" altLang="zh-CN"/>
              <a:t> !pip install numpy</a:t>
            </a:r>
            <a:r>
              <a:rPr lang="zh-CN" altLang="en-US"/>
              <a:t>（或通过</a:t>
            </a:r>
            <a:r>
              <a:rPr lang="en-US" altLang="zh-CN"/>
              <a:t> subprocess </a:t>
            </a:r>
            <a:r>
              <a:rPr lang="zh-CN" altLang="en-US"/>
              <a:t>调用）。</a:t>
            </a:r>
            <a:endParaRPr lang="zh-CN" altLang="en-US"/>
          </a:p>
          <a:p>
            <a:endParaRPr lang="en-US" altLang="zh-CN"/>
          </a:p>
          <a:p>
            <a:r>
              <a:rPr lang="zh-CN" altLang="en-US"/>
              <a:t>能力边界的无限延展：</a:t>
            </a:r>
            <a:r>
              <a:rPr lang="en-US" altLang="zh-CN"/>
              <a:t> </a:t>
            </a:r>
            <a:r>
              <a:rPr lang="zh-CN" altLang="en-US"/>
              <a:t>这种设计意味着，只要</a:t>
            </a:r>
            <a:r>
              <a:rPr lang="en-US" altLang="zh-CN"/>
              <a:t> Python </a:t>
            </a:r>
            <a:r>
              <a:rPr lang="zh-CN" altLang="en-US"/>
              <a:t>生态系统中存在的库（如用于网页抓取的</a:t>
            </a:r>
            <a:r>
              <a:rPr lang="en-US" altLang="zh-CN"/>
              <a:t> BeautifulSoup</a:t>
            </a:r>
            <a:r>
              <a:rPr lang="zh-CN" altLang="en-US"/>
              <a:t>，用于机器学习的</a:t>
            </a:r>
            <a:r>
              <a:rPr lang="en-US" altLang="zh-CN"/>
              <a:t> scikit-learn</a:t>
            </a:r>
            <a:r>
              <a:rPr lang="zh-CN" altLang="en-US"/>
              <a:t>），</a:t>
            </a:r>
            <a:r>
              <a:rPr lang="en-US" altLang="zh-CN"/>
              <a:t>Agent </a:t>
            </a:r>
            <a:r>
              <a:rPr lang="zh-CN" altLang="en-US"/>
              <a:t>都可以随时调用，真正实现了</a:t>
            </a:r>
            <a:r>
              <a:rPr lang="en-US" altLang="zh-CN"/>
              <a:t>“</a:t>
            </a:r>
            <a:r>
              <a:rPr lang="zh-CN" altLang="en-US"/>
              <a:t>工具库的无限扩展</a:t>
            </a:r>
            <a:r>
              <a:rPr lang="en-US" altLang="zh-CN"/>
              <a:t>”</a:t>
            </a:r>
            <a:r>
              <a:rPr lang="zh-CN" altLang="en-US"/>
              <a:t>。</a:t>
            </a:r>
            <a:endParaRPr lang="zh-CN" altLang="en-US"/>
          </a:p>
        </p:txBody>
      </p:sp>
      <p:sp>
        <p:nvSpPr>
          <p:cNvPr id="7" name="文本框 6"/>
          <p:cNvSpPr txBox="1"/>
          <p:nvPr/>
        </p:nvSpPr>
        <p:spPr>
          <a:xfrm>
            <a:off x="2131060" y="1245235"/>
            <a:ext cx="7045325" cy="52197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zh-CN" altLang="en-US" sz="1400">
                <a:sym typeface="+mn-ea"/>
              </a:rPr>
              <a:t>论文：</a:t>
            </a:r>
            <a:r>
              <a:rPr lang="en-US" altLang="zh-CN" sz="1400">
                <a:sym typeface="+mn-ea"/>
              </a:rPr>
              <a:t>"Executable Code Actions Elicit Better LLM Agents" (CodeAct, Wang et al., 2024)</a:t>
            </a:r>
            <a:endParaRPr lang="en-US" altLang="zh-CN" sz="1400"/>
          </a:p>
          <a:p>
            <a:endParaRPr lang="zh-CN" altLang="en-US" sz="1400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0"/>
    </mc:Choice>
    <mc:Fallback>
      <p:transition/>
    </mc:Fallback>
  </mc:AlternateContent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grpSp>
        <p:nvGrpSpPr>
          <p:cNvPr id="2" name="组合 1"/>
          <p:cNvGrpSpPr/>
          <p:nvPr/>
        </p:nvGrpSpPr>
        <p:grpSpPr>
          <a:xfrm>
            <a:off x="-1386840" y="62865"/>
            <a:ext cx="8120380" cy="1521460"/>
            <a:chOff x="-2184" y="-721"/>
            <a:chExt cx="12788" cy="2396"/>
          </a:xfrm>
        </p:grpSpPr>
        <p:sp>
          <p:nvSpPr>
            <p:cNvPr id="3" name="TextBox 8"/>
            <p:cNvSpPr txBox="1"/>
            <p:nvPr/>
          </p:nvSpPr>
          <p:spPr>
            <a:xfrm>
              <a:off x="-2184" y="-721"/>
              <a:ext cx="12788" cy="1598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p>
              <a:pPr algn="ctr"/>
              <a:r>
                <a:rPr lang="en-US" sz="6000" b="1" spc="600" dirty="0" smtClean="0">
                  <a:solidFill>
                    <a:schemeClr val="bg1">
                      <a:lumMod val="95000"/>
                    </a:schemeClr>
                  </a:solidFill>
                  <a:latin typeface="庞门正道标题体" panose="02010600030101010101" charset="-122"/>
                  <a:ea typeface="庞门正道标题体" panose="02010600030101010101" charset="-122"/>
                  <a:cs typeface="Montserrat" panose="00000500000000000000" pitchFamily="50" charset="0"/>
                </a:rPr>
                <a:t>MINIMALIST</a:t>
              </a:r>
              <a:endParaRPr lang="en-US" sz="6000" b="1" spc="600" dirty="0" smtClean="0">
                <a:solidFill>
                  <a:schemeClr val="bg1">
                    <a:lumMod val="95000"/>
                  </a:schemeClr>
                </a:solidFill>
                <a:latin typeface="庞门正道标题体" panose="02010600030101010101" charset="-122"/>
                <a:ea typeface="庞门正道标题体" panose="02010600030101010101" charset="-122"/>
                <a:cs typeface="Montserrat" panose="00000500000000000000" pitchFamily="50" charset="0"/>
              </a:endParaRPr>
            </a:p>
          </p:txBody>
        </p:sp>
        <p:sp>
          <p:nvSpPr>
            <p:cNvPr id="24" name="TextBox 9"/>
            <p:cNvSpPr txBox="1"/>
            <p:nvPr/>
          </p:nvSpPr>
          <p:spPr>
            <a:xfrm>
              <a:off x="-1247" y="-166"/>
              <a:ext cx="10932" cy="130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p>
              <a:pPr algn="ctr"/>
              <a:r>
                <a:rPr lang="zh-CN" altLang="en-US" sz="4800" b="1" spc="600" dirty="0" smtClean="0">
                  <a:latin typeface="方正明尚简体" panose="02000000000000000000" charset="-122"/>
                  <a:ea typeface="方正明尚简体" panose="02000000000000000000" charset="-122"/>
                  <a:cs typeface="Montserrat" panose="00000500000000000000" pitchFamily="50" charset="0"/>
                  <a:sym typeface="+mn-ea"/>
                </a:rPr>
                <a:t>三大设计原则</a:t>
              </a:r>
              <a:endParaRPr lang="zh-CN" altLang="zh-CN" sz="4800" spc="600" dirty="0" smtClean="0">
                <a:solidFill>
                  <a:schemeClr val="tx1"/>
                </a:solidFill>
                <a:latin typeface="方正明尚简体" panose="02000000000000000000" charset="-122"/>
                <a:ea typeface="方正明尚简体" panose="02000000000000000000" charset="-122"/>
                <a:cs typeface="Montserrat" panose="00000500000000000000" pitchFamily="50" charset="0"/>
              </a:endParaRPr>
            </a:p>
          </p:txBody>
        </p:sp>
        <p:sp>
          <p:nvSpPr>
            <p:cNvPr id="25" name="TextBox 12"/>
            <p:cNvSpPr txBox="1"/>
            <p:nvPr/>
          </p:nvSpPr>
          <p:spPr>
            <a:xfrm>
              <a:off x="-1828" y="877"/>
              <a:ext cx="7856" cy="798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p>
              <a:pPr algn="ctr">
                <a:lnSpc>
                  <a:spcPct val="150000"/>
                </a:lnSpc>
              </a:pPr>
              <a:r>
                <a:rPr lang="zh-CN" altLang="en-US" b="1">
                  <a:latin typeface="黑体" panose="02010609060101010101" charset="-122"/>
                  <a:ea typeface="黑体" panose="02010609060101010101" charset="-122"/>
                  <a:sym typeface="+mn-ea"/>
                </a:rPr>
                <a:t>保持简单案例</a:t>
              </a:r>
              <a:r>
                <a:rPr lang="en-US" altLang="zh-CN" b="1">
                  <a:latin typeface="黑体" panose="02010609060101010101" charset="-122"/>
                  <a:ea typeface="黑体" panose="02010609060101010101" charset="-122"/>
                  <a:sym typeface="+mn-ea"/>
                </a:rPr>
                <a:t>2</a:t>
              </a:r>
              <a:endParaRPr lang="en-US" altLang="zh-CN" b="1">
                <a:latin typeface="黑体" panose="02010609060101010101" charset="-122"/>
                <a:ea typeface="黑体" panose="02010609060101010101" charset="-122"/>
                <a:sym typeface="+mn-ea"/>
              </a:endParaRPr>
            </a:p>
          </p:txBody>
        </p:sp>
      </p:grpSp>
      <p:sp>
        <p:nvSpPr>
          <p:cNvPr id="4" name="文本框 3"/>
          <p:cNvSpPr txBox="1"/>
          <p:nvPr/>
        </p:nvSpPr>
        <p:spPr>
          <a:xfrm>
            <a:off x="979170" y="2064385"/>
            <a:ext cx="10088245" cy="341503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zh-CN" altLang="en-US" b="1">
                <a:latin typeface="黑体" panose="02010609060101010101" charset="-122"/>
                <a:ea typeface="黑体" panose="02010609060101010101" charset="-122"/>
              </a:rPr>
              <a:t>标准化的多模态反馈闭环</a:t>
            </a:r>
            <a:endParaRPr lang="zh-CN" altLang="en-US" b="1">
              <a:latin typeface="黑体" panose="02010609060101010101" charset="-122"/>
              <a:ea typeface="黑体" panose="02010609060101010101" charset="-122"/>
            </a:endParaRPr>
          </a:p>
          <a:p>
            <a:endParaRPr lang="zh-CN" altLang="en-US"/>
          </a:p>
          <a:p>
            <a:r>
              <a:rPr lang="zh-CN" altLang="en-US"/>
              <a:t>代码写出来难免会报错，解释器如何向大模型</a:t>
            </a:r>
            <a:r>
              <a:rPr lang="en-US" altLang="zh-CN"/>
              <a:t>“</a:t>
            </a:r>
            <a:r>
              <a:rPr lang="zh-CN" altLang="en-US"/>
              <a:t>汇报</a:t>
            </a:r>
            <a:r>
              <a:rPr lang="en-US" altLang="zh-CN"/>
              <a:t>”</a:t>
            </a:r>
            <a:r>
              <a:rPr lang="zh-CN" altLang="en-US"/>
              <a:t>执行结果，是决定</a:t>
            </a:r>
            <a:r>
              <a:rPr lang="en-US" altLang="zh-CN"/>
              <a:t> Agent </a:t>
            </a:r>
            <a:r>
              <a:rPr lang="zh-CN" altLang="en-US"/>
              <a:t>容错率的关键。</a:t>
            </a:r>
            <a:endParaRPr lang="zh-CN" altLang="en-US"/>
          </a:p>
          <a:p>
            <a:endParaRPr lang="en-US" altLang="zh-CN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zh-CN" altLang="en-US"/>
              <a:t>区分标准输出与错误堆栈：</a:t>
            </a:r>
            <a:r>
              <a:rPr lang="en-US" altLang="zh-CN"/>
              <a:t> </a:t>
            </a:r>
            <a:r>
              <a:rPr lang="zh-CN" altLang="en-US"/>
              <a:t>解释器会严格捕获并区分</a:t>
            </a:r>
            <a:r>
              <a:rPr lang="en-US" altLang="zh-CN"/>
              <a:t> stdout</a:t>
            </a:r>
            <a:r>
              <a:rPr lang="zh-CN" altLang="en-US"/>
              <a:t>（标准输出）和</a:t>
            </a:r>
            <a:r>
              <a:rPr lang="en-US" altLang="zh-CN"/>
              <a:t> stderr</a:t>
            </a:r>
            <a:r>
              <a:rPr lang="zh-CN" altLang="en-US"/>
              <a:t>（标准错误）。如果代码成功运行，它返回</a:t>
            </a:r>
            <a:r>
              <a:rPr lang="en-US" altLang="zh-CN"/>
              <a:t> print </a:t>
            </a:r>
            <a:r>
              <a:rPr lang="zh-CN" altLang="en-US"/>
              <a:t>的结果；如果失败，它会原封不动地返回</a:t>
            </a:r>
            <a:r>
              <a:rPr lang="en-US" altLang="zh-CN"/>
              <a:t> Python </a:t>
            </a:r>
            <a:r>
              <a:rPr lang="zh-CN" altLang="en-US"/>
              <a:t>的</a:t>
            </a:r>
            <a:r>
              <a:rPr lang="en-US" altLang="zh-CN"/>
              <a:t> Traceback</a:t>
            </a:r>
            <a:r>
              <a:rPr lang="zh-CN" altLang="en-US"/>
              <a:t>（错误堆栈）。</a:t>
            </a:r>
            <a:endParaRPr lang="zh-CN" altLang="en-US"/>
          </a:p>
          <a:p>
            <a:endParaRPr lang="en-US" altLang="zh-CN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zh-CN" altLang="en-US"/>
              <a:t>对模型最友好的报错格式：</a:t>
            </a:r>
            <a:r>
              <a:rPr lang="en-US" altLang="zh-CN"/>
              <a:t> </a:t>
            </a:r>
            <a:r>
              <a:rPr lang="zh-CN" altLang="en-US"/>
              <a:t>论文指出，由于大模型在预训练阶段</a:t>
            </a:r>
            <a:r>
              <a:rPr lang="en-US" altLang="zh-CN"/>
              <a:t>“</a:t>
            </a:r>
            <a:r>
              <a:rPr lang="zh-CN" altLang="en-US"/>
              <a:t>阅读</a:t>
            </a:r>
            <a:r>
              <a:rPr lang="en-US" altLang="zh-CN"/>
              <a:t>”</a:t>
            </a:r>
            <a:r>
              <a:rPr lang="zh-CN" altLang="en-US"/>
              <a:t>了海量的</a:t>
            </a:r>
            <a:r>
              <a:rPr lang="en-US" altLang="zh-CN"/>
              <a:t> StackOverflow </a:t>
            </a:r>
            <a:r>
              <a:rPr lang="zh-CN" altLang="en-US"/>
              <a:t>和</a:t>
            </a:r>
            <a:r>
              <a:rPr lang="en-US" altLang="zh-CN"/>
              <a:t> GitHub Issues</a:t>
            </a:r>
            <a:r>
              <a:rPr lang="zh-CN" altLang="en-US"/>
              <a:t>，它们对</a:t>
            </a:r>
            <a:r>
              <a:rPr lang="en-US" altLang="zh-CN"/>
              <a:t> Python </a:t>
            </a:r>
            <a:r>
              <a:rPr lang="zh-CN" altLang="en-US"/>
              <a:t>的</a:t>
            </a:r>
            <a:r>
              <a:rPr lang="en-US" altLang="zh-CN"/>
              <a:t> Traceback </a:t>
            </a:r>
            <a:r>
              <a:rPr lang="zh-CN" altLang="en-US"/>
              <a:t>信息极其敏感且擅长分析。直接将原始报错信息扔给模型，比框架强行将其翻译成自然语言（例如：</a:t>
            </a:r>
            <a:r>
              <a:rPr lang="en-US" altLang="zh-CN"/>
              <a:t>“</a:t>
            </a:r>
            <a:r>
              <a:rPr lang="zh-CN" altLang="en-US"/>
              <a:t>你的参数类型不对</a:t>
            </a:r>
            <a:r>
              <a:rPr lang="en-US" altLang="zh-CN"/>
              <a:t>”</a:t>
            </a:r>
            <a:r>
              <a:rPr lang="zh-CN" altLang="en-US"/>
              <a:t>）效率高得多，模型能瞬间定位到具体是哪一行代码出了问题并进行重试。</a:t>
            </a:r>
            <a:endParaRPr lang="zh-CN" altLang="en-US"/>
          </a:p>
        </p:txBody>
      </p:sp>
      <p:sp>
        <p:nvSpPr>
          <p:cNvPr id="7" name="文本框 6"/>
          <p:cNvSpPr txBox="1"/>
          <p:nvPr/>
        </p:nvSpPr>
        <p:spPr>
          <a:xfrm>
            <a:off x="2100580" y="1245235"/>
            <a:ext cx="7045325" cy="52197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zh-CN" altLang="en-US" sz="1400">
                <a:sym typeface="+mn-ea"/>
              </a:rPr>
              <a:t>论文：</a:t>
            </a:r>
            <a:r>
              <a:rPr lang="en-US" altLang="zh-CN" sz="1400">
                <a:sym typeface="+mn-ea"/>
              </a:rPr>
              <a:t>"Executable Code Actions Elicit Better LLM Agents" (CodeAct, Wang et al., 2024)</a:t>
            </a:r>
            <a:endParaRPr lang="en-US" altLang="zh-CN" sz="1400"/>
          </a:p>
          <a:p>
            <a:endParaRPr lang="zh-CN" altLang="en-US" sz="1400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0"/>
    </mc:Choice>
    <mc:Fallback>
      <p:transition/>
    </mc:Fallback>
  </mc:AlternateContent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grpSp>
        <p:nvGrpSpPr>
          <p:cNvPr id="2" name="组合 1"/>
          <p:cNvGrpSpPr/>
          <p:nvPr/>
        </p:nvGrpSpPr>
        <p:grpSpPr>
          <a:xfrm>
            <a:off x="-1386840" y="62865"/>
            <a:ext cx="8120380" cy="1521460"/>
            <a:chOff x="-2184" y="-721"/>
            <a:chExt cx="12788" cy="2396"/>
          </a:xfrm>
        </p:grpSpPr>
        <p:sp>
          <p:nvSpPr>
            <p:cNvPr id="3" name="TextBox 8"/>
            <p:cNvSpPr txBox="1"/>
            <p:nvPr/>
          </p:nvSpPr>
          <p:spPr>
            <a:xfrm>
              <a:off x="-2184" y="-721"/>
              <a:ext cx="12788" cy="1598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p>
              <a:pPr algn="ctr"/>
              <a:r>
                <a:rPr lang="en-US" sz="6000" b="1" spc="600" dirty="0" smtClean="0">
                  <a:solidFill>
                    <a:schemeClr val="bg1">
                      <a:lumMod val="95000"/>
                    </a:schemeClr>
                  </a:solidFill>
                  <a:latin typeface="庞门正道标题体" panose="02010600030101010101" charset="-122"/>
                  <a:ea typeface="庞门正道标题体" panose="02010600030101010101" charset="-122"/>
                  <a:cs typeface="Montserrat" panose="00000500000000000000" pitchFamily="50" charset="0"/>
                </a:rPr>
                <a:t>MINIMALIST</a:t>
              </a:r>
              <a:endParaRPr lang="en-US" sz="6000" b="1" spc="600" dirty="0" smtClean="0">
                <a:solidFill>
                  <a:schemeClr val="bg1">
                    <a:lumMod val="95000"/>
                  </a:schemeClr>
                </a:solidFill>
                <a:latin typeface="庞门正道标题体" panose="02010600030101010101" charset="-122"/>
                <a:ea typeface="庞门正道标题体" panose="02010600030101010101" charset="-122"/>
                <a:cs typeface="Montserrat" panose="00000500000000000000" pitchFamily="50" charset="0"/>
              </a:endParaRPr>
            </a:p>
          </p:txBody>
        </p:sp>
        <p:sp>
          <p:nvSpPr>
            <p:cNvPr id="24" name="TextBox 9"/>
            <p:cNvSpPr txBox="1"/>
            <p:nvPr/>
          </p:nvSpPr>
          <p:spPr>
            <a:xfrm>
              <a:off x="-1247" y="-166"/>
              <a:ext cx="10932" cy="130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p>
              <a:pPr algn="ctr"/>
              <a:r>
                <a:rPr lang="zh-CN" altLang="en-US" sz="4800" b="1" spc="600" dirty="0" smtClean="0">
                  <a:latin typeface="方正明尚简体" panose="02000000000000000000" charset="-122"/>
                  <a:ea typeface="方正明尚简体" panose="02000000000000000000" charset="-122"/>
                  <a:cs typeface="Montserrat" panose="00000500000000000000" pitchFamily="50" charset="0"/>
                  <a:sym typeface="+mn-ea"/>
                </a:rPr>
                <a:t>三大设计原则</a:t>
              </a:r>
              <a:endParaRPr lang="zh-CN" altLang="en-US" sz="4800" b="1" spc="600" dirty="0" smtClean="0">
                <a:solidFill>
                  <a:schemeClr val="tx1"/>
                </a:solidFill>
                <a:latin typeface="方正明尚简体" panose="02000000000000000000" charset="-122"/>
                <a:ea typeface="方正明尚简体" panose="02000000000000000000" charset="-122"/>
                <a:cs typeface="Montserrat" panose="00000500000000000000" pitchFamily="50" charset="0"/>
                <a:sym typeface="+mn-ea"/>
              </a:endParaRPr>
            </a:p>
          </p:txBody>
        </p:sp>
        <p:sp>
          <p:nvSpPr>
            <p:cNvPr id="25" name="TextBox 12"/>
            <p:cNvSpPr txBox="1"/>
            <p:nvPr/>
          </p:nvSpPr>
          <p:spPr>
            <a:xfrm>
              <a:off x="-1912" y="877"/>
              <a:ext cx="7856" cy="798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p>
              <a:pPr algn="ctr">
                <a:lnSpc>
                  <a:spcPct val="150000"/>
                </a:lnSpc>
              </a:pPr>
              <a:r>
                <a:rPr lang="zh-CN" altLang="en-US" b="1">
                  <a:latin typeface="黑体" panose="02010609060101010101" charset="-122"/>
                  <a:ea typeface="黑体" panose="02010609060101010101" charset="-122"/>
                  <a:sym typeface="+mn-ea"/>
                </a:rPr>
                <a:t>保持简单案例</a:t>
              </a:r>
              <a:r>
                <a:rPr lang="en-US" altLang="zh-CN" b="1">
                  <a:latin typeface="黑体" panose="02010609060101010101" charset="-122"/>
                  <a:ea typeface="黑体" panose="02010609060101010101" charset="-122"/>
                  <a:sym typeface="+mn-ea"/>
                </a:rPr>
                <a:t>2</a:t>
              </a:r>
              <a:endParaRPr lang="en-US" altLang="zh-CN" b="1">
                <a:latin typeface="黑体" panose="02010609060101010101" charset="-122"/>
                <a:ea typeface="黑体" panose="02010609060101010101" charset="-122"/>
                <a:sym typeface="+mn-ea"/>
              </a:endParaRPr>
            </a:p>
          </p:txBody>
        </p:sp>
      </p:grpSp>
      <p:sp>
        <p:nvSpPr>
          <p:cNvPr id="7" name="文本框 6"/>
          <p:cNvSpPr txBox="1"/>
          <p:nvPr/>
        </p:nvSpPr>
        <p:spPr>
          <a:xfrm>
            <a:off x="2153920" y="1245235"/>
            <a:ext cx="7045325" cy="52197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zh-CN" altLang="en-US" sz="1400">
                <a:sym typeface="+mn-ea"/>
              </a:rPr>
              <a:t>论文：</a:t>
            </a:r>
            <a:r>
              <a:rPr lang="en-US" altLang="zh-CN" sz="1400">
                <a:sym typeface="+mn-ea"/>
              </a:rPr>
              <a:t>"Executable Code Actions Elicit Better LLM Agents" (CodeAct, Wang et al., 2024)</a:t>
            </a:r>
            <a:endParaRPr lang="en-US" altLang="zh-CN" sz="1400"/>
          </a:p>
          <a:p>
            <a:endParaRPr lang="zh-CN" altLang="en-US" sz="1400"/>
          </a:p>
        </p:txBody>
      </p:sp>
      <p:sp>
        <p:nvSpPr>
          <p:cNvPr id="5" name="文本框 4"/>
          <p:cNvSpPr txBox="1"/>
          <p:nvPr/>
        </p:nvSpPr>
        <p:spPr>
          <a:xfrm>
            <a:off x="624840" y="1767205"/>
            <a:ext cx="7827645" cy="258445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zh-CN" altLang="en-US" b="1"/>
              <a:t>番外：</a:t>
            </a:r>
            <a:endParaRPr lang="zh-CN" altLang="en-US" b="1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zh-CN" altLang="en-US" b="1"/>
              <a:t>生态经济学熵理论</a:t>
            </a:r>
            <a:endParaRPr lang="zh-CN" altLang="en-US" b="1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zh-CN" altLang="en-US" b="1"/>
              <a:t>尼古拉斯</a:t>
            </a:r>
            <a:r>
              <a:rPr lang="ja-JP" altLang="en-US" b="1"/>
              <a:t>・</a:t>
            </a:r>
            <a:r>
              <a:rPr lang="zh-CN" altLang="en-US" b="1"/>
              <a:t>乔治斯库</a:t>
            </a:r>
            <a:r>
              <a:rPr lang="en-US" altLang="zh-CN" b="1"/>
              <a:t> - </a:t>
            </a:r>
            <a:r>
              <a:rPr lang="zh-CN" altLang="en-US" b="1"/>
              <a:t>罗根（</a:t>
            </a:r>
            <a:r>
              <a:rPr lang="en-US" altLang="zh-CN" b="1"/>
              <a:t>Nicholas Georgescu-Roegen</a:t>
            </a:r>
            <a:r>
              <a:rPr lang="zh-CN" altLang="en-US" b="1"/>
              <a:t>）</a:t>
            </a:r>
            <a:endParaRPr lang="zh-CN" altLang="en-US" b="1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zh-CN" altLang="en-US" b="1"/>
              <a:t>核心观点：</a:t>
            </a:r>
            <a:endParaRPr lang="zh-CN" altLang="en-US" b="1"/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zh-CN" altLang="en-US" b="1"/>
              <a:t>人类经济活动（生产、消费）不是循环，而是</a:t>
            </a:r>
            <a:r>
              <a:rPr lang="en-US" altLang="zh-CN" b="1"/>
              <a:t> </a:t>
            </a:r>
            <a:r>
              <a:rPr lang="zh-CN" altLang="en-US" b="1"/>
              <a:t>将低熵资源转化为高熵废物</a:t>
            </a:r>
            <a:r>
              <a:rPr lang="en-US" altLang="zh-CN" b="1"/>
              <a:t> </a:t>
            </a:r>
            <a:r>
              <a:rPr lang="zh-CN" altLang="en-US" b="1"/>
              <a:t>的单向过程。</a:t>
            </a:r>
            <a:endParaRPr lang="zh-CN" altLang="en-US" b="1"/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zh-CN" altLang="en-US" b="1"/>
              <a:t>生产效率提高</a:t>
            </a:r>
            <a:r>
              <a:rPr lang="en-US" altLang="zh-CN" b="1"/>
              <a:t> </a:t>
            </a:r>
            <a:r>
              <a:rPr lang="en-US" altLang="en-US" b="1"/>
              <a:t>→</a:t>
            </a:r>
            <a:r>
              <a:rPr lang="en-US" altLang="zh-CN" b="1"/>
              <a:t> </a:t>
            </a:r>
            <a:r>
              <a:rPr lang="zh-CN" altLang="en-US" b="1"/>
              <a:t>资源</a:t>
            </a:r>
            <a:r>
              <a:rPr lang="en-US" altLang="zh-CN" b="1"/>
              <a:t> / </a:t>
            </a:r>
            <a:r>
              <a:rPr lang="zh-CN" altLang="en-US" b="1"/>
              <a:t>能量转化加速</a:t>
            </a:r>
            <a:r>
              <a:rPr lang="en-US" altLang="zh-CN" b="1"/>
              <a:t> </a:t>
            </a:r>
            <a:r>
              <a:rPr lang="en-US" altLang="en-US" b="1"/>
              <a:t>→</a:t>
            </a:r>
            <a:r>
              <a:rPr lang="en-US" altLang="zh-CN" b="1"/>
              <a:t> </a:t>
            </a:r>
            <a:r>
              <a:rPr lang="zh-CN" altLang="en-US" b="1"/>
              <a:t>整体熵增更快。</a:t>
            </a:r>
            <a:endParaRPr lang="zh-CN" altLang="en-US" b="1"/>
          </a:p>
          <a:p>
            <a:pPr marL="742950" lvl="1" indent="-285750">
              <a:buFont typeface="Arial" panose="020B0604020202020204" pitchFamily="34" charset="0"/>
              <a:buChar char="•"/>
            </a:pPr>
            <a:endParaRPr lang="zh-CN" altLang="en-US" b="1"/>
          </a:p>
          <a:p>
            <a:endParaRPr lang="zh-CN" altLang="en-US" b="1"/>
          </a:p>
        </p:txBody>
      </p:sp>
      <p:sp>
        <p:nvSpPr>
          <p:cNvPr id="6" name="文本框 5"/>
          <p:cNvSpPr txBox="1"/>
          <p:nvPr/>
        </p:nvSpPr>
        <p:spPr>
          <a:xfrm>
            <a:off x="8452485" y="4401820"/>
            <a:ext cx="3152140" cy="147637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pPr marL="0" lvl="1"/>
            <a:r>
              <a:rPr lang="zh-CN" altLang="en-US" b="1"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  <a:sym typeface="+mn-ea"/>
              </a:rPr>
              <a:t>效率越高，为了维持这个效率，系统必须变得更复杂、更脆弱、更</a:t>
            </a:r>
            <a:r>
              <a:rPr lang="en-US" altLang="zh-CN" b="1"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  <a:sym typeface="+mn-ea"/>
              </a:rPr>
              <a:t> “</a:t>
            </a:r>
            <a:r>
              <a:rPr lang="zh-CN" altLang="en-US" b="1"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  <a:sym typeface="+mn-ea"/>
              </a:rPr>
              <a:t>混乱</a:t>
            </a:r>
            <a:r>
              <a:rPr lang="en-US" altLang="zh-CN" b="1"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  <a:sym typeface="+mn-ea"/>
              </a:rPr>
              <a:t>”</a:t>
            </a:r>
            <a:r>
              <a:rPr lang="zh-CN" altLang="en-US" b="1"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  <a:sym typeface="+mn-ea"/>
              </a:rPr>
              <a:t>，整体熵增反而更大。</a:t>
            </a:r>
            <a:endParaRPr lang="zh-CN" altLang="en-US" b="1">
              <a:latin typeface="黑体" panose="02010609060101010101" charset="-122"/>
              <a:ea typeface="黑体" panose="02010609060101010101" charset="-122"/>
              <a:cs typeface="黑体" panose="02010609060101010101" charset="-122"/>
            </a:endParaRPr>
          </a:p>
          <a:p>
            <a:endParaRPr lang="zh-CN" altLang="en-US" b="1">
              <a:latin typeface="黑体" panose="02010609060101010101" charset="-122"/>
              <a:ea typeface="黑体" panose="02010609060101010101" charset="-122"/>
              <a:cs typeface="黑体" panose="02010609060101010101" charset="-122"/>
            </a:endParaRPr>
          </a:p>
        </p:txBody>
      </p:sp>
      <p:sp>
        <p:nvSpPr>
          <p:cNvPr id="8" name="文本框 7"/>
          <p:cNvSpPr txBox="1"/>
          <p:nvPr/>
        </p:nvSpPr>
        <p:spPr>
          <a:xfrm>
            <a:off x="624840" y="4004310"/>
            <a:ext cx="4841240" cy="175323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pPr marL="285750" indent="-285750">
              <a:buFont typeface="Arial" panose="020B0604020202020204" pitchFamily="34" charset="0"/>
              <a:buChar char="•"/>
            </a:pPr>
            <a:r>
              <a:rPr lang="zh-CN" altLang="en-US" b="1"/>
              <a:t>表面上：工具</a:t>
            </a:r>
            <a:r>
              <a:rPr lang="en-US" altLang="en-US" b="1"/>
              <a:t>→</a:t>
            </a:r>
            <a:r>
              <a:rPr lang="zh-CN" altLang="en-US" b="1"/>
              <a:t>效率</a:t>
            </a:r>
            <a:r>
              <a:rPr lang="en-US" altLang="en-US" b="1"/>
              <a:t>↑→</a:t>
            </a:r>
            <a:r>
              <a:rPr lang="zh-CN" altLang="en-US" b="1"/>
              <a:t>更有序</a:t>
            </a:r>
            <a:endParaRPr lang="zh-CN" altLang="en-US" b="1"/>
          </a:p>
          <a:p>
            <a:pPr indent="0">
              <a:buFont typeface="Arial" panose="020B0604020202020204" pitchFamily="34" charset="0"/>
              <a:buNone/>
            </a:pPr>
            <a:endParaRPr lang="zh-CN" altLang="en-US" b="1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zh-CN" altLang="en-US" b="1"/>
              <a:t>实际上：为了撑住这个高效率，维护成本、复杂度、脆弱性、冗余消耗</a:t>
            </a:r>
            <a:r>
              <a:rPr lang="en-US" altLang="zh-CN" b="1"/>
              <a:t> </a:t>
            </a:r>
            <a:r>
              <a:rPr lang="en-US" altLang="en-US" b="1"/>
              <a:t>↑↑↑</a:t>
            </a:r>
            <a:endParaRPr lang="en-US" altLang="en-US" b="1"/>
          </a:p>
          <a:p>
            <a:pPr indent="0">
              <a:buFont typeface="Arial" panose="020B0604020202020204" pitchFamily="34" charset="0"/>
              <a:buNone/>
            </a:pPr>
            <a:endParaRPr lang="en-US" altLang="en-US" b="1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zh-CN" altLang="en-US" b="1"/>
              <a:t>整体来看，混乱程度</a:t>
            </a:r>
            <a:r>
              <a:rPr lang="en-US" altLang="zh-CN" b="1"/>
              <a:t> &gt; </a:t>
            </a:r>
            <a:r>
              <a:rPr lang="zh-CN" altLang="en-US" b="1"/>
              <a:t>低效率时代</a:t>
            </a:r>
            <a:endParaRPr lang="zh-CN" altLang="en-US" b="1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0"/>
    </mc:Choice>
    <mc:Fallback>
      <p:transition/>
    </mc:Fallback>
  </mc:AlternateContent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grpSp>
        <p:nvGrpSpPr>
          <p:cNvPr id="2" name="组合 1"/>
          <p:cNvGrpSpPr/>
          <p:nvPr/>
        </p:nvGrpSpPr>
        <p:grpSpPr>
          <a:xfrm>
            <a:off x="-1386840" y="62865"/>
            <a:ext cx="8120380" cy="1521460"/>
            <a:chOff x="-2184" y="-721"/>
            <a:chExt cx="12788" cy="2396"/>
          </a:xfrm>
        </p:grpSpPr>
        <p:sp>
          <p:nvSpPr>
            <p:cNvPr id="3" name="TextBox 8"/>
            <p:cNvSpPr txBox="1"/>
            <p:nvPr/>
          </p:nvSpPr>
          <p:spPr>
            <a:xfrm>
              <a:off x="-2184" y="-721"/>
              <a:ext cx="12788" cy="1598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p>
              <a:pPr algn="ctr"/>
              <a:r>
                <a:rPr lang="en-US" sz="6000" b="1" spc="600" dirty="0" smtClean="0">
                  <a:solidFill>
                    <a:schemeClr val="bg1">
                      <a:lumMod val="95000"/>
                    </a:schemeClr>
                  </a:solidFill>
                  <a:latin typeface="庞门正道标题体" panose="02010600030101010101" charset="-122"/>
                  <a:ea typeface="庞门正道标题体" panose="02010600030101010101" charset="-122"/>
                  <a:cs typeface="Montserrat" panose="00000500000000000000" pitchFamily="50" charset="0"/>
                </a:rPr>
                <a:t>MINIMALIST</a:t>
              </a:r>
              <a:endParaRPr lang="en-US" sz="6000" b="1" spc="600" dirty="0" smtClean="0">
                <a:solidFill>
                  <a:schemeClr val="bg1">
                    <a:lumMod val="95000"/>
                  </a:schemeClr>
                </a:solidFill>
                <a:latin typeface="庞门正道标题体" panose="02010600030101010101" charset="-122"/>
                <a:ea typeface="庞门正道标题体" panose="02010600030101010101" charset="-122"/>
                <a:cs typeface="Montserrat" panose="00000500000000000000" pitchFamily="50" charset="0"/>
              </a:endParaRPr>
            </a:p>
          </p:txBody>
        </p:sp>
        <p:sp>
          <p:nvSpPr>
            <p:cNvPr id="24" name="TextBox 9"/>
            <p:cNvSpPr txBox="1"/>
            <p:nvPr/>
          </p:nvSpPr>
          <p:spPr>
            <a:xfrm>
              <a:off x="-1247" y="-166"/>
              <a:ext cx="10932" cy="130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p>
              <a:pPr algn="ctr"/>
              <a:r>
                <a:rPr lang="zh-CN" altLang="en-US" sz="4800" b="1" spc="600" dirty="0" smtClean="0">
                  <a:latin typeface="方正明尚简体" panose="02000000000000000000" charset="-122"/>
                  <a:ea typeface="方正明尚简体" panose="02000000000000000000" charset="-122"/>
                  <a:cs typeface="Montserrat" panose="00000500000000000000" pitchFamily="50" charset="0"/>
                  <a:sym typeface="+mn-ea"/>
                </a:rPr>
                <a:t>三大设计原则</a:t>
              </a:r>
              <a:endParaRPr lang="zh-CN" altLang="en-US" sz="4800" b="1" spc="600" dirty="0" smtClean="0">
                <a:solidFill>
                  <a:schemeClr val="tx1"/>
                </a:solidFill>
                <a:latin typeface="方正明尚简体" panose="02000000000000000000" charset="-122"/>
                <a:ea typeface="方正明尚简体" panose="02000000000000000000" charset="-122"/>
                <a:cs typeface="Montserrat" panose="00000500000000000000" pitchFamily="50" charset="0"/>
                <a:sym typeface="+mn-ea"/>
              </a:endParaRPr>
            </a:p>
          </p:txBody>
        </p:sp>
        <p:sp>
          <p:nvSpPr>
            <p:cNvPr id="25" name="TextBox 12"/>
            <p:cNvSpPr txBox="1"/>
            <p:nvPr/>
          </p:nvSpPr>
          <p:spPr>
            <a:xfrm>
              <a:off x="-1864" y="877"/>
              <a:ext cx="7856" cy="798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p>
              <a:pPr algn="ctr">
                <a:lnSpc>
                  <a:spcPct val="150000"/>
                </a:lnSpc>
              </a:pPr>
              <a:r>
                <a:rPr lang="zh-CN" altLang="en-US" b="1">
                  <a:latin typeface="黑体" panose="02010609060101010101" charset="-122"/>
                  <a:ea typeface="黑体" panose="02010609060101010101" charset="-122"/>
                  <a:sym typeface="+mn-ea"/>
                </a:rPr>
                <a:t>保持简单案例</a:t>
              </a:r>
              <a:r>
                <a:rPr lang="en-US" altLang="zh-CN" b="1">
                  <a:latin typeface="黑体" panose="02010609060101010101" charset="-122"/>
                  <a:ea typeface="黑体" panose="02010609060101010101" charset="-122"/>
                  <a:sym typeface="+mn-ea"/>
                </a:rPr>
                <a:t>2</a:t>
              </a:r>
              <a:endParaRPr lang="en-US" altLang="zh-CN" b="1">
                <a:latin typeface="黑体" panose="02010609060101010101" charset="-122"/>
                <a:ea typeface="黑体" panose="02010609060101010101" charset="-122"/>
                <a:sym typeface="+mn-ea"/>
              </a:endParaRPr>
            </a:p>
          </p:txBody>
        </p:sp>
      </p:grpSp>
      <p:sp>
        <p:nvSpPr>
          <p:cNvPr id="7" name="文本框 6"/>
          <p:cNvSpPr txBox="1"/>
          <p:nvPr/>
        </p:nvSpPr>
        <p:spPr>
          <a:xfrm>
            <a:off x="2131060" y="1245235"/>
            <a:ext cx="7045325" cy="52197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zh-CN" altLang="en-US" sz="1400">
                <a:sym typeface="+mn-ea"/>
              </a:rPr>
              <a:t>论文：</a:t>
            </a:r>
            <a:r>
              <a:rPr lang="en-US" altLang="zh-CN" sz="1400">
                <a:sym typeface="+mn-ea"/>
              </a:rPr>
              <a:t>"Executable Code Actions Elicit Better LLM Agents" (CodeAct, Wang et al., 2024)</a:t>
            </a:r>
            <a:endParaRPr lang="en-US" altLang="zh-CN" sz="1400"/>
          </a:p>
          <a:p>
            <a:endParaRPr lang="zh-CN" altLang="en-US" sz="1400"/>
          </a:p>
        </p:txBody>
      </p:sp>
      <p:sp>
        <p:nvSpPr>
          <p:cNvPr id="5" name="文本框 4"/>
          <p:cNvSpPr txBox="1"/>
          <p:nvPr/>
        </p:nvSpPr>
        <p:spPr>
          <a:xfrm>
            <a:off x="624840" y="1767205"/>
            <a:ext cx="7827645" cy="230695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zh-CN" altLang="en-US">
                <a:solidFill>
                  <a:schemeClr val="bg1">
                    <a:lumMod val="50000"/>
                  </a:schemeClr>
                </a:solidFill>
              </a:rPr>
              <a:t>番外：</a:t>
            </a:r>
            <a:endParaRPr lang="zh-CN" altLang="en-US">
              <a:solidFill>
                <a:schemeClr val="bg1">
                  <a:lumMod val="50000"/>
                </a:schemeClr>
              </a:solidFill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zh-CN" altLang="en-US">
                <a:solidFill>
                  <a:schemeClr val="bg1">
                    <a:lumMod val="50000"/>
                  </a:schemeClr>
                </a:solidFill>
              </a:rPr>
              <a:t>生态经济学熵理论</a:t>
            </a:r>
            <a:endParaRPr lang="zh-CN" altLang="en-US">
              <a:solidFill>
                <a:schemeClr val="bg1">
                  <a:lumMod val="50000"/>
                </a:schemeClr>
              </a:solidFill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zh-CN" altLang="en-US">
                <a:solidFill>
                  <a:schemeClr val="bg1">
                    <a:lumMod val="50000"/>
                  </a:schemeClr>
                </a:solidFill>
              </a:rPr>
              <a:t>核心观点：</a:t>
            </a:r>
            <a:endParaRPr lang="zh-CN" altLang="en-US">
              <a:solidFill>
                <a:schemeClr val="bg1">
                  <a:lumMod val="50000"/>
                </a:schemeClr>
              </a:solidFill>
            </a:endParaRP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zh-CN" altLang="en-US">
                <a:solidFill>
                  <a:schemeClr val="bg1">
                    <a:lumMod val="50000"/>
                  </a:schemeClr>
                </a:solidFill>
              </a:rPr>
              <a:t>人类经济活动（生产、消费）不是循环，而是</a:t>
            </a:r>
            <a:r>
              <a:rPr lang="en-US" altLang="zh-CN">
                <a:solidFill>
                  <a:schemeClr val="bg1">
                    <a:lumMod val="50000"/>
                  </a:schemeClr>
                </a:solidFill>
              </a:rPr>
              <a:t> </a:t>
            </a:r>
            <a:r>
              <a:rPr lang="zh-CN" altLang="en-US">
                <a:solidFill>
                  <a:schemeClr val="bg1">
                    <a:lumMod val="50000"/>
                  </a:schemeClr>
                </a:solidFill>
              </a:rPr>
              <a:t>将低熵资源转化为高熵废物</a:t>
            </a:r>
            <a:r>
              <a:rPr lang="en-US" altLang="zh-CN">
                <a:solidFill>
                  <a:schemeClr val="bg1">
                    <a:lumMod val="50000"/>
                  </a:schemeClr>
                </a:solidFill>
              </a:rPr>
              <a:t> </a:t>
            </a:r>
            <a:r>
              <a:rPr lang="zh-CN" altLang="en-US">
                <a:solidFill>
                  <a:schemeClr val="bg1">
                    <a:lumMod val="50000"/>
                  </a:schemeClr>
                </a:solidFill>
              </a:rPr>
              <a:t>的单向过程。</a:t>
            </a:r>
            <a:endParaRPr lang="zh-CN" altLang="en-US">
              <a:solidFill>
                <a:schemeClr val="bg1">
                  <a:lumMod val="50000"/>
                </a:schemeClr>
              </a:solidFill>
            </a:endParaRP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zh-CN" altLang="en-US">
                <a:solidFill>
                  <a:schemeClr val="bg1">
                    <a:lumMod val="50000"/>
                  </a:schemeClr>
                </a:solidFill>
              </a:rPr>
              <a:t>生产效率提高</a:t>
            </a:r>
            <a:r>
              <a:rPr lang="en-US" altLang="zh-CN">
                <a:solidFill>
                  <a:schemeClr val="bg1">
                    <a:lumMod val="50000"/>
                  </a:schemeClr>
                </a:solidFill>
              </a:rPr>
              <a:t> </a:t>
            </a:r>
            <a:r>
              <a:rPr lang="en-US" altLang="en-US">
                <a:solidFill>
                  <a:schemeClr val="bg1">
                    <a:lumMod val="50000"/>
                  </a:schemeClr>
                </a:solidFill>
              </a:rPr>
              <a:t>→</a:t>
            </a:r>
            <a:r>
              <a:rPr lang="en-US" altLang="zh-CN">
                <a:solidFill>
                  <a:schemeClr val="bg1">
                    <a:lumMod val="50000"/>
                  </a:schemeClr>
                </a:solidFill>
              </a:rPr>
              <a:t> </a:t>
            </a:r>
            <a:r>
              <a:rPr lang="zh-CN" altLang="en-US">
                <a:solidFill>
                  <a:schemeClr val="bg1">
                    <a:lumMod val="50000"/>
                  </a:schemeClr>
                </a:solidFill>
              </a:rPr>
              <a:t>资源</a:t>
            </a:r>
            <a:r>
              <a:rPr lang="en-US" altLang="zh-CN">
                <a:solidFill>
                  <a:schemeClr val="bg1">
                    <a:lumMod val="50000"/>
                  </a:schemeClr>
                </a:solidFill>
              </a:rPr>
              <a:t> / </a:t>
            </a:r>
            <a:r>
              <a:rPr lang="zh-CN" altLang="en-US">
                <a:solidFill>
                  <a:schemeClr val="bg1">
                    <a:lumMod val="50000"/>
                  </a:schemeClr>
                </a:solidFill>
              </a:rPr>
              <a:t>能量转化加速</a:t>
            </a:r>
            <a:r>
              <a:rPr lang="en-US" altLang="zh-CN">
                <a:solidFill>
                  <a:schemeClr val="bg1">
                    <a:lumMod val="50000"/>
                  </a:schemeClr>
                </a:solidFill>
              </a:rPr>
              <a:t> </a:t>
            </a:r>
            <a:r>
              <a:rPr lang="en-US" altLang="en-US">
                <a:solidFill>
                  <a:schemeClr val="bg1">
                    <a:lumMod val="50000"/>
                  </a:schemeClr>
                </a:solidFill>
              </a:rPr>
              <a:t>→</a:t>
            </a:r>
            <a:r>
              <a:rPr lang="en-US" altLang="zh-CN">
                <a:solidFill>
                  <a:schemeClr val="bg1">
                    <a:lumMod val="50000"/>
                  </a:schemeClr>
                </a:solidFill>
              </a:rPr>
              <a:t> </a:t>
            </a:r>
            <a:r>
              <a:rPr lang="zh-CN" altLang="en-US">
                <a:solidFill>
                  <a:schemeClr val="bg1">
                    <a:lumMod val="50000"/>
                  </a:schemeClr>
                </a:solidFill>
              </a:rPr>
              <a:t>整体熵增更快。</a:t>
            </a:r>
            <a:endParaRPr lang="zh-CN" altLang="en-US">
              <a:solidFill>
                <a:schemeClr val="bg1">
                  <a:lumMod val="50000"/>
                </a:schemeClr>
              </a:solidFill>
            </a:endParaRPr>
          </a:p>
          <a:p>
            <a:pPr marL="742950" lvl="1" indent="-285750">
              <a:buFont typeface="Arial" panose="020B0604020202020204" pitchFamily="34" charset="0"/>
              <a:buChar char="•"/>
            </a:pPr>
            <a:endParaRPr lang="zh-CN" altLang="en-US"/>
          </a:p>
          <a:p>
            <a:endParaRPr lang="zh-CN" altLang="en-US"/>
          </a:p>
        </p:txBody>
      </p:sp>
      <p:sp>
        <p:nvSpPr>
          <p:cNvPr id="6" name="文本框 5"/>
          <p:cNvSpPr txBox="1"/>
          <p:nvPr/>
        </p:nvSpPr>
        <p:spPr>
          <a:xfrm>
            <a:off x="8452485" y="4418330"/>
            <a:ext cx="3152140" cy="147637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pPr marL="0" lvl="1"/>
            <a:r>
              <a:rPr lang="zh-CN" altLang="en-US" b="1"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  <a:sym typeface="+mn-ea"/>
              </a:rPr>
              <a:t>效率越高，为了维持这个效率，系统必须变得更复杂、更脆弱、更</a:t>
            </a:r>
            <a:r>
              <a:rPr lang="en-US" altLang="zh-CN" b="1"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  <a:sym typeface="+mn-ea"/>
              </a:rPr>
              <a:t> “</a:t>
            </a:r>
            <a:r>
              <a:rPr lang="zh-CN" altLang="en-US" b="1"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  <a:sym typeface="+mn-ea"/>
              </a:rPr>
              <a:t>混乱</a:t>
            </a:r>
            <a:r>
              <a:rPr lang="en-US" altLang="zh-CN" b="1"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  <a:sym typeface="+mn-ea"/>
              </a:rPr>
              <a:t>”</a:t>
            </a:r>
            <a:r>
              <a:rPr lang="zh-CN" altLang="en-US" b="1"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  <a:sym typeface="+mn-ea"/>
              </a:rPr>
              <a:t>，整体熵增反而更大。</a:t>
            </a:r>
            <a:endParaRPr lang="zh-CN" altLang="en-US" b="1">
              <a:latin typeface="黑体" panose="02010609060101010101" charset="-122"/>
              <a:ea typeface="黑体" panose="02010609060101010101" charset="-122"/>
              <a:cs typeface="黑体" panose="02010609060101010101" charset="-122"/>
            </a:endParaRPr>
          </a:p>
          <a:p>
            <a:endParaRPr lang="zh-CN" altLang="en-US" b="1">
              <a:latin typeface="黑体" panose="02010609060101010101" charset="-122"/>
              <a:ea typeface="黑体" panose="02010609060101010101" charset="-122"/>
              <a:cs typeface="黑体" panose="02010609060101010101" charset="-122"/>
            </a:endParaRPr>
          </a:p>
        </p:txBody>
      </p:sp>
      <p:sp>
        <p:nvSpPr>
          <p:cNvPr id="9" name="文本框 8"/>
          <p:cNvSpPr txBox="1"/>
          <p:nvPr/>
        </p:nvSpPr>
        <p:spPr>
          <a:xfrm>
            <a:off x="569595" y="3669030"/>
            <a:ext cx="7827010" cy="3072130"/>
          </a:xfrm>
          <a:prstGeom prst="rect">
            <a:avLst/>
          </a:prstGeom>
          <a:noFill/>
        </p:spPr>
        <p:txBody>
          <a:bodyPr wrap="square" rtlCol="0">
            <a:noAutofit/>
          </a:bodyPr>
          <a:p>
            <a:pPr marL="285750" indent="-285750">
              <a:buFont typeface="Arial" panose="020B0604020202020204" pitchFamily="34" charset="0"/>
              <a:buChar char="•"/>
            </a:pPr>
            <a:r>
              <a:rPr lang="zh-CN" altLang="en-US" sz="1600" b="1"/>
              <a:t>低效率时代：手写记账、人工生产，流程简单，坏了就修，人少事少，系统简单、稳定、低熵。</a:t>
            </a:r>
            <a:endParaRPr lang="zh-CN" altLang="en-US" sz="1600" b="1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zh-CN" altLang="en-US" sz="1600" b="1"/>
              <a:t>高效率时代：上系统、上软件、上自动化、上云、上分布式架构</a:t>
            </a:r>
            <a:r>
              <a:rPr lang="en-US" altLang="zh-CN" sz="1600" b="1"/>
              <a:t>……</a:t>
            </a:r>
            <a:r>
              <a:rPr lang="zh-CN" altLang="en-US" sz="1600" b="1"/>
              <a:t>效率确实飞起来了。但为了维持它：</a:t>
            </a:r>
            <a:endParaRPr lang="zh-CN" altLang="en-US" sz="1600" b="1"/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zh-CN" altLang="en-US" sz="1600" b="1"/>
              <a:t>要运维</a:t>
            </a:r>
            <a:endParaRPr lang="zh-CN" altLang="en-US" sz="1600" b="1"/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zh-CN" altLang="en-US" sz="1600" b="1"/>
              <a:t>要更新</a:t>
            </a:r>
            <a:endParaRPr lang="zh-CN" altLang="en-US" sz="1600" b="1"/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zh-CN" altLang="en-US" sz="1600" b="1"/>
              <a:t>要处理</a:t>
            </a:r>
            <a:r>
              <a:rPr lang="en-US" altLang="zh-CN" sz="1600" b="1"/>
              <a:t> bug</a:t>
            </a:r>
            <a:endParaRPr lang="en-US" altLang="zh-CN" sz="1600" b="1"/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zh-CN" altLang="en-US" sz="1600" b="1"/>
              <a:t>要权限、安全、日志、监控</a:t>
            </a:r>
            <a:endParaRPr lang="zh-CN" altLang="en-US" sz="1600" b="1"/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zh-CN" altLang="en-US" sz="1600" b="1"/>
              <a:t>一个环节炸掉，全线停摆</a:t>
            </a:r>
            <a:endParaRPr lang="zh-CN" altLang="en-US" sz="1600" b="1"/>
          </a:p>
          <a:p>
            <a:r>
              <a:rPr lang="zh-CN" altLang="en-US" sz="1600" b="1"/>
              <a:t>为了维持</a:t>
            </a:r>
            <a:r>
              <a:rPr lang="en-US" altLang="zh-CN" sz="1600" b="1"/>
              <a:t> “</a:t>
            </a:r>
            <a:r>
              <a:rPr lang="zh-CN" altLang="en-US" sz="1600" b="1"/>
              <a:t>高效率</a:t>
            </a:r>
            <a:r>
              <a:rPr lang="en-US" altLang="zh-CN" sz="1600" b="1"/>
              <a:t>”</a:t>
            </a:r>
            <a:r>
              <a:rPr lang="zh-CN" altLang="en-US" sz="1600" b="1"/>
              <a:t>，整个系统变得极度复杂、脆弱、依赖大量外部条件。</a:t>
            </a:r>
            <a:endParaRPr lang="zh-CN" altLang="en-US" sz="1600" b="1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0"/>
    </mc:Choice>
    <mc:Fallback>
      <p:transition/>
    </mc:Fallback>
  </mc:AlternateContent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grpSp>
        <p:nvGrpSpPr>
          <p:cNvPr id="2" name="组合 1"/>
          <p:cNvGrpSpPr/>
          <p:nvPr/>
        </p:nvGrpSpPr>
        <p:grpSpPr>
          <a:xfrm>
            <a:off x="-1386840" y="62865"/>
            <a:ext cx="8120380" cy="1521460"/>
            <a:chOff x="-2184" y="-721"/>
            <a:chExt cx="12788" cy="2396"/>
          </a:xfrm>
        </p:grpSpPr>
        <p:sp>
          <p:nvSpPr>
            <p:cNvPr id="3" name="TextBox 8"/>
            <p:cNvSpPr txBox="1"/>
            <p:nvPr/>
          </p:nvSpPr>
          <p:spPr>
            <a:xfrm>
              <a:off x="-2184" y="-721"/>
              <a:ext cx="12788" cy="1598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p>
              <a:pPr algn="ctr"/>
              <a:r>
                <a:rPr lang="en-US" sz="6000" b="1" spc="600" dirty="0" smtClean="0">
                  <a:solidFill>
                    <a:schemeClr val="bg1">
                      <a:lumMod val="95000"/>
                    </a:schemeClr>
                  </a:solidFill>
                  <a:latin typeface="庞门正道标题体" panose="02010600030101010101" charset="-122"/>
                  <a:ea typeface="庞门正道标题体" panose="02010600030101010101" charset="-122"/>
                  <a:cs typeface="Montserrat" panose="00000500000000000000" pitchFamily="50" charset="0"/>
                </a:rPr>
                <a:t>MINIMALIST</a:t>
              </a:r>
              <a:endParaRPr lang="en-US" sz="6000" b="1" spc="600" dirty="0" smtClean="0">
                <a:solidFill>
                  <a:schemeClr val="bg1">
                    <a:lumMod val="95000"/>
                  </a:schemeClr>
                </a:solidFill>
                <a:latin typeface="庞门正道标题体" panose="02010600030101010101" charset="-122"/>
                <a:ea typeface="庞门正道标题体" panose="02010600030101010101" charset="-122"/>
                <a:cs typeface="Montserrat" panose="00000500000000000000" pitchFamily="50" charset="0"/>
              </a:endParaRPr>
            </a:p>
          </p:txBody>
        </p:sp>
        <p:sp>
          <p:nvSpPr>
            <p:cNvPr id="24" name="TextBox 9"/>
            <p:cNvSpPr txBox="1"/>
            <p:nvPr/>
          </p:nvSpPr>
          <p:spPr>
            <a:xfrm>
              <a:off x="-1247" y="-166"/>
              <a:ext cx="10932" cy="130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p>
              <a:pPr algn="ctr"/>
              <a:r>
                <a:rPr lang="zh-CN" altLang="en-US" sz="4800" b="1" spc="600" dirty="0" smtClean="0">
                  <a:latin typeface="方正明尚简体" panose="02000000000000000000" charset="-122"/>
                  <a:ea typeface="方正明尚简体" panose="02000000000000000000" charset="-122"/>
                  <a:cs typeface="Montserrat" panose="00000500000000000000" pitchFamily="50" charset="0"/>
                  <a:sym typeface="+mn-ea"/>
                </a:rPr>
                <a:t>三大设计原则</a:t>
              </a:r>
              <a:endParaRPr lang="zh-CN" altLang="en-US" sz="4800" b="1" spc="600" dirty="0" smtClean="0">
                <a:solidFill>
                  <a:schemeClr val="tx1"/>
                </a:solidFill>
                <a:latin typeface="方正明尚简体" panose="02000000000000000000" charset="-122"/>
                <a:ea typeface="方正明尚简体" panose="02000000000000000000" charset="-122"/>
                <a:cs typeface="Montserrat" panose="00000500000000000000" pitchFamily="50" charset="0"/>
                <a:sym typeface="+mn-ea"/>
              </a:endParaRPr>
            </a:p>
          </p:txBody>
        </p:sp>
        <p:sp>
          <p:nvSpPr>
            <p:cNvPr id="25" name="TextBox 12"/>
            <p:cNvSpPr txBox="1"/>
            <p:nvPr/>
          </p:nvSpPr>
          <p:spPr>
            <a:xfrm>
              <a:off x="-1792" y="877"/>
              <a:ext cx="7856" cy="798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p>
              <a:pPr algn="ctr">
                <a:lnSpc>
                  <a:spcPct val="150000"/>
                </a:lnSpc>
              </a:pPr>
              <a:r>
                <a:rPr lang="zh-CN" altLang="en-US" b="1">
                  <a:latin typeface="黑体" panose="02010609060101010101" charset="-122"/>
                  <a:ea typeface="黑体" panose="02010609060101010101" charset="-122"/>
                  <a:sym typeface="+mn-ea"/>
                </a:rPr>
                <a:t>保持简单案例</a:t>
              </a:r>
              <a:r>
                <a:rPr lang="en-US" altLang="zh-CN" b="1">
                  <a:latin typeface="黑体" panose="02010609060101010101" charset="-122"/>
                  <a:ea typeface="黑体" panose="02010609060101010101" charset="-122"/>
                  <a:sym typeface="+mn-ea"/>
                </a:rPr>
                <a:t>2</a:t>
              </a:r>
              <a:endParaRPr lang="en-US" altLang="zh-CN" b="1">
                <a:latin typeface="黑体" panose="02010609060101010101" charset="-122"/>
                <a:ea typeface="黑体" panose="02010609060101010101" charset="-122"/>
                <a:sym typeface="+mn-ea"/>
              </a:endParaRPr>
            </a:p>
          </p:txBody>
        </p:sp>
      </p:grpSp>
      <p:sp>
        <p:nvSpPr>
          <p:cNvPr id="7" name="文本框 6"/>
          <p:cNvSpPr txBox="1"/>
          <p:nvPr/>
        </p:nvSpPr>
        <p:spPr>
          <a:xfrm>
            <a:off x="2306320" y="1245235"/>
            <a:ext cx="7045325" cy="52197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zh-CN" altLang="en-US" sz="1400">
                <a:sym typeface="+mn-ea"/>
              </a:rPr>
              <a:t>论文：</a:t>
            </a:r>
            <a:r>
              <a:rPr lang="en-US" altLang="zh-CN" sz="1400">
                <a:sym typeface="+mn-ea"/>
              </a:rPr>
              <a:t>"Executable Code Actions Elicit Better LLM Agents" (CodeAct, Wang et al., 2024)</a:t>
            </a:r>
            <a:endParaRPr lang="en-US" altLang="zh-CN" sz="1400"/>
          </a:p>
          <a:p>
            <a:endParaRPr lang="zh-CN" altLang="en-US" sz="1400"/>
          </a:p>
        </p:txBody>
      </p:sp>
      <p:sp>
        <p:nvSpPr>
          <p:cNvPr id="5" name="文本框 4"/>
          <p:cNvSpPr txBox="1"/>
          <p:nvPr/>
        </p:nvSpPr>
        <p:spPr>
          <a:xfrm>
            <a:off x="624840" y="1767205"/>
            <a:ext cx="7827645" cy="230695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zh-CN" altLang="en-US">
                <a:solidFill>
                  <a:schemeClr val="bg1">
                    <a:lumMod val="50000"/>
                  </a:schemeClr>
                </a:solidFill>
              </a:rPr>
              <a:t>番外：</a:t>
            </a:r>
            <a:endParaRPr lang="zh-CN" altLang="en-US">
              <a:solidFill>
                <a:schemeClr val="bg1">
                  <a:lumMod val="50000"/>
                </a:schemeClr>
              </a:solidFill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zh-CN" altLang="en-US">
                <a:solidFill>
                  <a:schemeClr val="bg1">
                    <a:lumMod val="50000"/>
                  </a:schemeClr>
                </a:solidFill>
              </a:rPr>
              <a:t>生态经济学熵理论</a:t>
            </a:r>
            <a:endParaRPr lang="zh-CN" altLang="en-US">
              <a:solidFill>
                <a:schemeClr val="bg1">
                  <a:lumMod val="50000"/>
                </a:schemeClr>
              </a:solidFill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zh-CN" altLang="en-US">
                <a:solidFill>
                  <a:schemeClr val="bg1">
                    <a:lumMod val="50000"/>
                  </a:schemeClr>
                </a:solidFill>
              </a:rPr>
              <a:t>核心观点：</a:t>
            </a:r>
            <a:endParaRPr lang="zh-CN" altLang="en-US">
              <a:solidFill>
                <a:schemeClr val="bg1">
                  <a:lumMod val="50000"/>
                </a:schemeClr>
              </a:solidFill>
            </a:endParaRP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zh-CN" altLang="en-US">
                <a:solidFill>
                  <a:schemeClr val="bg1">
                    <a:lumMod val="50000"/>
                  </a:schemeClr>
                </a:solidFill>
              </a:rPr>
              <a:t>人类经济活动（生产、消费）不是循环，而是</a:t>
            </a:r>
            <a:r>
              <a:rPr lang="en-US" altLang="zh-CN">
                <a:solidFill>
                  <a:schemeClr val="bg1">
                    <a:lumMod val="50000"/>
                  </a:schemeClr>
                </a:solidFill>
              </a:rPr>
              <a:t> </a:t>
            </a:r>
            <a:r>
              <a:rPr lang="zh-CN" altLang="en-US">
                <a:solidFill>
                  <a:schemeClr val="bg1">
                    <a:lumMod val="50000"/>
                  </a:schemeClr>
                </a:solidFill>
              </a:rPr>
              <a:t>将低熵资源转化为高熵废物</a:t>
            </a:r>
            <a:r>
              <a:rPr lang="en-US" altLang="zh-CN">
                <a:solidFill>
                  <a:schemeClr val="bg1">
                    <a:lumMod val="50000"/>
                  </a:schemeClr>
                </a:solidFill>
              </a:rPr>
              <a:t> </a:t>
            </a:r>
            <a:r>
              <a:rPr lang="zh-CN" altLang="en-US">
                <a:solidFill>
                  <a:schemeClr val="bg1">
                    <a:lumMod val="50000"/>
                  </a:schemeClr>
                </a:solidFill>
              </a:rPr>
              <a:t>的单向过程。</a:t>
            </a:r>
            <a:endParaRPr lang="zh-CN" altLang="en-US">
              <a:solidFill>
                <a:schemeClr val="bg1">
                  <a:lumMod val="50000"/>
                </a:schemeClr>
              </a:solidFill>
            </a:endParaRP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zh-CN" altLang="en-US">
                <a:solidFill>
                  <a:schemeClr val="bg1">
                    <a:lumMod val="50000"/>
                  </a:schemeClr>
                </a:solidFill>
              </a:rPr>
              <a:t>生产效率提高</a:t>
            </a:r>
            <a:r>
              <a:rPr lang="en-US" altLang="zh-CN">
                <a:solidFill>
                  <a:schemeClr val="bg1">
                    <a:lumMod val="50000"/>
                  </a:schemeClr>
                </a:solidFill>
              </a:rPr>
              <a:t> </a:t>
            </a:r>
            <a:r>
              <a:rPr lang="en-US" altLang="en-US">
                <a:solidFill>
                  <a:schemeClr val="bg1">
                    <a:lumMod val="50000"/>
                  </a:schemeClr>
                </a:solidFill>
              </a:rPr>
              <a:t>→</a:t>
            </a:r>
            <a:r>
              <a:rPr lang="en-US" altLang="zh-CN">
                <a:solidFill>
                  <a:schemeClr val="bg1">
                    <a:lumMod val="50000"/>
                  </a:schemeClr>
                </a:solidFill>
              </a:rPr>
              <a:t> </a:t>
            </a:r>
            <a:r>
              <a:rPr lang="zh-CN" altLang="en-US">
                <a:solidFill>
                  <a:schemeClr val="bg1">
                    <a:lumMod val="50000"/>
                  </a:schemeClr>
                </a:solidFill>
              </a:rPr>
              <a:t>资源</a:t>
            </a:r>
            <a:r>
              <a:rPr lang="en-US" altLang="zh-CN">
                <a:solidFill>
                  <a:schemeClr val="bg1">
                    <a:lumMod val="50000"/>
                  </a:schemeClr>
                </a:solidFill>
              </a:rPr>
              <a:t> / </a:t>
            </a:r>
            <a:r>
              <a:rPr lang="zh-CN" altLang="en-US">
                <a:solidFill>
                  <a:schemeClr val="bg1">
                    <a:lumMod val="50000"/>
                  </a:schemeClr>
                </a:solidFill>
              </a:rPr>
              <a:t>能量转化加速</a:t>
            </a:r>
            <a:r>
              <a:rPr lang="en-US" altLang="zh-CN">
                <a:solidFill>
                  <a:schemeClr val="bg1">
                    <a:lumMod val="50000"/>
                  </a:schemeClr>
                </a:solidFill>
              </a:rPr>
              <a:t> </a:t>
            </a:r>
            <a:r>
              <a:rPr lang="en-US" altLang="en-US">
                <a:solidFill>
                  <a:schemeClr val="bg1">
                    <a:lumMod val="50000"/>
                  </a:schemeClr>
                </a:solidFill>
              </a:rPr>
              <a:t>→</a:t>
            </a:r>
            <a:r>
              <a:rPr lang="en-US" altLang="zh-CN">
                <a:solidFill>
                  <a:schemeClr val="bg1">
                    <a:lumMod val="50000"/>
                  </a:schemeClr>
                </a:solidFill>
              </a:rPr>
              <a:t> </a:t>
            </a:r>
            <a:r>
              <a:rPr lang="zh-CN" altLang="en-US">
                <a:solidFill>
                  <a:schemeClr val="bg1">
                    <a:lumMod val="50000"/>
                  </a:schemeClr>
                </a:solidFill>
              </a:rPr>
              <a:t>整体熵增更快。</a:t>
            </a:r>
            <a:endParaRPr lang="zh-CN" altLang="en-US">
              <a:solidFill>
                <a:schemeClr val="bg1">
                  <a:lumMod val="50000"/>
                </a:schemeClr>
              </a:solidFill>
            </a:endParaRPr>
          </a:p>
          <a:p>
            <a:pPr marL="742950" lvl="1" indent="-285750">
              <a:buFont typeface="Arial" panose="020B0604020202020204" pitchFamily="34" charset="0"/>
              <a:buChar char="•"/>
            </a:pPr>
            <a:endParaRPr lang="zh-CN" altLang="en-US"/>
          </a:p>
          <a:p>
            <a:endParaRPr lang="zh-CN" altLang="en-US"/>
          </a:p>
        </p:txBody>
      </p:sp>
      <p:sp>
        <p:nvSpPr>
          <p:cNvPr id="6" name="文本框 5"/>
          <p:cNvSpPr txBox="1"/>
          <p:nvPr/>
        </p:nvSpPr>
        <p:spPr>
          <a:xfrm>
            <a:off x="8452485" y="4370070"/>
            <a:ext cx="3152140" cy="119888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pPr marL="0" lvl="1"/>
            <a:r>
              <a:rPr lang="zh-CN" altLang="en-US" b="1">
                <a:solidFill>
                  <a:srgbClr val="FF0000"/>
                </a:solidFill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</a:rPr>
              <a:t>提高效率的意义，从来不是</a:t>
            </a:r>
            <a:r>
              <a:rPr lang="en-US" altLang="zh-CN" b="1">
                <a:solidFill>
                  <a:srgbClr val="FF0000"/>
                </a:solidFill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</a:rPr>
              <a:t> “</a:t>
            </a:r>
            <a:r>
              <a:rPr lang="zh-CN" altLang="en-US" b="1">
                <a:solidFill>
                  <a:srgbClr val="FF0000"/>
                </a:solidFill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</a:rPr>
              <a:t>减少混乱</a:t>
            </a:r>
            <a:r>
              <a:rPr lang="en-US" altLang="zh-CN" b="1">
                <a:solidFill>
                  <a:srgbClr val="FF0000"/>
                </a:solidFill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</a:rPr>
              <a:t>”</a:t>
            </a:r>
            <a:r>
              <a:rPr lang="zh-CN" altLang="en-US" b="1">
                <a:solidFill>
                  <a:srgbClr val="FF0000"/>
                </a:solidFill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</a:rPr>
              <a:t>，而是用可控的混乱，换取时间、选择权与生存空间。</a:t>
            </a:r>
            <a:endParaRPr lang="zh-CN" altLang="en-US" b="1">
              <a:solidFill>
                <a:srgbClr val="FF0000"/>
              </a:solidFill>
              <a:latin typeface="黑体" panose="02010609060101010101" charset="-122"/>
              <a:ea typeface="黑体" panose="02010609060101010101" charset="-122"/>
              <a:cs typeface="黑体" panose="02010609060101010101" charset="-122"/>
            </a:endParaRPr>
          </a:p>
        </p:txBody>
      </p:sp>
      <p:sp>
        <p:nvSpPr>
          <p:cNvPr id="9" name="文本框 8"/>
          <p:cNvSpPr txBox="1"/>
          <p:nvPr/>
        </p:nvSpPr>
        <p:spPr>
          <a:xfrm>
            <a:off x="625475" y="3669030"/>
            <a:ext cx="7827010" cy="3072130"/>
          </a:xfrm>
          <a:prstGeom prst="rect">
            <a:avLst/>
          </a:prstGeom>
          <a:noFill/>
        </p:spPr>
        <p:txBody>
          <a:bodyPr wrap="square" rtlCol="0">
            <a:noAutofit/>
          </a:bodyPr>
          <a:p>
            <a:pPr marL="285750" indent="-285750">
              <a:buFont typeface="Arial" panose="020B0604020202020204" pitchFamily="34" charset="0"/>
              <a:buChar char="•"/>
            </a:pPr>
            <a:r>
              <a:rPr lang="zh-CN" altLang="en-US" sz="1600" b="1"/>
              <a:t>高效率系统</a:t>
            </a:r>
            <a:r>
              <a:rPr lang="en-US" altLang="zh-CN" sz="1600" b="1"/>
              <a:t> = </a:t>
            </a:r>
            <a:r>
              <a:rPr lang="zh-CN" altLang="en-US" sz="1600" b="1"/>
              <a:t>局部极度有序</a:t>
            </a:r>
            <a:r>
              <a:rPr lang="en-US" altLang="zh-CN" sz="1600" b="1"/>
              <a:t> + </a:t>
            </a:r>
            <a:r>
              <a:rPr lang="zh-CN" altLang="en-US" sz="1600" b="1"/>
              <a:t>整体更混乱。</a:t>
            </a:r>
            <a:endParaRPr lang="zh-CN" altLang="en-US" sz="1600" b="1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zh-CN" altLang="en-US" sz="1600" b="1"/>
              <a:t>但人类文明，就是建立在局部有序之上的：</a:t>
            </a:r>
            <a:endParaRPr lang="zh-CN" altLang="en-US" sz="1600" b="1"/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zh-CN" altLang="en-US" sz="1600" b="1"/>
              <a:t>医疗系统有序</a:t>
            </a:r>
            <a:r>
              <a:rPr lang="en-US" altLang="zh-CN" sz="1600" b="1"/>
              <a:t> </a:t>
            </a:r>
            <a:r>
              <a:rPr lang="en-US" altLang="en-US" sz="1600" b="1"/>
              <a:t>→</a:t>
            </a:r>
            <a:r>
              <a:rPr lang="en-US" altLang="zh-CN" sz="1600" b="1"/>
              <a:t> </a:t>
            </a:r>
            <a:r>
              <a:rPr lang="zh-CN" altLang="en-US" sz="1600" b="1"/>
              <a:t>救命</a:t>
            </a:r>
            <a:endParaRPr lang="zh-CN" altLang="en-US" sz="1600" b="1"/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zh-CN" altLang="en-US" sz="1600" b="1"/>
              <a:t>交通系统有序</a:t>
            </a:r>
            <a:r>
              <a:rPr lang="en-US" altLang="zh-CN" sz="1600" b="1"/>
              <a:t> </a:t>
            </a:r>
            <a:r>
              <a:rPr lang="en-US" altLang="en-US" sz="1600" b="1"/>
              <a:t>→</a:t>
            </a:r>
            <a:r>
              <a:rPr lang="en-US" altLang="zh-CN" sz="1600" b="1"/>
              <a:t> </a:t>
            </a:r>
            <a:r>
              <a:rPr lang="zh-CN" altLang="en-US" sz="1600" b="1"/>
              <a:t>流动</a:t>
            </a:r>
            <a:endParaRPr lang="zh-CN" altLang="en-US" sz="1600" b="1"/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zh-CN" altLang="en-US" sz="1600" b="1"/>
              <a:t>工业系统有序</a:t>
            </a:r>
            <a:r>
              <a:rPr lang="en-US" altLang="zh-CN" sz="1600" b="1"/>
              <a:t> </a:t>
            </a:r>
            <a:r>
              <a:rPr lang="en-US" altLang="en-US" sz="1600" b="1"/>
              <a:t>→</a:t>
            </a:r>
            <a:r>
              <a:rPr lang="en-US" altLang="zh-CN" sz="1600" b="1"/>
              <a:t> </a:t>
            </a:r>
            <a:r>
              <a:rPr lang="zh-CN" altLang="en-US" sz="1600" b="1"/>
              <a:t>物资</a:t>
            </a:r>
            <a:endParaRPr lang="zh-CN" altLang="en-US" sz="1600" b="1"/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zh-CN" altLang="en-US" sz="1600" b="1"/>
              <a:t>信息系统有序</a:t>
            </a:r>
            <a:r>
              <a:rPr lang="en-US" altLang="zh-CN" sz="1600" b="1"/>
              <a:t> </a:t>
            </a:r>
            <a:r>
              <a:rPr lang="en-US" altLang="en-US" sz="1600" b="1"/>
              <a:t>→</a:t>
            </a:r>
            <a:r>
              <a:rPr lang="en-US" altLang="zh-CN" sz="1600" b="1"/>
              <a:t> </a:t>
            </a:r>
            <a:r>
              <a:rPr lang="zh-CN" altLang="en-US" sz="1600" b="1"/>
              <a:t>知识传承</a:t>
            </a:r>
            <a:endParaRPr lang="zh-CN" altLang="en-US" sz="1600" b="1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zh-CN" altLang="en-US" sz="1600" b="1"/>
              <a:t>这些局部有序，代价是整体复杂度爆炸、维护成本极高、故障风险更大。但没有它们，文明就不存在。</a:t>
            </a:r>
            <a:endParaRPr lang="zh-CN" altLang="en-US" sz="1600" b="1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zh-CN" altLang="en-US" sz="1600" b="1"/>
              <a:t>意义就是：我们愿意承担系统的混乱，换取文明的存续。</a:t>
            </a:r>
            <a:endParaRPr lang="zh-CN" altLang="en-US" sz="1600" b="1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0"/>
    </mc:Choice>
    <mc:Fallback>
      <p:transition/>
    </mc:Fallback>
  </mc:AlternateContent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grpSp>
        <p:nvGrpSpPr>
          <p:cNvPr id="2" name="组合 1"/>
          <p:cNvGrpSpPr/>
          <p:nvPr/>
        </p:nvGrpSpPr>
        <p:grpSpPr>
          <a:xfrm>
            <a:off x="-1386840" y="62865"/>
            <a:ext cx="8120380" cy="1326515"/>
            <a:chOff x="-2184" y="-721"/>
            <a:chExt cx="12788" cy="2089"/>
          </a:xfrm>
        </p:grpSpPr>
        <p:sp>
          <p:nvSpPr>
            <p:cNvPr id="3" name="TextBox 8"/>
            <p:cNvSpPr txBox="1"/>
            <p:nvPr/>
          </p:nvSpPr>
          <p:spPr>
            <a:xfrm>
              <a:off x="-2184" y="-721"/>
              <a:ext cx="12788" cy="1598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p>
              <a:pPr algn="ctr"/>
              <a:r>
                <a:rPr lang="en-US" sz="6000" b="1" spc="600" dirty="0" smtClean="0">
                  <a:solidFill>
                    <a:schemeClr val="bg1">
                      <a:lumMod val="95000"/>
                    </a:schemeClr>
                  </a:solidFill>
                  <a:latin typeface="庞门正道标题体" panose="02010600030101010101" charset="-122"/>
                  <a:ea typeface="庞门正道标题体" panose="02010600030101010101" charset="-122"/>
                  <a:cs typeface="Montserrat" panose="00000500000000000000" pitchFamily="50" charset="0"/>
                </a:rPr>
                <a:t>MINIMALIST</a:t>
              </a:r>
              <a:endParaRPr lang="en-US" sz="6000" b="1" spc="600" dirty="0" smtClean="0">
                <a:solidFill>
                  <a:schemeClr val="bg1">
                    <a:lumMod val="95000"/>
                  </a:schemeClr>
                </a:solidFill>
                <a:latin typeface="庞门正道标题体" panose="02010600030101010101" charset="-122"/>
                <a:ea typeface="庞门正道标题体" panose="02010600030101010101" charset="-122"/>
                <a:cs typeface="Montserrat" panose="00000500000000000000" pitchFamily="50" charset="0"/>
              </a:endParaRPr>
            </a:p>
          </p:txBody>
        </p:sp>
        <p:sp>
          <p:nvSpPr>
            <p:cNvPr id="24" name="TextBox 9"/>
            <p:cNvSpPr txBox="1"/>
            <p:nvPr/>
          </p:nvSpPr>
          <p:spPr>
            <a:xfrm>
              <a:off x="-1247" y="-166"/>
              <a:ext cx="10932" cy="130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p>
              <a:pPr algn="ctr"/>
              <a:r>
                <a:rPr lang="zh-CN" altLang="en-US" sz="4800" b="1" spc="600" dirty="0" smtClean="0">
                  <a:solidFill>
                    <a:schemeClr val="tx1"/>
                  </a:solidFill>
                  <a:latin typeface="方正明尚简体" panose="02000000000000000000" charset="-122"/>
                  <a:ea typeface="方正明尚简体" panose="02000000000000000000" charset="-122"/>
                  <a:cs typeface="Montserrat" panose="00000500000000000000" pitchFamily="50" charset="0"/>
                </a:rPr>
                <a:t>三大设计</a:t>
              </a:r>
              <a:r>
                <a:rPr lang="zh-CN" altLang="en-US" sz="4800" b="1" spc="600" dirty="0" smtClean="0">
                  <a:solidFill>
                    <a:schemeClr val="tx1"/>
                  </a:solidFill>
                  <a:latin typeface="方正明尚简体" panose="02000000000000000000" charset="-122"/>
                  <a:ea typeface="方正明尚简体" panose="02000000000000000000" charset="-122"/>
                  <a:cs typeface="Montserrat" panose="00000500000000000000" pitchFamily="50" charset="0"/>
                </a:rPr>
                <a:t>模式</a:t>
              </a:r>
              <a:endParaRPr lang="zh-CN" altLang="en-US" sz="4800" b="1" spc="600" dirty="0" smtClean="0">
                <a:solidFill>
                  <a:schemeClr val="tx1"/>
                </a:solidFill>
                <a:latin typeface="方正明尚简体" panose="02000000000000000000" charset="-122"/>
                <a:ea typeface="方正明尚简体" panose="02000000000000000000" charset="-122"/>
                <a:cs typeface="Montserrat" panose="00000500000000000000" pitchFamily="50" charset="0"/>
              </a:endParaRPr>
            </a:p>
          </p:txBody>
        </p:sp>
        <p:sp>
          <p:nvSpPr>
            <p:cNvPr id="25" name="TextBox 12"/>
            <p:cNvSpPr txBox="1"/>
            <p:nvPr/>
          </p:nvSpPr>
          <p:spPr>
            <a:xfrm>
              <a:off x="291" y="799"/>
              <a:ext cx="7856" cy="56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p>
              <a:pPr algn="ctr">
                <a:lnSpc>
                  <a:spcPct val="150000"/>
                </a:lnSpc>
              </a:pPr>
              <a:r>
                <a:rPr lang="en-US" baseline="-25000" dirty="0" smtClean="0">
                  <a:latin typeface="Dotum" panose="020B0600000101010101" charset="-127"/>
                  <a:ea typeface="Dotum" panose="020B0600000101010101" charset="-127"/>
                  <a:cs typeface="+mj-lt"/>
                </a:rPr>
                <a:t>minimal presentation template</a:t>
              </a:r>
              <a:endParaRPr lang="en-US" baseline="-25000" dirty="0" smtClean="0">
                <a:latin typeface="Dotum" panose="020B0600000101010101" charset="-127"/>
                <a:ea typeface="Dotum" panose="020B0600000101010101" charset="-127"/>
                <a:cs typeface="+mj-lt"/>
              </a:endParaRPr>
            </a:p>
          </p:txBody>
        </p:sp>
      </p:grpSp>
      <p:sp>
        <p:nvSpPr>
          <p:cNvPr id="5" name="文本框 4"/>
          <p:cNvSpPr txBox="1"/>
          <p:nvPr/>
        </p:nvSpPr>
        <p:spPr>
          <a:xfrm>
            <a:off x="1012190" y="1998345"/>
            <a:ext cx="10167620" cy="258445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endParaRPr lang="en-US" altLang="zh-CN"/>
          </a:p>
          <a:p>
            <a:r>
              <a:rPr lang="zh-CN" altLang="en-US"/>
              <a:t>设计规范：</a:t>
            </a:r>
            <a:r>
              <a:rPr lang="en-US" altLang="zh-CN"/>
              <a:t> </a:t>
            </a:r>
            <a:r>
              <a:rPr lang="zh-CN" altLang="en-US"/>
              <a:t>将</a:t>
            </a:r>
            <a:r>
              <a:rPr lang="en-US" altLang="zh-CN"/>
              <a:t> LLM </a:t>
            </a:r>
            <a:r>
              <a:rPr lang="zh-CN" altLang="en-US"/>
              <a:t>作为一个</a:t>
            </a:r>
            <a:r>
              <a:rPr lang="en-US" altLang="zh-CN"/>
              <a:t>“</a:t>
            </a:r>
            <a:r>
              <a:rPr lang="zh-CN" altLang="en-US"/>
              <a:t>路由器（</a:t>
            </a:r>
            <a:r>
              <a:rPr lang="en-US" altLang="zh-CN"/>
              <a:t>Router</a:t>
            </a:r>
            <a:r>
              <a:rPr lang="zh-CN" altLang="en-US"/>
              <a:t>）</a:t>
            </a:r>
            <a:r>
              <a:rPr lang="en-US" altLang="zh-CN"/>
              <a:t>”</a:t>
            </a:r>
            <a:r>
              <a:rPr lang="zh-CN" altLang="en-US"/>
              <a:t>或任务调度中心。系统内部预先定义好一系列专家模块（即</a:t>
            </a:r>
            <a:r>
              <a:rPr lang="en-US" altLang="zh-CN"/>
              <a:t> Skills</a:t>
            </a:r>
            <a:r>
              <a:rPr lang="zh-CN" altLang="en-US"/>
              <a:t>，如计算器、天气</a:t>
            </a:r>
            <a:r>
              <a:rPr lang="en-US" altLang="zh-CN"/>
              <a:t> API</a:t>
            </a:r>
            <a:r>
              <a:rPr lang="zh-CN" altLang="en-US"/>
              <a:t>、数据库查询器）。</a:t>
            </a:r>
            <a:endParaRPr lang="zh-CN" altLang="en-US"/>
          </a:p>
          <a:p>
            <a:endParaRPr lang="en-US" altLang="zh-CN"/>
          </a:p>
          <a:p>
            <a:r>
              <a:rPr lang="zh-CN" altLang="en-US"/>
              <a:t>执行逻辑：</a:t>
            </a:r>
            <a:r>
              <a:rPr lang="en-US" altLang="zh-CN"/>
              <a:t> LLM </a:t>
            </a:r>
            <a:r>
              <a:rPr lang="zh-CN" altLang="en-US"/>
              <a:t>读取用户的</a:t>
            </a:r>
            <a:r>
              <a:rPr lang="en-US" altLang="zh-CN"/>
              <a:t> Prompt</a:t>
            </a:r>
            <a:r>
              <a:rPr lang="zh-CN" altLang="en-US"/>
              <a:t>，判断当前任务需要哪种专门的能力，然后将任务路由给对应的特定</a:t>
            </a:r>
            <a:r>
              <a:rPr lang="en-US" altLang="zh-CN"/>
              <a:t> Skill </a:t>
            </a:r>
            <a:r>
              <a:rPr lang="zh-CN" altLang="en-US"/>
              <a:t>去执行，最后汇总结果。</a:t>
            </a:r>
            <a:endParaRPr lang="zh-CN" altLang="en-US"/>
          </a:p>
          <a:p>
            <a:endParaRPr lang="en-US" altLang="zh-CN"/>
          </a:p>
          <a:p>
            <a:r>
              <a:rPr lang="zh-CN" altLang="en-US"/>
              <a:t>特点：</a:t>
            </a:r>
            <a:r>
              <a:rPr lang="en-US" altLang="zh-CN"/>
              <a:t> </a:t>
            </a:r>
            <a:r>
              <a:rPr lang="zh-CN" altLang="en-US"/>
              <a:t>强调模块化，</a:t>
            </a:r>
            <a:r>
              <a:rPr lang="en-US" altLang="zh-CN"/>
              <a:t>LLM </a:t>
            </a:r>
            <a:r>
              <a:rPr lang="zh-CN" altLang="en-US"/>
              <a:t>与</a:t>
            </a:r>
            <a:r>
              <a:rPr lang="en-US" altLang="zh-CN"/>
              <a:t> Skill </a:t>
            </a:r>
            <a:r>
              <a:rPr lang="zh-CN" altLang="en-US"/>
              <a:t>之间是明确的调用与被调用关系。</a:t>
            </a:r>
            <a:endParaRPr lang="zh-CN" altLang="en-US"/>
          </a:p>
          <a:p>
            <a:endParaRPr lang="zh-CN" altLang="en-US"/>
          </a:p>
        </p:txBody>
      </p:sp>
      <p:sp>
        <p:nvSpPr>
          <p:cNvPr id="9" name="文本框 8"/>
          <p:cNvSpPr txBox="1"/>
          <p:nvPr/>
        </p:nvSpPr>
        <p:spPr>
          <a:xfrm>
            <a:off x="6125210" y="5063490"/>
            <a:ext cx="4064000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zh-CN" altLang="en-US">
                <a:solidFill>
                  <a:srgbClr val="FF0000"/>
                </a:solidFill>
              </a:rPr>
              <a:t>此处需插入</a:t>
            </a:r>
            <a:r>
              <a:rPr lang="en-US" altLang="zh-CN">
                <a:solidFill>
                  <a:srgbClr val="FF0000"/>
                </a:solidFill>
              </a:rPr>
              <a:t>Harness</a:t>
            </a:r>
            <a:r>
              <a:rPr lang="zh-CN" altLang="en-US">
                <a:solidFill>
                  <a:srgbClr val="FF0000"/>
                </a:solidFill>
              </a:rPr>
              <a:t>实践截图</a:t>
            </a:r>
            <a:endParaRPr lang="zh-CN" altLang="en-US">
              <a:solidFill>
                <a:srgbClr val="FF0000"/>
              </a:solidFill>
            </a:endParaRPr>
          </a:p>
        </p:txBody>
      </p:sp>
      <p:sp>
        <p:nvSpPr>
          <p:cNvPr id="14" name="文本框 13"/>
          <p:cNvSpPr txBox="1"/>
          <p:nvPr/>
        </p:nvSpPr>
        <p:spPr>
          <a:xfrm>
            <a:off x="547370" y="1695450"/>
            <a:ext cx="4064000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b="1">
                <a:sym typeface="+mn-ea"/>
              </a:rPr>
              <a:t>1. </a:t>
            </a:r>
            <a:r>
              <a:rPr lang="zh-CN" altLang="en-US" b="1">
                <a:sym typeface="+mn-ea"/>
              </a:rPr>
              <a:t>路由分配模式</a:t>
            </a:r>
            <a:r>
              <a:rPr lang="en-US" altLang="zh-CN" b="1">
                <a:sym typeface="+mn-ea"/>
              </a:rPr>
              <a:t> </a:t>
            </a:r>
            <a:endParaRPr lang="zh-CN" altLang="en-US" b="1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0"/>
    </mc:Choice>
    <mc:Fallback>
      <p:transition/>
    </mc:Fallback>
  </mc:AlternateContent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grpSp>
        <p:nvGrpSpPr>
          <p:cNvPr id="2" name="组合 1"/>
          <p:cNvGrpSpPr/>
          <p:nvPr/>
        </p:nvGrpSpPr>
        <p:grpSpPr>
          <a:xfrm>
            <a:off x="-1386840" y="62865"/>
            <a:ext cx="8120380" cy="1326515"/>
            <a:chOff x="-2184" y="-721"/>
            <a:chExt cx="12788" cy="2089"/>
          </a:xfrm>
        </p:grpSpPr>
        <p:sp>
          <p:nvSpPr>
            <p:cNvPr id="3" name="TextBox 8"/>
            <p:cNvSpPr txBox="1"/>
            <p:nvPr/>
          </p:nvSpPr>
          <p:spPr>
            <a:xfrm>
              <a:off x="-2184" y="-721"/>
              <a:ext cx="12788" cy="1598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p>
              <a:pPr algn="ctr"/>
              <a:r>
                <a:rPr lang="en-US" sz="6000" b="1" spc="600" dirty="0" smtClean="0">
                  <a:solidFill>
                    <a:schemeClr val="bg1">
                      <a:lumMod val="95000"/>
                    </a:schemeClr>
                  </a:solidFill>
                  <a:latin typeface="庞门正道标题体" panose="02010600030101010101" charset="-122"/>
                  <a:ea typeface="庞门正道标题体" panose="02010600030101010101" charset="-122"/>
                  <a:cs typeface="Montserrat" panose="00000500000000000000" pitchFamily="50" charset="0"/>
                </a:rPr>
                <a:t>MINIMALIST</a:t>
              </a:r>
              <a:endParaRPr lang="en-US" sz="6000" b="1" spc="600" dirty="0" smtClean="0">
                <a:solidFill>
                  <a:schemeClr val="bg1">
                    <a:lumMod val="95000"/>
                  </a:schemeClr>
                </a:solidFill>
                <a:latin typeface="庞门正道标题体" panose="02010600030101010101" charset="-122"/>
                <a:ea typeface="庞门正道标题体" panose="02010600030101010101" charset="-122"/>
                <a:cs typeface="Montserrat" panose="00000500000000000000" pitchFamily="50" charset="0"/>
              </a:endParaRPr>
            </a:p>
          </p:txBody>
        </p:sp>
        <p:sp>
          <p:nvSpPr>
            <p:cNvPr id="24" name="TextBox 9"/>
            <p:cNvSpPr txBox="1"/>
            <p:nvPr/>
          </p:nvSpPr>
          <p:spPr>
            <a:xfrm>
              <a:off x="-1247" y="-166"/>
              <a:ext cx="10932" cy="130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p>
              <a:pPr algn="ctr"/>
              <a:r>
                <a:rPr lang="zh-CN" altLang="en-US" sz="4800" b="1" spc="600" dirty="0" smtClean="0">
                  <a:solidFill>
                    <a:schemeClr val="tx1"/>
                  </a:solidFill>
                  <a:latin typeface="方正明尚简体" panose="02000000000000000000" charset="-122"/>
                  <a:ea typeface="方正明尚简体" panose="02000000000000000000" charset="-122"/>
                  <a:cs typeface="Montserrat" panose="00000500000000000000" pitchFamily="50" charset="0"/>
                </a:rPr>
                <a:t>三大设计</a:t>
              </a:r>
              <a:r>
                <a:rPr lang="zh-CN" altLang="en-US" sz="4800" b="1" spc="600" dirty="0" smtClean="0">
                  <a:solidFill>
                    <a:schemeClr val="tx1"/>
                  </a:solidFill>
                  <a:latin typeface="方正明尚简体" panose="02000000000000000000" charset="-122"/>
                  <a:ea typeface="方正明尚简体" panose="02000000000000000000" charset="-122"/>
                  <a:cs typeface="Montserrat" panose="00000500000000000000" pitchFamily="50" charset="0"/>
                </a:rPr>
                <a:t>模式</a:t>
              </a:r>
              <a:endParaRPr lang="zh-CN" altLang="en-US" sz="4800" b="1" spc="600" dirty="0" smtClean="0">
                <a:solidFill>
                  <a:schemeClr val="tx1"/>
                </a:solidFill>
                <a:latin typeface="方正明尚简体" panose="02000000000000000000" charset="-122"/>
                <a:ea typeface="方正明尚简体" panose="02000000000000000000" charset="-122"/>
                <a:cs typeface="Montserrat" panose="00000500000000000000" pitchFamily="50" charset="0"/>
              </a:endParaRPr>
            </a:p>
          </p:txBody>
        </p:sp>
        <p:sp>
          <p:nvSpPr>
            <p:cNvPr id="25" name="TextBox 12"/>
            <p:cNvSpPr txBox="1"/>
            <p:nvPr/>
          </p:nvSpPr>
          <p:spPr>
            <a:xfrm>
              <a:off x="291" y="799"/>
              <a:ext cx="7856" cy="56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p>
              <a:pPr algn="ctr">
                <a:lnSpc>
                  <a:spcPct val="150000"/>
                </a:lnSpc>
              </a:pPr>
              <a:r>
                <a:rPr lang="en-US" baseline="-25000" dirty="0" smtClean="0">
                  <a:latin typeface="Dotum" panose="020B0600000101010101" charset="-127"/>
                  <a:ea typeface="Dotum" panose="020B0600000101010101" charset="-127"/>
                  <a:cs typeface="+mj-lt"/>
                </a:rPr>
                <a:t>minimal presentation template</a:t>
              </a:r>
              <a:endParaRPr lang="en-US" baseline="-25000" dirty="0" smtClean="0">
                <a:latin typeface="Dotum" panose="020B0600000101010101" charset="-127"/>
                <a:ea typeface="Dotum" panose="020B0600000101010101" charset="-127"/>
                <a:cs typeface="+mj-lt"/>
              </a:endParaRPr>
            </a:p>
          </p:txBody>
        </p:sp>
      </p:grpSp>
      <p:sp>
        <p:nvSpPr>
          <p:cNvPr id="5" name="文本框 4"/>
          <p:cNvSpPr txBox="1"/>
          <p:nvPr/>
        </p:nvSpPr>
        <p:spPr>
          <a:xfrm>
            <a:off x="1012190" y="1998345"/>
            <a:ext cx="10167620" cy="230695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endParaRPr lang="en-US" altLang="zh-CN"/>
          </a:p>
          <a:p>
            <a:r>
              <a:rPr lang="zh-CN" altLang="en-US">
                <a:sym typeface="+mn-ea"/>
              </a:rPr>
              <a:t>设计规范：</a:t>
            </a:r>
            <a:r>
              <a:rPr lang="en-US" altLang="zh-CN">
                <a:sym typeface="+mn-ea"/>
              </a:rPr>
              <a:t> </a:t>
            </a:r>
            <a:r>
              <a:rPr lang="zh-CN" altLang="en-US">
                <a:sym typeface="+mn-ea"/>
              </a:rPr>
              <a:t>强调通过特定的文本标记（</a:t>
            </a:r>
            <a:r>
              <a:rPr lang="en-US" altLang="zh-CN">
                <a:sym typeface="+mn-ea"/>
              </a:rPr>
              <a:t>Text Tokens</a:t>
            </a:r>
            <a:r>
              <a:rPr lang="zh-CN" altLang="en-US">
                <a:sym typeface="+mn-ea"/>
              </a:rPr>
              <a:t>）来触发</a:t>
            </a:r>
            <a:r>
              <a:rPr lang="en-US" altLang="zh-CN">
                <a:sym typeface="+mn-ea"/>
              </a:rPr>
              <a:t> Skill</a:t>
            </a:r>
            <a:r>
              <a:rPr lang="zh-CN" altLang="en-US">
                <a:sym typeface="+mn-ea"/>
              </a:rPr>
              <a:t>。不依赖外部复杂的编排代码，而是让</a:t>
            </a:r>
            <a:r>
              <a:rPr lang="en-US" altLang="zh-CN">
                <a:sym typeface="+mn-ea"/>
              </a:rPr>
              <a:t> LLM </a:t>
            </a:r>
            <a:r>
              <a:rPr lang="zh-CN" altLang="en-US">
                <a:sym typeface="+mn-ea"/>
              </a:rPr>
              <a:t>自己在生成文本的过程中，</a:t>
            </a:r>
            <a:r>
              <a:rPr lang="en-US" altLang="zh-CN">
                <a:sym typeface="+mn-ea"/>
              </a:rPr>
              <a:t>“</a:t>
            </a:r>
            <a:r>
              <a:rPr lang="zh-CN" altLang="en-US">
                <a:sym typeface="+mn-ea"/>
              </a:rPr>
              <a:t>顺便</a:t>
            </a:r>
            <a:r>
              <a:rPr lang="en-US" altLang="zh-CN">
                <a:sym typeface="+mn-ea"/>
              </a:rPr>
              <a:t>”</a:t>
            </a:r>
            <a:r>
              <a:rPr lang="zh-CN" altLang="en-US">
                <a:sym typeface="+mn-ea"/>
              </a:rPr>
              <a:t>生成调用</a:t>
            </a:r>
            <a:r>
              <a:rPr lang="en-US" altLang="zh-CN">
                <a:sym typeface="+mn-ea"/>
              </a:rPr>
              <a:t> Skill </a:t>
            </a:r>
            <a:r>
              <a:rPr lang="zh-CN" altLang="en-US">
                <a:sym typeface="+mn-ea"/>
              </a:rPr>
              <a:t>的指令。</a:t>
            </a:r>
            <a:endParaRPr lang="zh-CN" altLang="en-US"/>
          </a:p>
          <a:p>
            <a:endParaRPr lang="en-US" altLang="zh-CN"/>
          </a:p>
          <a:p>
            <a:r>
              <a:rPr lang="zh-CN" altLang="en-US">
                <a:sym typeface="+mn-ea"/>
              </a:rPr>
              <a:t>执行逻辑：</a:t>
            </a:r>
            <a:r>
              <a:rPr lang="en-US" altLang="zh-CN">
                <a:sym typeface="+mn-ea"/>
              </a:rPr>
              <a:t> </a:t>
            </a:r>
            <a:r>
              <a:rPr lang="zh-CN" altLang="en-US">
                <a:sym typeface="+mn-ea"/>
              </a:rPr>
              <a:t>模型在训练或微调阶段学会了特定的语法格式（例如，遇到需要计算的地方，模型会自动输出类似</a:t>
            </a:r>
            <a:r>
              <a:rPr lang="en-US" altLang="zh-CN">
                <a:sym typeface="+mn-ea"/>
              </a:rPr>
              <a:t> "</a:t>
            </a:r>
            <a:r>
              <a:rPr lang="zh-CN" altLang="en-US">
                <a:sym typeface="+mn-ea"/>
              </a:rPr>
              <a:t>需要计算</a:t>
            </a:r>
            <a:r>
              <a:rPr lang="en-US" altLang="zh-CN">
                <a:sym typeface="+mn-ea"/>
              </a:rPr>
              <a:t> 5 </a:t>
            </a:r>
            <a:r>
              <a:rPr lang="zh-CN" altLang="en-US">
                <a:sym typeface="+mn-ea"/>
              </a:rPr>
              <a:t>乘</a:t>
            </a:r>
            <a:r>
              <a:rPr lang="en-US" altLang="zh-CN">
                <a:sym typeface="+mn-ea"/>
              </a:rPr>
              <a:t> 5 [</a:t>
            </a:r>
            <a:r>
              <a:rPr lang="zh-CN" altLang="en-US">
                <a:sym typeface="+mn-ea"/>
              </a:rPr>
              <a:t>调用计算器</a:t>
            </a:r>
            <a:r>
              <a:rPr lang="en-US" altLang="zh-CN">
                <a:sym typeface="+mn-ea"/>
              </a:rPr>
              <a:t>(5 * 5)] </a:t>
            </a:r>
            <a:r>
              <a:rPr lang="zh-CN" altLang="en-US">
                <a:sym typeface="+mn-ea"/>
              </a:rPr>
              <a:t>结果是</a:t>
            </a:r>
            <a:r>
              <a:rPr lang="en-US" altLang="zh-CN">
                <a:sym typeface="+mn-ea"/>
              </a:rPr>
              <a:t> 25" </a:t>
            </a:r>
            <a:r>
              <a:rPr lang="zh-CN" altLang="en-US">
                <a:sym typeface="+mn-ea"/>
              </a:rPr>
              <a:t>的文本）。</a:t>
            </a:r>
            <a:endParaRPr lang="zh-CN" altLang="en-US"/>
          </a:p>
          <a:p>
            <a:endParaRPr lang="en-US" altLang="zh-CN"/>
          </a:p>
          <a:p>
            <a:r>
              <a:rPr lang="zh-CN" altLang="en-US">
                <a:sym typeface="+mn-ea"/>
              </a:rPr>
              <a:t>特点：</a:t>
            </a:r>
            <a:r>
              <a:rPr lang="en-US" altLang="zh-CN">
                <a:sym typeface="+mn-ea"/>
              </a:rPr>
              <a:t> </a:t>
            </a:r>
            <a:r>
              <a:rPr lang="zh-CN" altLang="en-US">
                <a:sym typeface="+mn-ea"/>
              </a:rPr>
              <a:t>将</a:t>
            </a:r>
            <a:r>
              <a:rPr lang="en-US" altLang="zh-CN">
                <a:sym typeface="+mn-ea"/>
              </a:rPr>
              <a:t> API </a:t>
            </a:r>
            <a:r>
              <a:rPr lang="zh-CN" altLang="en-US">
                <a:sym typeface="+mn-ea"/>
              </a:rPr>
              <a:t>的调用语法直接融入到模型的自然语言生成过程中。</a:t>
            </a:r>
            <a:endParaRPr lang="zh-CN" altLang="en-US"/>
          </a:p>
        </p:txBody>
      </p:sp>
      <p:sp>
        <p:nvSpPr>
          <p:cNvPr id="14" name="文本框 13"/>
          <p:cNvSpPr txBox="1"/>
          <p:nvPr/>
        </p:nvSpPr>
        <p:spPr>
          <a:xfrm>
            <a:off x="547370" y="1695450"/>
            <a:ext cx="532066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b="1">
                <a:sym typeface="+mn-ea"/>
              </a:rPr>
              <a:t>2. </a:t>
            </a:r>
            <a:r>
              <a:rPr lang="zh-CN" altLang="en-US" b="1">
                <a:sym typeface="+mn-ea"/>
              </a:rPr>
              <a:t>自发内化调用模式</a:t>
            </a:r>
            <a:endParaRPr lang="zh-CN" altLang="en-US" b="1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0"/>
    </mc:Choice>
    <mc:Fallback>
      <p:transition/>
    </mc:Fallback>
  </mc:AlternateContent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grpSp>
        <p:nvGrpSpPr>
          <p:cNvPr id="2" name="组合 1"/>
          <p:cNvGrpSpPr/>
          <p:nvPr/>
        </p:nvGrpSpPr>
        <p:grpSpPr>
          <a:xfrm>
            <a:off x="-1386840" y="62865"/>
            <a:ext cx="8120380" cy="1326515"/>
            <a:chOff x="-2184" y="-721"/>
            <a:chExt cx="12788" cy="2089"/>
          </a:xfrm>
        </p:grpSpPr>
        <p:sp>
          <p:nvSpPr>
            <p:cNvPr id="3" name="TextBox 8"/>
            <p:cNvSpPr txBox="1"/>
            <p:nvPr/>
          </p:nvSpPr>
          <p:spPr>
            <a:xfrm>
              <a:off x="-2184" y="-721"/>
              <a:ext cx="12788" cy="1598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p>
              <a:pPr algn="ctr"/>
              <a:r>
                <a:rPr lang="en-US" sz="6000" b="1" spc="600" dirty="0" smtClean="0">
                  <a:solidFill>
                    <a:schemeClr val="bg1">
                      <a:lumMod val="95000"/>
                    </a:schemeClr>
                  </a:solidFill>
                  <a:latin typeface="庞门正道标题体" panose="02010600030101010101" charset="-122"/>
                  <a:ea typeface="庞门正道标题体" panose="02010600030101010101" charset="-122"/>
                  <a:cs typeface="Montserrat" panose="00000500000000000000" pitchFamily="50" charset="0"/>
                </a:rPr>
                <a:t>MINIMALIST</a:t>
              </a:r>
              <a:endParaRPr lang="en-US" sz="6000" b="1" spc="600" dirty="0" smtClean="0">
                <a:solidFill>
                  <a:schemeClr val="bg1">
                    <a:lumMod val="95000"/>
                  </a:schemeClr>
                </a:solidFill>
                <a:latin typeface="庞门正道标题体" panose="02010600030101010101" charset="-122"/>
                <a:ea typeface="庞门正道标题体" panose="02010600030101010101" charset="-122"/>
                <a:cs typeface="Montserrat" panose="00000500000000000000" pitchFamily="50" charset="0"/>
              </a:endParaRPr>
            </a:p>
          </p:txBody>
        </p:sp>
        <p:sp>
          <p:nvSpPr>
            <p:cNvPr id="24" name="TextBox 9"/>
            <p:cNvSpPr txBox="1"/>
            <p:nvPr/>
          </p:nvSpPr>
          <p:spPr>
            <a:xfrm>
              <a:off x="-1247" y="-166"/>
              <a:ext cx="10932" cy="130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p>
              <a:pPr algn="ctr"/>
              <a:r>
                <a:rPr lang="zh-CN" altLang="en-US" sz="4800" b="1" spc="600" dirty="0" smtClean="0">
                  <a:solidFill>
                    <a:schemeClr val="tx1"/>
                  </a:solidFill>
                  <a:latin typeface="方正明尚简体" panose="02000000000000000000" charset="-122"/>
                  <a:ea typeface="方正明尚简体" panose="02000000000000000000" charset="-122"/>
                  <a:cs typeface="Montserrat" panose="00000500000000000000" pitchFamily="50" charset="0"/>
                </a:rPr>
                <a:t>三大设计</a:t>
              </a:r>
              <a:r>
                <a:rPr lang="zh-CN" altLang="en-US" sz="4800" b="1" spc="600" dirty="0" smtClean="0">
                  <a:solidFill>
                    <a:schemeClr val="tx1"/>
                  </a:solidFill>
                  <a:latin typeface="方正明尚简体" panose="02000000000000000000" charset="-122"/>
                  <a:ea typeface="方正明尚简体" panose="02000000000000000000" charset="-122"/>
                  <a:cs typeface="Montserrat" panose="00000500000000000000" pitchFamily="50" charset="0"/>
                </a:rPr>
                <a:t>模式</a:t>
              </a:r>
              <a:endParaRPr lang="zh-CN" altLang="en-US" sz="4800" b="1" spc="600" dirty="0" smtClean="0">
                <a:solidFill>
                  <a:schemeClr val="tx1"/>
                </a:solidFill>
                <a:latin typeface="方正明尚简体" panose="02000000000000000000" charset="-122"/>
                <a:ea typeface="方正明尚简体" panose="02000000000000000000" charset="-122"/>
                <a:cs typeface="Montserrat" panose="00000500000000000000" pitchFamily="50" charset="0"/>
              </a:endParaRPr>
            </a:p>
          </p:txBody>
        </p:sp>
        <p:sp>
          <p:nvSpPr>
            <p:cNvPr id="25" name="TextBox 12"/>
            <p:cNvSpPr txBox="1"/>
            <p:nvPr/>
          </p:nvSpPr>
          <p:spPr>
            <a:xfrm>
              <a:off x="291" y="799"/>
              <a:ext cx="7856" cy="56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p>
              <a:pPr algn="ctr">
                <a:lnSpc>
                  <a:spcPct val="150000"/>
                </a:lnSpc>
              </a:pPr>
              <a:r>
                <a:rPr lang="en-US" baseline="-25000" dirty="0" smtClean="0">
                  <a:latin typeface="Dotum" panose="020B0600000101010101" charset="-127"/>
                  <a:ea typeface="Dotum" panose="020B0600000101010101" charset="-127"/>
                  <a:cs typeface="+mj-lt"/>
                </a:rPr>
                <a:t>minimal presentation template</a:t>
              </a:r>
              <a:endParaRPr lang="en-US" baseline="-25000" dirty="0" smtClean="0">
                <a:latin typeface="Dotum" panose="020B0600000101010101" charset="-127"/>
                <a:ea typeface="Dotum" panose="020B0600000101010101" charset="-127"/>
                <a:cs typeface="+mj-lt"/>
              </a:endParaRPr>
            </a:p>
          </p:txBody>
        </p:sp>
      </p:grpSp>
      <p:sp>
        <p:nvSpPr>
          <p:cNvPr id="5" name="文本框 4"/>
          <p:cNvSpPr txBox="1"/>
          <p:nvPr/>
        </p:nvSpPr>
        <p:spPr>
          <a:xfrm>
            <a:off x="1012190" y="2028825"/>
            <a:ext cx="10167620" cy="30670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zh-CN" altLang="en-US" sz="1400"/>
              <a:t>论文：</a:t>
            </a:r>
            <a:r>
              <a:rPr lang="en-US" altLang="zh-CN" sz="1400"/>
              <a:t>Voyager: An Open-Ended Embodied Agent with Large Language Models </a:t>
            </a:r>
            <a:endParaRPr lang="en-US" altLang="zh-CN" sz="1400"/>
          </a:p>
        </p:txBody>
      </p:sp>
      <p:sp>
        <p:nvSpPr>
          <p:cNvPr id="14" name="文本框 13"/>
          <p:cNvSpPr txBox="1"/>
          <p:nvPr/>
        </p:nvSpPr>
        <p:spPr>
          <a:xfrm>
            <a:off x="547370" y="1695450"/>
            <a:ext cx="532066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b="1">
                <a:sym typeface="+mn-ea"/>
              </a:rPr>
              <a:t>2. </a:t>
            </a:r>
            <a:r>
              <a:rPr lang="zh-CN" altLang="en-US" b="1">
                <a:sym typeface="+mn-ea"/>
              </a:rPr>
              <a:t>自发内化调用模式</a:t>
            </a:r>
            <a:r>
              <a:rPr lang="zh-CN" altLang="en-US" b="1">
                <a:solidFill>
                  <a:srgbClr val="FF0000"/>
                </a:solidFill>
                <a:sym typeface="+mn-ea"/>
              </a:rPr>
              <a:t>应用</a:t>
            </a:r>
            <a:endParaRPr lang="zh-CN" altLang="en-US" b="1">
              <a:solidFill>
                <a:srgbClr val="FF0000"/>
              </a:solidFill>
              <a:sym typeface="+mn-ea"/>
            </a:endParaRPr>
          </a:p>
        </p:txBody>
      </p:sp>
      <p:sp>
        <p:nvSpPr>
          <p:cNvPr id="4" name="文本框 3"/>
          <p:cNvSpPr txBox="1"/>
          <p:nvPr/>
        </p:nvSpPr>
        <p:spPr>
          <a:xfrm>
            <a:off x="1097280" y="2586990"/>
            <a:ext cx="10174605" cy="230695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/>
              <a:t>1. </a:t>
            </a:r>
            <a:r>
              <a:rPr lang="zh-CN" altLang="en-US"/>
              <a:t>技能的代码化表达</a:t>
            </a:r>
            <a:r>
              <a:rPr lang="en-US" altLang="zh-CN"/>
              <a:t> (Code-as-Skill)</a:t>
            </a:r>
            <a:endParaRPr lang="en-US" altLang="zh-CN"/>
          </a:p>
          <a:p>
            <a:r>
              <a:rPr lang="en-US" altLang="zh-CN"/>
              <a:t>Voyager </a:t>
            </a:r>
            <a:r>
              <a:rPr lang="zh-CN" altLang="en-US"/>
              <a:t>彻底抛弃了预先定义好的</a:t>
            </a:r>
            <a:r>
              <a:rPr lang="en-US" altLang="zh-CN"/>
              <a:t> JSON </a:t>
            </a:r>
            <a:r>
              <a:rPr lang="zh-CN" altLang="en-US"/>
              <a:t>格式</a:t>
            </a:r>
            <a:r>
              <a:rPr lang="en-US" altLang="zh-CN"/>
              <a:t> API</a:t>
            </a:r>
            <a:r>
              <a:rPr lang="zh-CN" altLang="en-US"/>
              <a:t>。在它的世界里，一个</a:t>
            </a:r>
            <a:r>
              <a:rPr lang="en-US" altLang="zh-CN"/>
              <a:t> Skill </a:t>
            </a:r>
            <a:r>
              <a:rPr lang="zh-CN" altLang="en-US"/>
              <a:t>就是一段可执行的</a:t>
            </a:r>
            <a:r>
              <a:rPr lang="en-US" altLang="zh-CN"/>
              <a:t> JavaScript </a:t>
            </a:r>
            <a:r>
              <a:rPr lang="zh-CN" altLang="en-US"/>
              <a:t>代码（使用基于</a:t>
            </a:r>
            <a:r>
              <a:rPr lang="en-US" altLang="zh-CN"/>
              <a:t> Node.js </a:t>
            </a:r>
            <a:r>
              <a:rPr lang="zh-CN" altLang="en-US"/>
              <a:t>的</a:t>
            </a:r>
            <a:r>
              <a:rPr lang="en-US" altLang="zh-CN"/>
              <a:t> Mineflayer </a:t>
            </a:r>
            <a:r>
              <a:rPr lang="zh-CN" altLang="en-US"/>
              <a:t>库）。</a:t>
            </a:r>
            <a:endParaRPr lang="zh-CN" altLang="en-US"/>
          </a:p>
          <a:p>
            <a:endParaRPr lang="en-US" altLang="zh-CN"/>
          </a:p>
          <a:p>
            <a:r>
              <a:rPr lang="zh-CN" altLang="en-US"/>
              <a:t>论述逻辑：</a:t>
            </a:r>
            <a:r>
              <a:rPr lang="en-US" altLang="zh-CN"/>
              <a:t> </a:t>
            </a:r>
            <a:r>
              <a:rPr lang="zh-CN" altLang="en-US"/>
              <a:t>传统的</a:t>
            </a:r>
            <a:r>
              <a:rPr lang="en-US" altLang="zh-CN"/>
              <a:t> API </a:t>
            </a:r>
            <a:r>
              <a:rPr lang="zh-CN" altLang="en-US"/>
              <a:t>是死板的（比如</a:t>
            </a:r>
            <a:r>
              <a:rPr lang="en-US" altLang="zh-CN"/>
              <a:t> move_forward(10)</a:t>
            </a:r>
            <a:r>
              <a:rPr lang="zh-CN" altLang="en-US"/>
              <a:t>），而代码是具备图灵完备性和高度可组合性的（包含</a:t>
            </a:r>
            <a:r>
              <a:rPr lang="en-US" altLang="zh-CN"/>
              <a:t> for </a:t>
            </a:r>
            <a:r>
              <a:rPr lang="zh-CN" altLang="en-US"/>
              <a:t>循环、</a:t>
            </a:r>
            <a:r>
              <a:rPr lang="en-US" altLang="zh-CN"/>
              <a:t>if </a:t>
            </a:r>
            <a:r>
              <a:rPr lang="zh-CN" altLang="en-US"/>
              <a:t>判断、异常捕获）。</a:t>
            </a:r>
            <a:r>
              <a:rPr lang="en-US" altLang="zh-CN"/>
              <a:t>Voyager </a:t>
            </a:r>
            <a:r>
              <a:rPr lang="zh-CN" altLang="en-US"/>
              <a:t>认为，真正的内化不应该只是记住一个接口名字，而是要掌握一段解决特定问题的逻辑。比如，</a:t>
            </a:r>
            <a:r>
              <a:rPr lang="en-US" altLang="zh-CN"/>
              <a:t>“</a:t>
            </a:r>
            <a:r>
              <a:rPr lang="zh-CN" altLang="en-US"/>
              <a:t>砍树</a:t>
            </a:r>
            <a:r>
              <a:rPr lang="en-US" altLang="zh-CN"/>
              <a:t>”</a:t>
            </a:r>
            <a:r>
              <a:rPr lang="zh-CN" altLang="en-US"/>
              <a:t>不仅是调用一个动作，而是</a:t>
            </a:r>
            <a:r>
              <a:rPr lang="en-US" altLang="zh-CN"/>
              <a:t>“</a:t>
            </a:r>
            <a:r>
              <a:rPr lang="zh-CN" altLang="en-US"/>
              <a:t>寻路到树旁</a:t>
            </a:r>
            <a:r>
              <a:rPr lang="en-US" altLang="zh-CN"/>
              <a:t> -&gt; </a:t>
            </a:r>
            <a:r>
              <a:rPr lang="zh-CN" altLang="en-US"/>
              <a:t>检查背包</a:t>
            </a:r>
            <a:r>
              <a:rPr lang="en-US" altLang="zh-CN"/>
              <a:t> -&gt; </a:t>
            </a:r>
            <a:r>
              <a:rPr lang="zh-CN" altLang="en-US"/>
              <a:t>装备斧头</a:t>
            </a:r>
            <a:r>
              <a:rPr lang="en-US" altLang="zh-CN"/>
              <a:t> -&gt; </a:t>
            </a:r>
            <a:r>
              <a:rPr lang="zh-CN" altLang="en-US"/>
              <a:t>挖掘直到方块消失</a:t>
            </a:r>
            <a:r>
              <a:rPr lang="en-US" altLang="zh-CN"/>
              <a:t>”</a:t>
            </a:r>
            <a:r>
              <a:rPr lang="zh-CN" altLang="en-US"/>
              <a:t>的完整控制流。</a:t>
            </a:r>
            <a:endParaRPr lang="zh-CN" altLang="en-US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0"/>
    </mc:Choice>
    <mc:Fallback>
      <p:transition/>
    </mc:Fallback>
  </mc:AlternateContent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grpSp>
        <p:nvGrpSpPr>
          <p:cNvPr id="2" name="组合 1"/>
          <p:cNvGrpSpPr/>
          <p:nvPr/>
        </p:nvGrpSpPr>
        <p:grpSpPr>
          <a:xfrm>
            <a:off x="-1386840" y="62865"/>
            <a:ext cx="8120380" cy="1326515"/>
            <a:chOff x="-2184" y="-721"/>
            <a:chExt cx="12788" cy="2089"/>
          </a:xfrm>
        </p:grpSpPr>
        <p:sp>
          <p:nvSpPr>
            <p:cNvPr id="3" name="TextBox 8"/>
            <p:cNvSpPr txBox="1"/>
            <p:nvPr/>
          </p:nvSpPr>
          <p:spPr>
            <a:xfrm>
              <a:off x="-2184" y="-721"/>
              <a:ext cx="12788" cy="1598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p>
              <a:pPr algn="ctr"/>
              <a:r>
                <a:rPr lang="en-US" sz="6000" b="1" spc="600" dirty="0" smtClean="0">
                  <a:solidFill>
                    <a:schemeClr val="bg1">
                      <a:lumMod val="95000"/>
                    </a:schemeClr>
                  </a:solidFill>
                  <a:latin typeface="庞门正道标题体" panose="02010600030101010101" charset="-122"/>
                  <a:ea typeface="庞门正道标题体" panose="02010600030101010101" charset="-122"/>
                  <a:cs typeface="Montserrat" panose="00000500000000000000" pitchFamily="50" charset="0"/>
                </a:rPr>
                <a:t>MINIMALIST</a:t>
              </a:r>
              <a:endParaRPr lang="en-US" sz="6000" b="1" spc="600" dirty="0" smtClean="0">
                <a:solidFill>
                  <a:schemeClr val="bg1">
                    <a:lumMod val="95000"/>
                  </a:schemeClr>
                </a:solidFill>
                <a:latin typeface="庞门正道标题体" panose="02010600030101010101" charset="-122"/>
                <a:ea typeface="庞门正道标题体" panose="02010600030101010101" charset="-122"/>
                <a:cs typeface="Montserrat" panose="00000500000000000000" pitchFamily="50" charset="0"/>
              </a:endParaRPr>
            </a:p>
          </p:txBody>
        </p:sp>
        <p:sp>
          <p:nvSpPr>
            <p:cNvPr id="24" name="TextBox 9"/>
            <p:cNvSpPr txBox="1"/>
            <p:nvPr/>
          </p:nvSpPr>
          <p:spPr>
            <a:xfrm>
              <a:off x="-1247" y="-166"/>
              <a:ext cx="10932" cy="130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p>
              <a:pPr algn="ctr"/>
              <a:r>
                <a:rPr lang="zh-CN" altLang="en-US" sz="4800" b="1" spc="600" dirty="0" smtClean="0">
                  <a:solidFill>
                    <a:schemeClr val="tx1"/>
                  </a:solidFill>
                  <a:latin typeface="方正明尚简体" panose="02000000000000000000" charset="-122"/>
                  <a:ea typeface="方正明尚简体" panose="02000000000000000000" charset="-122"/>
                  <a:cs typeface="Montserrat" panose="00000500000000000000" pitchFamily="50" charset="0"/>
                </a:rPr>
                <a:t>三大设计</a:t>
              </a:r>
              <a:r>
                <a:rPr lang="zh-CN" altLang="en-US" sz="4800" b="1" spc="600" dirty="0" smtClean="0">
                  <a:solidFill>
                    <a:schemeClr val="tx1"/>
                  </a:solidFill>
                  <a:latin typeface="方正明尚简体" panose="02000000000000000000" charset="-122"/>
                  <a:ea typeface="方正明尚简体" panose="02000000000000000000" charset="-122"/>
                  <a:cs typeface="Montserrat" panose="00000500000000000000" pitchFamily="50" charset="0"/>
                </a:rPr>
                <a:t>模式</a:t>
              </a:r>
              <a:endParaRPr lang="zh-CN" altLang="en-US" sz="4800" b="1" spc="600" dirty="0" smtClean="0">
                <a:solidFill>
                  <a:schemeClr val="tx1"/>
                </a:solidFill>
                <a:latin typeface="方正明尚简体" panose="02000000000000000000" charset="-122"/>
                <a:ea typeface="方正明尚简体" panose="02000000000000000000" charset="-122"/>
                <a:cs typeface="Montserrat" panose="00000500000000000000" pitchFamily="50" charset="0"/>
              </a:endParaRPr>
            </a:p>
          </p:txBody>
        </p:sp>
        <p:sp>
          <p:nvSpPr>
            <p:cNvPr id="25" name="TextBox 12"/>
            <p:cNvSpPr txBox="1"/>
            <p:nvPr/>
          </p:nvSpPr>
          <p:spPr>
            <a:xfrm>
              <a:off x="291" y="799"/>
              <a:ext cx="7856" cy="56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p>
              <a:pPr algn="ctr">
                <a:lnSpc>
                  <a:spcPct val="150000"/>
                </a:lnSpc>
              </a:pPr>
              <a:r>
                <a:rPr lang="en-US" baseline="-25000" dirty="0" smtClean="0">
                  <a:latin typeface="Dotum" panose="020B0600000101010101" charset="-127"/>
                  <a:ea typeface="Dotum" panose="020B0600000101010101" charset="-127"/>
                  <a:cs typeface="+mj-lt"/>
                </a:rPr>
                <a:t>minimal presentation template</a:t>
              </a:r>
              <a:endParaRPr lang="en-US" baseline="-25000" dirty="0" smtClean="0">
                <a:latin typeface="Dotum" panose="020B0600000101010101" charset="-127"/>
                <a:ea typeface="Dotum" panose="020B0600000101010101" charset="-127"/>
                <a:cs typeface="+mj-lt"/>
              </a:endParaRPr>
            </a:p>
          </p:txBody>
        </p:sp>
      </p:grpSp>
      <p:sp>
        <p:nvSpPr>
          <p:cNvPr id="5" name="文本框 4"/>
          <p:cNvSpPr txBox="1"/>
          <p:nvPr/>
        </p:nvSpPr>
        <p:spPr>
          <a:xfrm>
            <a:off x="1012190" y="2028825"/>
            <a:ext cx="10167620" cy="30670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zh-CN" altLang="en-US" sz="1400"/>
              <a:t>论文：</a:t>
            </a:r>
            <a:r>
              <a:rPr lang="en-US" altLang="zh-CN" sz="1400"/>
              <a:t>Voyager: An Open-Ended Embodied Agent with Large Language Models </a:t>
            </a:r>
            <a:endParaRPr lang="en-US" altLang="zh-CN" sz="1400"/>
          </a:p>
        </p:txBody>
      </p:sp>
      <p:sp>
        <p:nvSpPr>
          <p:cNvPr id="14" name="文本框 13"/>
          <p:cNvSpPr txBox="1"/>
          <p:nvPr/>
        </p:nvSpPr>
        <p:spPr>
          <a:xfrm>
            <a:off x="547370" y="1695450"/>
            <a:ext cx="532066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b="1">
                <a:sym typeface="+mn-ea"/>
              </a:rPr>
              <a:t>2. </a:t>
            </a:r>
            <a:r>
              <a:rPr lang="zh-CN" altLang="en-US" b="1">
                <a:sym typeface="+mn-ea"/>
              </a:rPr>
              <a:t>自发内化调用模式</a:t>
            </a:r>
            <a:r>
              <a:rPr lang="zh-CN" altLang="en-US" b="1">
                <a:solidFill>
                  <a:srgbClr val="FF0000"/>
                </a:solidFill>
                <a:sym typeface="+mn-ea"/>
              </a:rPr>
              <a:t>应用</a:t>
            </a:r>
            <a:endParaRPr lang="zh-CN" altLang="en-US" b="1">
              <a:solidFill>
                <a:srgbClr val="FF0000"/>
              </a:solidFill>
              <a:sym typeface="+mn-ea"/>
            </a:endParaRPr>
          </a:p>
        </p:txBody>
      </p:sp>
      <p:sp>
        <p:nvSpPr>
          <p:cNvPr id="4" name="文本框 3"/>
          <p:cNvSpPr txBox="1"/>
          <p:nvPr/>
        </p:nvSpPr>
        <p:spPr>
          <a:xfrm>
            <a:off x="1097280" y="2586990"/>
            <a:ext cx="10174605" cy="286131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/>
              <a:t>2. </a:t>
            </a:r>
            <a:r>
              <a:rPr lang="zh-CN" altLang="en-US"/>
              <a:t>动态技能库：向量化的</a:t>
            </a:r>
            <a:r>
              <a:rPr lang="en-US" altLang="zh-CN"/>
              <a:t>“</a:t>
            </a:r>
            <a:r>
              <a:rPr lang="zh-CN" altLang="en-US"/>
              <a:t>肌肉记忆</a:t>
            </a:r>
            <a:r>
              <a:rPr lang="en-US" altLang="zh-CN"/>
              <a:t>”</a:t>
            </a:r>
            <a:endParaRPr lang="en-US" altLang="zh-CN"/>
          </a:p>
          <a:p>
            <a:r>
              <a:rPr lang="zh-CN" altLang="en-US"/>
              <a:t>这是</a:t>
            </a:r>
            <a:r>
              <a:rPr lang="en-US" altLang="zh-CN"/>
              <a:t> Voyager </a:t>
            </a:r>
            <a:r>
              <a:rPr lang="zh-CN" altLang="en-US"/>
              <a:t>实现</a:t>
            </a:r>
            <a:r>
              <a:rPr lang="en-US" altLang="zh-CN"/>
              <a:t>“</a:t>
            </a:r>
            <a:r>
              <a:rPr lang="zh-CN" altLang="en-US"/>
              <a:t>内化</a:t>
            </a:r>
            <a:r>
              <a:rPr lang="en-US" altLang="zh-CN"/>
              <a:t>”</a:t>
            </a:r>
            <a:r>
              <a:rPr lang="zh-CN" altLang="en-US"/>
              <a:t>的绝对核心。</a:t>
            </a:r>
            <a:r>
              <a:rPr lang="en-US" altLang="zh-CN"/>
              <a:t>Agent </a:t>
            </a:r>
            <a:r>
              <a:rPr lang="zh-CN" altLang="en-US"/>
              <a:t>并不修改底层的</a:t>
            </a:r>
            <a:r>
              <a:rPr lang="en-US" altLang="zh-CN"/>
              <a:t> LLM </a:t>
            </a:r>
            <a:r>
              <a:rPr lang="zh-CN" altLang="en-US"/>
              <a:t>权重，而是外挂了一个强大的向量数据库。</a:t>
            </a:r>
            <a:endParaRPr lang="zh-CN" altLang="en-US"/>
          </a:p>
          <a:p>
            <a:endParaRPr lang="en-US" altLang="zh-CN"/>
          </a:p>
          <a:p>
            <a:r>
              <a:rPr lang="zh-CN" altLang="en-US"/>
              <a:t>论述逻辑：</a:t>
            </a:r>
            <a:r>
              <a:rPr lang="en-US" altLang="zh-CN"/>
              <a:t> </a:t>
            </a:r>
            <a:r>
              <a:rPr lang="zh-CN" altLang="en-US"/>
              <a:t>当</a:t>
            </a:r>
            <a:r>
              <a:rPr lang="en-US" altLang="zh-CN"/>
              <a:t> Voyager </a:t>
            </a:r>
            <a:r>
              <a:rPr lang="zh-CN" altLang="en-US"/>
              <a:t>成功学会并完成一个新任务（比如</a:t>
            </a:r>
            <a:r>
              <a:rPr lang="en-US" altLang="zh-CN"/>
              <a:t>“</a:t>
            </a:r>
            <a:r>
              <a:rPr lang="zh-CN" altLang="en-US"/>
              <a:t>合成木板</a:t>
            </a:r>
            <a:r>
              <a:rPr lang="en-US" altLang="zh-CN"/>
              <a:t>”</a:t>
            </a:r>
            <a:r>
              <a:rPr lang="zh-CN" altLang="en-US"/>
              <a:t>）后，它会将这段成功的代码以及对这段代码的</a:t>
            </a:r>
            <a:r>
              <a:rPr lang="en-US" altLang="zh-CN"/>
              <a:t>**</a:t>
            </a:r>
            <a:r>
              <a:rPr lang="zh-CN" altLang="en-US"/>
              <a:t>功能描述（</a:t>
            </a:r>
            <a:r>
              <a:rPr lang="en-US" altLang="zh-CN"/>
              <a:t>Description</a:t>
            </a:r>
            <a:r>
              <a:rPr lang="zh-CN" altLang="en-US"/>
              <a:t>）</a:t>
            </a:r>
            <a:r>
              <a:rPr lang="en-US" altLang="zh-CN"/>
              <a:t>**</a:t>
            </a:r>
            <a:r>
              <a:rPr lang="zh-CN" altLang="en-US"/>
              <a:t>存入向量数据库中。这个数据库就相当于</a:t>
            </a:r>
            <a:r>
              <a:rPr lang="en-US" altLang="zh-CN"/>
              <a:t> Agent </a:t>
            </a:r>
            <a:r>
              <a:rPr lang="zh-CN" altLang="en-US"/>
              <a:t>的</a:t>
            </a:r>
            <a:r>
              <a:rPr lang="en-US" altLang="zh-CN"/>
              <a:t>“</a:t>
            </a:r>
            <a:r>
              <a:rPr lang="zh-CN" altLang="en-US"/>
              <a:t>长期肌肉记忆</a:t>
            </a:r>
            <a:r>
              <a:rPr lang="en-US" altLang="zh-CN"/>
              <a:t>”</a:t>
            </a:r>
            <a:r>
              <a:rPr lang="zh-CN" altLang="en-US"/>
              <a:t>。</a:t>
            </a:r>
            <a:endParaRPr lang="zh-CN" altLang="en-US"/>
          </a:p>
          <a:p>
            <a:endParaRPr lang="en-US" altLang="zh-CN"/>
          </a:p>
          <a:p>
            <a:r>
              <a:rPr lang="zh-CN" altLang="en-US"/>
              <a:t>随着游戏进程的推进，这个技能库会越来越大。这种内化不是静态的，而是伴随</a:t>
            </a:r>
            <a:r>
              <a:rPr lang="en-US" altLang="zh-CN"/>
              <a:t> Agent </a:t>
            </a:r>
            <a:r>
              <a:rPr lang="zh-CN" altLang="en-US"/>
              <a:t>探索过程终身学习（</a:t>
            </a:r>
            <a:r>
              <a:rPr lang="en-US" altLang="zh-CN"/>
              <a:t>Lifelong Learning</a:t>
            </a:r>
            <a:r>
              <a:rPr lang="zh-CN" altLang="en-US"/>
              <a:t>）的。</a:t>
            </a:r>
            <a:endParaRPr lang="zh-CN" altLang="en-US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0"/>
    </mc:Choice>
    <mc:Fallback>
      <p:transition/>
    </mc:Fallback>
  </mc:AlternateContent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grpSp>
        <p:nvGrpSpPr>
          <p:cNvPr id="2" name="组合 1"/>
          <p:cNvGrpSpPr/>
          <p:nvPr/>
        </p:nvGrpSpPr>
        <p:grpSpPr>
          <a:xfrm>
            <a:off x="-1386840" y="62865"/>
            <a:ext cx="8120380" cy="1326515"/>
            <a:chOff x="-2184" y="-721"/>
            <a:chExt cx="12788" cy="2089"/>
          </a:xfrm>
        </p:grpSpPr>
        <p:sp>
          <p:nvSpPr>
            <p:cNvPr id="3" name="TextBox 8"/>
            <p:cNvSpPr txBox="1"/>
            <p:nvPr/>
          </p:nvSpPr>
          <p:spPr>
            <a:xfrm>
              <a:off x="-2184" y="-721"/>
              <a:ext cx="12788" cy="1598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p>
              <a:pPr algn="ctr"/>
              <a:r>
                <a:rPr lang="en-US" sz="6000" b="1" spc="600" dirty="0" smtClean="0">
                  <a:solidFill>
                    <a:schemeClr val="bg1">
                      <a:lumMod val="95000"/>
                    </a:schemeClr>
                  </a:solidFill>
                  <a:latin typeface="庞门正道标题体" panose="02010600030101010101" charset="-122"/>
                  <a:ea typeface="庞门正道标题体" panose="02010600030101010101" charset="-122"/>
                  <a:cs typeface="Montserrat" panose="00000500000000000000" pitchFamily="50" charset="0"/>
                </a:rPr>
                <a:t>MINIMALIST</a:t>
              </a:r>
              <a:endParaRPr lang="en-US" sz="6000" b="1" spc="600" dirty="0" smtClean="0">
                <a:solidFill>
                  <a:schemeClr val="bg1">
                    <a:lumMod val="95000"/>
                  </a:schemeClr>
                </a:solidFill>
                <a:latin typeface="庞门正道标题体" panose="02010600030101010101" charset="-122"/>
                <a:ea typeface="庞门正道标题体" panose="02010600030101010101" charset="-122"/>
                <a:cs typeface="Montserrat" panose="00000500000000000000" pitchFamily="50" charset="0"/>
              </a:endParaRPr>
            </a:p>
          </p:txBody>
        </p:sp>
        <p:sp>
          <p:nvSpPr>
            <p:cNvPr id="24" name="TextBox 9"/>
            <p:cNvSpPr txBox="1"/>
            <p:nvPr/>
          </p:nvSpPr>
          <p:spPr>
            <a:xfrm>
              <a:off x="-1247" y="-166"/>
              <a:ext cx="10932" cy="130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p>
              <a:pPr algn="ctr"/>
              <a:r>
                <a:rPr lang="zh-CN" altLang="en-US" sz="4800" b="1" spc="600" dirty="0" smtClean="0">
                  <a:solidFill>
                    <a:schemeClr val="tx1"/>
                  </a:solidFill>
                  <a:latin typeface="方正明尚简体" panose="02000000000000000000" charset="-122"/>
                  <a:ea typeface="方正明尚简体" panose="02000000000000000000" charset="-122"/>
                  <a:cs typeface="Montserrat" panose="00000500000000000000" pitchFamily="50" charset="0"/>
                </a:rPr>
                <a:t>三大设计</a:t>
              </a:r>
              <a:r>
                <a:rPr lang="zh-CN" altLang="en-US" sz="4800" b="1" spc="600" dirty="0" smtClean="0">
                  <a:solidFill>
                    <a:schemeClr val="tx1"/>
                  </a:solidFill>
                  <a:latin typeface="方正明尚简体" panose="02000000000000000000" charset="-122"/>
                  <a:ea typeface="方正明尚简体" panose="02000000000000000000" charset="-122"/>
                  <a:cs typeface="Montserrat" panose="00000500000000000000" pitchFamily="50" charset="0"/>
                </a:rPr>
                <a:t>模式</a:t>
              </a:r>
              <a:endParaRPr lang="zh-CN" altLang="en-US" sz="4800" b="1" spc="600" dirty="0" smtClean="0">
                <a:solidFill>
                  <a:schemeClr val="tx1"/>
                </a:solidFill>
                <a:latin typeface="方正明尚简体" panose="02000000000000000000" charset="-122"/>
                <a:ea typeface="方正明尚简体" panose="02000000000000000000" charset="-122"/>
                <a:cs typeface="Montserrat" panose="00000500000000000000" pitchFamily="50" charset="0"/>
              </a:endParaRPr>
            </a:p>
          </p:txBody>
        </p:sp>
        <p:sp>
          <p:nvSpPr>
            <p:cNvPr id="25" name="TextBox 12"/>
            <p:cNvSpPr txBox="1"/>
            <p:nvPr/>
          </p:nvSpPr>
          <p:spPr>
            <a:xfrm>
              <a:off x="291" y="799"/>
              <a:ext cx="7856" cy="56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p>
              <a:pPr algn="ctr">
                <a:lnSpc>
                  <a:spcPct val="150000"/>
                </a:lnSpc>
              </a:pPr>
              <a:r>
                <a:rPr lang="en-US" baseline="-25000" dirty="0" smtClean="0">
                  <a:latin typeface="Dotum" panose="020B0600000101010101" charset="-127"/>
                  <a:ea typeface="Dotum" panose="020B0600000101010101" charset="-127"/>
                  <a:cs typeface="+mj-lt"/>
                </a:rPr>
                <a:t>minimal presentation template</a:t>
              </a:r>
              <a:endParaRPr lang="en-US" baseline="-25000" dirty="0" smtClean="0">
                <a:latin typeface="Dotum" panose="020B0600000101010101" charset="-127"/>
                <a:ea typeface="Dotum" panose="020B0600000101010101" charset="-127"/>
                <a:cs typeface="+mj-lt"/>
              </a:endParaRPr>
            </a:p>
          </p:txBody>
        </p:sp>
      </p:grpSp>
      <p:sp>
        <p:nvSpPr>
          <p:cNvPr id="5" name="文本框 4"/>
          <p:cNvSpPr txBox="1"/>
          <p:nvPr/>
        </p:nvSpPr>
        <p:spPr>
          <a:xfrm>
            <a:off x="1012190" y="2028825"/>
            <a:ext cx="10167620" cy="30670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zh-CN" altLang="en-US" sz="1400"/>
              <a:t>论文：</a:t>
            </a:r>
            <a:r>
              <a:rPr lang="en-US" altLang="zh-CN" sz="1400"/>
              <a:t>Voyager: An Open-Ended Embodied Agent with Large Language Models </a:t>
            </a:r>
            <a:endParaRPr lang="en-US" altLang="zh-CN" sz="1400"/>
          </a:p>
        </p:txBody>
      </p:sp>
      <p:sp>
        <p:nvSpPr>
          <p:cNvPr id="14" name="文本框 13"/>
          <p:cNvSpPr txBox="1"/>
          <p:nvPr/>
        </p:nvSpPr>
        <p:spPr>
          <a:xfrm>
            <a:off x="547370" y="1695450"/>
            <a:ext cx="532066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b="1">
                <a:sym typeface="+mn-ea"/>
              </a:rPr>
              <a:t>2. </a:t>
            </a:r>
            <a:r>
              <a:rPr lang="zh-CN" altLang="en-US" b="1">
                <a:sym typeface="+mn-ea"/>
              </a:rPr>
              <a:t>自发内化调用模式</a:t>
            </a:r>
            <a:r>
              <a:rPr lang="zh-CN" altLang="en-US" b="1">
                <a:solidFill>
                  <a:srgbClr val="FF0000"/>
                </a:solidFill>
                <a:sym typeface="+mn-ea"/>
              </a:rPr>
              <a:t>应用</a:t>
            </a:r>
            <a:endParaRPr lang="zh-CN" altLang="en-US" b="1">
              <a:solidFill>
                <a:srgbClr val="FF0000"/>
              </a:solidFill>
              <a:sym typeface="+mn-ea"/>
            </a:endParaRPr>
          </a:p>
        </p:txBody>
      </p:sp>
      <p:sp>
        <p:nvSpPr>
          <p:cNvPr id="4" name="文本框 3"/>
          <p:cNvSpPr txBox="1"/>
          <p:nvPr/>
        </p:nvSpPr>
        <p:spPr>
          <a:xfrm>
            <a:off x="1097280" y="2586990"/>
            <a:ext cx="10174605" cy="369252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/>
              <a:t>3. </a:t>
            </a:r>
            <a:r>
              <a:rPr lang="zh-CN" altLang="en-US"/>
              <a:t>上下文感知的自发检索与组合</a:t>
            </a:r>
            <a:r>
              <a:rPr lang="en-US" altLang="zh-CN"/>
              <a:t> (In-context Retrieval &amp; Composition)</a:t>
            </a:r>
            <a:endParaRPr lang="en-US" altLang="zh-CN"/>
          </a:p>
          <a:p>
            <a:r>
              <a:rPr lang="en-US" altLang="zh-CN"/>
              <a:t>Voyager </a:t>
            </a:r>
            <a:r>
              <a:rPr lang="zh-CN" altLang="en-US"/>
              <a:t>是如何体现</a:t>
            </a:r>
            <a:r>
              <a:rPr lang="en-US" altLang="zh-CN"/>
              <a:t>“</a:t>
            </a:r>
            <a:r>
              <a:rPr lang="zh-CN" altLang="en-US"/>
              <a:t>自发调用</a:t>
            </a:r>
            <a:r>
              <a:rPr lang="en-US" altLang="zh-CN"/>
              <a:t>”</a:t>
            </a:r>
            <a:r>
              <a:rPr lang="zh-CN" altLang="en-US"/>
              <a:t>的？它不依赖人类编写的多步路由脚本，而是通过环境感知来触发回忆。</a:t>
            </a:r>
            <a:endParaRPr lang="zh-CN" altLang="en-US"/>
          </a:p>
          <a:p>
            <a:endParaRPr lang="en-US" altLang="zh-CN"/>
          </a:p>
          <a:p>
            <a:r>
              <a:rPr lang="zh-CN" altLang="en-US"/>
              <a:t>论述逻辑：</a:t>
            </a:r>
            <a:r>
              <a:rPr lang="en-US" altLang="zh-CN"/>
              <a:t> </a:t>
            </a:r>
            <a:r>
              <a:rPr lang="zh-CN" altLang="en-US"/>
              <a:t>当系统给</a:t>
            </a:r>
            <a:r>
              <a:rPr lang="en-US" altLang="zh-CN"/>
              <a:t> Voyager </a:t>
            </a:r>
            <a:r>
              <a:rPr lang="zh-CN" altLang="en-US"/>
              <a:t>下达一个复杂目标（例如</a:t>
            </a:r>
            <a:r>
              <a:rPr lang="en-US" altLang="zh-CN"/>
              <a:t>“</a:t>
            </a:r>
            <a:r>
              <a:rPr lang="zh-CN" altLang="en-US"/>
              <a:t>制作一把石镐</a:t>
            </a:r>
            <a:r>
              <a:rPr lang="en-US" altLang="zh-CN"/>
              <a:t>”</a:t>
            </a:r>
            <a:r>
              <a:rPr lang="zh-CN" altLang="en-US"/>
              <a:t>），或者</a:t>
            </a:r>
            <a:r>
              <a:rPr lang="en-US" altLang="zh-CN"/>
              <a:t> Voyager </a:t>
            </a:r>
            <a:r>
              <a:rPr lang="zh-CN" altLang="en-US"/>
              <a:t>观察到当前环境（身处矿洞），它会提取当前的状态特征，去向量数据库中进行相似度检索。</a:t>
            </a:r>
            <a:endParaRPr lang="zh-CN" altLang="en-US"/>
          </a:p>
          <a:p>
            <a:endParaRPr lang="en-US" altLang="zh-CN"/>
          </a:p>
          <a:p>
            <a:r>
              <a:rPr lang="zh-CN" altLang="en-US"/>
              <a:t>它可能会自发检索出之前存入的三个基础</a:t>
            </a:r>
            <a:r>
              <a:rPr lang="en-US" altLang="zh-CN"/>
              <a:t> Skill</a:t>
            </a:r>
            <a:r>
              <a:rPr lang="zh-CN" altLang="en-US"/>
              <a:t>：</a:t>
            </a:r>
            <a:r>
              <a:rPr lang="en-US" altLang="zh-CN"/>
              <a:t>mine_wood()</a:t>
            </a:r>
            <a:r>
              <a:rPr lang="zh-CN" altLang="en-US"/>
              <a:t>（砍木头）、</a:t>
            </a:r>
            <a:r>
              <a:rPr lang="en-US" altLang="zh-CN"/>
              <a:t>craft_planks()</a:t>
            </a:r>
            <a:r>
              <a:rPr lang="zh-CN" altLang="en-US"/>
              <a:t>（合成木板）和</a:t>
            </a:r>
            <a:r>
              <a:rPr lang="en-US" altLang="zh-CN"/>
              <a:t> mine_stone()</a:t>
            </a:r>
            <a:r>
              <a:rPr lang="zh-CN" altLang="en-US"/>
              <a:t>（挖石头）。</a:t>
            </a:r>
            <a:endParaRPr lang="zh-CN" altLang="en-US"/>
          </a:p>
          <a:p>
            <a:endParaRPr lang="en-US" altLang="zh-CN"/>
          </a:p>
          <a:p>
            <a:r>
              <a:rPr lang="zh-CN" altLang="en-US"/>
              <a:t>最精彩的部分在于组装：</a:t>
            </a:r>
            <a:r>
              <a:rPr lang="en-US" altLang="zh-CN"/>
              <a:t> LLM </a:t>
            </a:r>
            <a:r>
              <a:rPr lang="zh-CN" altLang="en-US"/>
              <a:t>读取这三个检索出来的底层</a:t>
            </a:r>
            <a:r>
              <a:rPr lang="en-US" altLang="zh-CN"/>
              <a:t> Skill </a:t>
            </a:r>
            <a:r>
              <a:rPr lang="zh-CN" altLang="en-US"/>
              <a:t>代码，自发编写一段新的控制逻辑（</a:t>
            </a:r>
            <a:r>
              <a:rPr lang="en-US" altLang="zh-CN"/>
              <a:t>Wrapper Code</a:t>
            </a:r>
            <a:r>
              <a:rPr lang="zh-CN" altLang="en-US"/>
              <a:t>），将这三个老技能串联起来，完成</a:t>
            </a:r>
            <a:r>
              <a:rPr lang="en-US" altLang="zh-CN"/>
              <a:t>“</a:t>
            </a:r>
            <a:r>
              <a:rPr lang="zh-CN" altLang="en-US"/>
              <a:t>制作石镐</a:t>
            </a:r>
            <a:r>
              <a:rPr lang="en-US" altLang="zh-CN"/>
              <a:t>”</a:t>
            </a:r>
            <a:r>
              <a:rPr lang="zh-CN" altLang="en-US"/>
              <a:t>的新任务。如果没有这个动态组装的过程，自发调用就无从谈起。</a:t>
            </a:r>
            <a:endParaRPr lang="zh-CN" altLang="en-US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0"/>
    </mc:Choice>
    <mc:Fallback>
      <p:transition/>
    </mc:Fallback>
  </mc:AlternateContent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grpSp>
        <p:nvGrpSpPr>
          <p:cNvPr id="2" name="组合 1"/>
          <p:cNvGrpSpPr/>
          <p:nvPr/>
        </p:nvGrpSpPr>
        <p:grpSpPr>
          <a:xfrm>
            <a:off x="-1386840" y="62865"/>
            <a:ext cx="8120380" cy="1326515"/>
            <a:chOff x="-2184" y="-721"/>
            <a:chExt cx="12788" cy="2089"/>
          </a:xfrm>
        </p:grpSpPr>
        <p:sp>
          <p:nvSpPr>
            <p:cNvPr id="3" name="TextBox 8"/>
            <p:cNvSpPr txBox="1"/>
            <p:nvPr/>
          </p:nvSpPr>
          <p:spPr>
            <a:xfrm>
              <a:off x="-2184" y="-721"/>
              <a:ext cx="12788" cy="1598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p>
              <a:pPr algn="ctr"/>
              <a:r>
                <a:rPr lang="en-US" sz="6000" b="1" spc="600" dirty="0" smtClean="0">
                  <a:solidFill>
                    <a:schemeClr val="bg1">
                      <a:lumMod val="95000"/>
                    </a:schemeClr>
                  </a:solidFill>
                  <a:latin typeface="庞门正道标题体" panose="02010600030101010101" charset="-122"/>
                  <a:ea typeface="庞门正道标题体" panose="02010600030101010101" charset="-122"/>
                  <a:cs typeface="Montserrat" panose="00000500000000000000" pitchFamily="50" charset="0"/>
                </a:rPr>
                <a:t>MINIMALIST</a:t>
              </a:r>
              <a:endParaRPr lang="en-US" sz="6000" b="1" spc="600" dirty="0" smtClean="0">
                <a:solidFill>
                  <a:schemeClr val="bg1">
                    <a:lumMod val="95000"/>
                  </a:schemeClr>
                </a:solidFill>
                <a:latin typeface="庞门正道标题体" panose="02010600030101010101" charset="-122"/>
                <a:ea typeface="庞门正道标题体" panose="02010600030101010101" charset="-122"/>
                <a:cs typeface="Montserrat" panose="00000500000000000000" pitchFamily="50" charset="0"/>
              </a:endParaRPr>
            </a:p>
          </p:txBody>
        </p:sp>
        <p:sp>
          <p:nvSpPr>
            <p:cNvPr id="24" name="TextBox 9"/>
            <p:cNvSpPr txBox="1"/>
            <p:nvPr/>
          </p:nvSpPr>
          <p:spPr>
            <a:xfrm>
              <a:off x="-1247" y="-166"/>
              <a:ext cx="10932" cy="130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p>
              <a:pPr algn="ctr"/>
              <a:r>
                <a:rPr lang="zh-CN" altLang="en-US" sz="4800" b="1" spc="600" dirty="0" smtClean="0">
                  <a:solidFill>
                    <a:schemeClr val="tx1"/>
                  </a:solidFill>
                  <a:latin typeface="方正明尚简体" panose="02000000000000000000" charset="-122"/>
                  <a:ea typeface="方正明尚简体" panose="02000000000000000000" charset="-122"/>
                  <a:cs typeface="Montserrat" panose="00000500000000000000" pitchFamily="50" charset="0"/>
                </a:rPr>
                <a:t>三大设计</a:t>
              </a:r>
              <a:r>
                <a:rPr lang="zh-CN" altLang="en-US" sz="4800" b="1" spc="600" dirty="0" smtClean="0">
                  <a:solidFill>
                    <a:schemeClr val="tx1"/>
                  </a:solidFill>
                  <a:latin typeface="方正明尚简体" panose="02000000000000000000" charset="-122"/>
                  <a:ea typeface="方正明尚简体" panose="02000000000000000000" charset="-122"/>
                  <a:cs typeface="Montserrat" panose="00000500000000000000" pitchFamily="50" charset="0"/>
                </a:rPr>
                <a:t>模式</a:t>
              </a:r>
              <a:endParaRPr lang="zh-CN" altLang="en-US" sz="4800" b="1" spc="600" dirty="0" smtClean="0">
                <a:solidFill>
                  <a:schemeClr val="tx1"/>
                </a:solidFill>
                <a:latin typeface="方正明尚简体" panose="02000000000000000000" charset="-122"/>
                <a:ea typeface="方正明尚简体" panose="02000000000000000000" charset="-122"/>
                <a:cs typeface="Montserrat" panose="00000500000000000000" pitchFamily="50" charset="0"/>
              </a:endParaRPr>
            </a:p>
          </p:txBody>
        </p:sp>
        <p:sp>
          <p:nvSpPr>
            <p:cNvPr id="25" name="TextBox 12"/>
            <p:cNvSpPr txBox="1"/>
            <p:nvPr/>
          </p:nvSpPr>
          <p:spPr>
            <a:xfrm>
              <a:off x="291" y="799"/>
              <a:ext cx="7856" cy="56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p>
              <a:pPr algn="ctr">
                <a:lnSpc>
                  <a:spcPct val="150000"/>
                </a:lnSpc>
              </a:pPr>
              <a:r>
                <a:rPr lang="en-US" baseline="-25000" dirty="0" smtClean="0">
                  <a:latin typeface="Dotum" panose="020B0600000101010101" charset="-127"/>
                  <a:ea typeface="Dotum" panose="020B0600000101010101" charset="-127"/>
                  <a:cs typeface="+mj-lt"/>
                </a:rPr>
                <a:t>minimal presentation template</a:t>
              </a:r>
              <a:endParaRPr lang="en-US" baseline="-25000" dirty="0" smtClean="0">
                <a:latin typeface="Dotum" panose="020B0600000101010101" charset="-127"/>
                <a:ea typeface="Dotum" panose="020B0600000101010101" charset="-127"/>
                <a:cs typeface="+mj-lt"/>
              </a:endParaRPr>
            </a:p>
          </p:txBody>
        </p:sp>
      </p:grpSp>
      <p:sp>
        <p:nvSpPr>
          <p:cNvPr id="14" name="文本框 13"/>
          <p:cNvSpPr txBox="1"/>
          <p:nvPr/>
        </p:nvSpPr>
        <p:spPr>
          <a:xfrm>
            <a:off x="547370" y="1695450"/>
            <a:ext cx="532066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b="1">
                <a:sym typeface="+mn-ea"/>
              </a:rPr>
              <a:t>2. </a:t>
            </a:r>
            <a:r>
              <a:rPr lang="zh-CN" altLang="en-US" b="1">
                <a:sym typeface="+mn-ea"/>
              </a:rPr>
              <a:t>自发内化调用模式</a:t>
            </a:r>
            <a:r>
              <a:rPr lang="zh-CN" altLang="en-US" b="1">
                <a:solidFill>
                  <a:srgbClr val="0070C0"/>
                </a:solidFill>
                <a:sym typeface="+mn-ea"/>
              </a:rPr>
              <a:t>现状</a:t>
            </a:r>
            <a:r>
              <a:rPr lang="en-US" altLang="zh-CN" b="1">
                <a:solidFill>
                  <a:srgbClr val="0070C0"/>
                </a:solidFill>
                <a:sym typeface="+mn-ea"/>
              </a:rPr>
              <a:t> : </a:t>
            </a:r>
            <a:r>
              <a:rPr lang="zh-CN" altLang="en-US" b="1">
                <a:solidFill>
                  <a:srgbClr val="0070C0"/>
                </a:solidFill>
                <a:sym typeface="+mn-ea"/>
              </a:rPr>
              <a:t>底层火热，应用层谨慎</a:t>
            </a:r>
            <a:endParaRPr lang="zh-CN" altLang="en-US" b="1">
              <a:solidFill>
                <a:srgbClr val="0070C0"/>
              </a:solidFill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1332230" y="2625090"/>
            <a:ext cx="10106660" cy="258445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/>
              <a:t>1. </a:t>
            </a:r>
            <a:r>
              <a:rPr lang="zh-CN" altLang="en-US"/>
              <a:t>边缘计算与专用</a:t>
            </a:r>
            <a:r>
              <a:rPr lang="en-US" altLang="zh-CN"/>
              <a:t> NPU </a:t>
            </a:r>
            <a:r>
              <a:rPr lang="zh-CN" altLang="en-US"/>
              <a:t>硬件部署场景</a:t>
            </a:r>
            <a:endParaRPr lang="zh-CN" altLang="en-US"/>
          </a:p>
          <a:p>
            <a:r>
              <a:rPr lang="zh-CN" altLang="en-US"/>
              <a:t>在受限的硬件环境中运行</a:t>
            </a:r>
            <a:r>
              <a:rPr lang="en-US" altLang="zh-CN"/>
              <a:t> Agent</a:t>
            </a:r>
            <a:r>
              <a:rPr lang="zh-CN" altLang="en-US"/>
              <a:t>，上下文窗口（</a:t>
            </a:r>
            <a:r>
              <a:rPr lang="en-US" altLang="zh-CN"/>
              <a:t>Context Window</a:t>
            </a:r>
            <a:r>
              <a:rPr lang="zh-CN" altLang="en-US"/>
              <a:t>）和显存带宽是极其宝贵的资源。传统的</a:t>
            </a:r>
            <a:r>
              <a:rPr lang="en-US" altLang="zh-CN"/>
              <a:t> ReAct </a:t>
            </a:r>
            <a:r>
              <a:rPr lang="zh-CN" altLang="en-US"/>
              <a:t>或</a:t>
            </a:r>
            <a:r>
              <a:rPr lang="en-US" altLang="zh-CN"/>
              <a:t> JSON Function Calling </a:t>
            </a:r>
            <a:r>
              <a:rPr lang="zh-CN" altLang="en-US"/>
              <a:t>模式需要将大量的工具描述、</a:t>
            </a:r>
            <a:r>
              <a:rPr lang="en-US" altLang="zh-CN"/>
              <a:t>API </a:t>
            </a:r>
            <a:r>
              <a:rPr lang="zh-CN" altLang="en-US"/>
              <a:t>参数规范以及模型的思考过程（</a:t>
            </a:r>
            <a:r>
              <a:rPr lang="en-US" altLang="zh-CN"/>
              <a:t>Chain of Thought</a:t>
            </a:r>
            <a:r>
              <a:rPr lang="zh-CN" altLang="en-US"/>
              <a:t>）塞进</a:t>
            </a:r>
            <a:r>
              <a:rPr lang="en-US" altLang="zh-CN"/>
              <a:t> Prompt </a:t>
            </a:r>
            <a:r>
              <a:rPr lang="zh-CN" altLang="en-US"/>
              <a:t>里，这会导致</a:t>
            </a:r>
            <a:r>
              <a:rPr lang="en-US" altLang="zh-CN"/>
              <a:t> Token </a:t>
            </a:r>
            <a:r>
              <a:rPr lang="zh-CN" altLang="en-US"/>
              <a:t>消耗急剧膨胀，进而拖慢首字响应时间（</a:t>
            </a:r>
            <a:r>
              <a:rPr lang="en-US" altLang="zh-CN"/>
              <a:t>TTFT</a:t>
            </a:r>
            <a:r>
              <a:rPr lang="zh-CN" altLang="en-US"/>
              <a:t>）并榨干硬件算力。</a:t>
            </a:r>
            <a:endParaRPr lang="zh-CN" altLang="en-US"/>
          </a:p>
          <a:p>
            <a:endParaRPr lang="en-US" altLang="zh-CN"/>
          </a:p>
          <a:p>
            <a:r>
              <a:rPr lang="zh-CN" altLang="en-US"/>
              <a:t>当我们需要在特定的</a:t>
            </a:r>
            <a:r>
              <a:rPr lang="en-US" altLang="zh-CN"/>
              <a:t> NPU </a:t>
            </a:r>
            <a:r>
              <a:rPr lang="zh-CN" altLang="en-US"/>
              <a:t>架构上部署轻量级模型时，通过自监督微调将高频工具内化，可以彻底抛弃冗长的系统提示词。模型只需凭借</a:t>
            </a:r>
            <a:r>
              <a:rPr lang="en-US" altLang="zh-CN"/>
              <a:t>“</a:t>
            </a:r>
            <a:r>
              <a:rPr lang="zh-CN" altLang="en-US"/>
              <a:t>本能</a:t>
            </a:r>
            <a:r>
              <a:rPr lang="en-US" altLang="zh-CN"/>
              <a:t>”</a:t>
            </a:r>
            <a:r>
              <a:rPr lang="zh-CN" altLang="en-US"/>
              <a:t>输出几个特定的控制字符就能触发外部调用。这对于算力敏感的端侧设备来说，是实现流畅体验的核心手段。</a:t>
            </a:r>
            <a:endParaRPr lang="zh-CN" altLang="en-US"/>
          </a:p>
        </p:txBody>
      </p:sp>
      <p:sp>
        <p:nvSpPr>
          <p:cNvPr id="7" name="文本框 6"/>
          <p:cNvSpPr txBox="1"/>
          <p:nvPr/>
        </p:nvSpPr>
        <p:spPr>
          <a:xfrm>
            <a:off x="1051560" y="2236470"/>
            <a:ext cx="4064000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zh-CN" altLang="en-US" b="1"/>
              <a:t>适用场景：</a:t>
            </a:r>
            <a:endParaRPr lang="zh-CN" altLang="en-US" b="1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0"/>
    </mc:Choice>
    <mc:Fallback>
      <p:transition/>
    </mc:Fallback>
  </mc:AlternateContent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grpSp>
        <p:nvGrpSpPr>
          <p:cNvPr id="2" name="组合 1"/>
          <p:cNvGrpSpPr/>
          <p:nvPr/>
        </p:nvGrpSpPr>
        <p:grpSpPr>
          <a:xfrm>
            <a:off x="-1386840" y="62865"/>
            <a:ext cx="8120380" cy="1326515"/>
            <a:chOff x="-2184" y="-721"/>
            <a:chExt cx="12788" cy="2089"/>
          </a:xfrm>
        </p:grpSpPr>
        <p:sp>
          <p:nvSpPr>
            <p:cNvPr id="3" name="TextBox 8"/>
            <p:cNvSpPr txBox="1"/>
            <p:nvPr/>
          </p:nvSpPr>
          <p:spPr>
            <a:xfrm>
              <a:off x="-2184" y="-721"/>
              <a:ext cx="12788" cy="1598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p>
              <a:pPr algn="ctr"/>
              <a:r>
                <a:rPr lang="en-US" sz="6000" b="1" spc="600" dirty="0" smtClean="0">
                  <a:solidFill>
                    <a:schemeClr val="bg1">
                      <a:lumMod val="95000"/>
                    </a:schemeClr>
                  </a:solidFill>
                  <a:latin typeface="庞门正道标题体" panose="02010600030101010101" charset="-122"/>
                  <a:ea typeface="庞门正道标题体" panose="02010600030101010101" charset="-122"/>
                  <a:cs typeface="Montserrat" panose="00000500000000000000" pitchFamily="50" charset="0"/>
                </a:rPr>
                <a:t>MINIMALIST</a:t>
              </a:r>
              <a:endParaRPr lang="en-US" sz="6000" b="1" spc="600" dirty="0" smtClean="0">
                <a:solidFill>
                  <a:schemeClr val="bg1">
                    <a:lumMod val="95000"/>
                  </a:schemeClr>
                </a:solidFill>
                <a:latin typeface="庞门正道标题体" panose="02010600030101010101" charset="-122"/>
                <a:ea typeface="庞门正道标题体" panose="02010600030101010101" charset="-122"/>
                <a:cs typeface="Montserrat" panose="00000500000000000000" pitchFamily="50" charset="0"/>
              </a:endParaRPr>
            </a:p>
          </p:txBody>
        </p:sp>
        <p:sp>
          <p:nvSpPr>
            <p:cNvPr id="24" name="TextBox 9"/>
            <p:cNvSpPr txBox="1"/>
            <p:nvPr/>
          </p:nvSpPr>
          <p:spPr>
            <a:xfrm>
              <a:off x="-1247" y="-166"/>
              <a:ext cx="10932" cy="130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p>
              <a:pPr algn="ctr"/>
              <a:r>
                <a:rPr lang="zh-CN" altLang="en-US" sz="4800" b="1" spc="600" dirty="0" smtClean="0">
                  <a:solidFill>
                    <a:schemeClr val="tx1"/>
                  </a:solidFill>
                  <a:latin typeface="方正明尚简体" panose="02000000000000000000" charset="-122"/>
                  <a:ea typeface="方正明尚简体" panose="02000000000000000000" charset="-122"/>
                  <a:cs typeface="Montserrat" panose="00000500000000000000" pitchFamily="50" charset="0"/>
                </a:rPr>
                <a:t>三大设计</a:t>
              </a:r>
              <a:r>
                <a:rPr lang="zh-CN" altLang="en-US" sz="4800" b="1" spc="600" dirty="0" smtClean="0">
                  <a:solidFill>
                    <a:schemeClr val="tx1"/>
                  </a:solidFill>
                  <a:latin typeface="方正明尚简体" panose="02000000000000000000" charset="-122"/>
                  <a:ea typeface="方正明尚简体" panose="02000000000000000000" charset="-122"/>
                  <a:cs typeface="Montserrat" panose="00000500000000000000" pitchFamily="50" charset="0"/>
                </a:rPr>
                <a:t>模式</a:t>
              </a:r>
              <a:endParaRPr lang="zh-CN" altLang="en-US" sz="4800" b="1" spc="600" dirty="0" smtClean="0">
                <a:solidFill>
                  <a:schemeClr val="tx1"/>
                </a:solidFill>
                <a:latin typeface="方正明尚简体" panose="02000000000000000000" charset="-122"/>
                <a:ea typeface="方正明尚简体" panose="02000000000000000000" charset="-122"/>
                <a:cs typeface="Montserrat" panose="00000500000000000000" pitchFamily="50" charset="0"/>
              </a:endParaRPr>
            </a:p>
          </p:txBody>
        </p:sp>
        <p:sp>
          <p:nvSpPr>
            <p:cNvPr id="25" name="TextBox 12"/>
            <p:cNvSpPr txBox="1"/>
            <p:nvPr/>
          </p:nvSpPr>
          <p:spPr>
            <a:xfrm>
              <a:off x="291" y="799"/>
              <a:ext cx="7856" cy="56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p>
              <a:pPr algn="ctr">
                <a:lnSpc>
                  <a:spcPct val="150000"/>
                </a:lnSpc>
              </a:pPr>
              <a:r>
                <a:rPr lang="en-US" baseline="-25000" dirty="0" smtClean="0">
                  <a:latin typeface="Dotum" panose="020B0600000101010101" charset="-127"/>
                  <a:ea typeface="Dotum" panose="020B0600000101010101" charset="-127"/>
                  <a:cs typeface="+mj-lt"/>
                </a:rPr>
                <a:t>minimal presentation template</a:t>
              </a:r>
              <a:endParaRPr lang="en-US" baseline="-25000" dirty="0" smtClean="0">
                <a:latin typeface="Dotum" panose="020B0600000101010101" charset="-127"/>
                <a:ea typeface="Dotum" panose="020B0600000101010101" charset="-127"/>
                <a:cs typeface="+mj-lt"/>
              </a:endParaRPr>
            </a:p>
          </p:txBody>
        </p:sp>
      </p:grpSp>
      <p:sp>
        <p:nvSpPr>
          <p:cNvPr id="14" name="文本框 13"/>
          <p:cNvSpPr txBox="1"/>
          <p:nvPr/>
        </p:nvSpPr>
        <p:spPr>
          <a:xfrm>
            <a:off x="547370" y="1695450"/>
            <a:ext cx="532066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b="1">
                <a:sym typeface="+mn-ea"/>
              </a:rPr>
              <a:t>2. </a:t>
            </a:r>
            <a:r>
              <a:rPr lang="zh-CN" altLang="en-US" b="1">
                <a:sym typeface="+mn-ea"/>
              </a:rPr>
              <a:t>自发内化调用模式</a:t>
            </a:r>
            <a:r>
              <a:rPr lang="zh-CN" altLang="en-US" b="1">
                <a:solidFill>
                  <a:srgbClr val="0070C0"/>
                </a:solidFill>
                <a:sym typeface="+mn-ea"/>
              </a:rPr>
              <a:t>现状</a:t>
            </a:r>
            <a:r>
              <a:rPr lang="en-US" altLang="zh-CN" b="1">
                <a:solidFill>
                  <a:srgbClr val="0070C0"/>
                </a:solidFill>
                <a:sym typeface="+mn-ea"/>
              </a:rPr>
              <a:t> : </a:t>
            </a:r>
            <a:r>
              <a:rPr lang="zh-CN" altLang="en-US" b="1">
                <a:solidFill>
                  <a:srgbClr val="0070C0"/>
                </a:solidFill>
                <a:sym typeface="+mn-ea"/>
              </a:rPr>
              <a:t>底层火热，应用层谨慎</a:t>
            </a:r>
            <a:endParaRPr lang="zh-CN" altLang="en-US" b="1">
              <a:solidFill>
                <a:srgbClr val="0070C0"/>
              </a:solidFill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1332230" y="2625090"/>
            <a:ext cx="10106660" cy="230695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/>
              <a:t>2. </a:t>
            </a:r>
            <a:r>
              <a:rPr lang="zh-CN" altLang="en-US"/>
              <a:t>具身智能（</a:t>
            </a:r>
            <a:r>
              <a:rPr lang="en-US" altLang="zh-CN"/>
              <a:t>Embodied AI</a:t>
            </a:r>
            <a:r>
              <a:rPr lang="zh-CN" altLang="en-US"/>
              <a:t>）与空间记忆索引</a:t>
            </a:r>
            <a:endParaRPr lang="zh-CN" altLang="en-US"/>
          </a:p>
          <a:p>
            <a:r>
              <a:rPr lang="zh-CN" altLang="en-US"/>
              <a:t>对于人形机器人或复杂的自动化系统，动作执行的延迟容忍度极低。当机器人在物理世界或复杂的数据图谱中进行导航时，它需要极其频繁地调用诸如</a:t>
            </a:r>
            <a:r>
              <a:rPr lang="en-US" altLang="zh-CN"/>
              <a:t>“</a:t>
            </a:r>
            <a:r>
              <a:rPr lang="zh-CN" altLang="en-US"/>
              <a:t>空间记忆检索</a:t>
            </a:r>
            <a:r>
              <a:rPr lang="en-US" altLang="zh-CN"/>
              <a:t>”</a:t>
            </a:r>
            <a:r>
              <a:rPr lang="zh-CN" altLang="en-US"/>
              <a:t>、</a:t>
            </a:r>
            <a:r>
              <a:rPr lang="en-US" altLang="zh-CN"/>
              <a:t>“</a:t>
            </a:r>
            <a:r>
              <a:rPr lang="zh-CN" altLang="en-US"/>
              <a:t>姿态调整引擎</a:t>
            </a:r>
            <a:r>
              <a:rPr lang="en-US" altLang="zh-CN"/>
              <a:t>”</a:t>
            </a:r>
            <a:r>
              <a:rPr lang="zh-CN" altLang="en-US"/>
              <a:t>或</a:t>
            </a:r>
            <a:r>
              <a:rPr lang="en-US" altLang="zh-CN"/>
              <a:t>“</a:t>
            </a:r>
            <a:r>
              <a:rPr lang="zh-CN" altLang="en-US"/>
              <a:t>视觉传感器抓取</a:t>
            </a:r>
            <a:r>
              <a:rPr lang="en-US" altLang="zh-CN"/>
              <a:t>”</a:t>
            </a:r>
            <a:r>
              <a:rPr lang="zh-CN" altLang="en-US"/>
              <a:t>等底层</a:t>
            </a:r>
            <a:r>
              <a:rPr lang="en-US" altLang="zh-CN"/>
              <a:t> Skill</a:t>
            </a:r>
            <a:r>
              <a:rPr lang="zh-CN" altLang="en-US"/>
              <a:t>。</a:t>
            </a:r>
            <a:endParaRPr lang="zh-CN" altLang="en-US"/>
          </a:p>
          <a:p>
            <a:endParaRPr lang="en-US" altLang="zh-CN"/>
          </a:p>
          <a:p>
            <a:r>
              <a:rPr lang="zh-CN" altLang="en-US"/>
              <a:t>如果采用传统的路由调度模式，机器人的每一个微小动作都需要经过</a:t>
            </a:r>
            <a:r>
              <a:rPr lang="en-US" altLang="zh-CN"/>
              <a:t>“</a:t>
            </a:r>
            <a:r>
              <a:rPr lang="zh-CN" altLang="en-US"/>
              <a:t>观察</a:t>
            </a:r>
            <a:r>
              <a:rPr lang="en-US" altLang="zh-CN"/>
              <a:t>-</a:t>
            </a:r>
            <a:r>
              <a:rPr lang="zh-CN" altLang="en-US"/>
              <a:t>思考</a:t>
            </a:r>
            <a:r>
              <a:rPr lang="en-US" altLang="zh-CN"/>
              <a:t>-</a:t>
            </a:r>
            <a:r>
              <a:rPr lang="zh-CN" altLang="en-US"/>
              <a:t>生成</a:t>
            </a:r>
            <a:r>
              <a:rPr lang="en-US" altLang="zh-CN"/>
              <a:t> JSON-</a:t>
            </a:r>
            <a:r>
              <a:rPr lang="zh-CN" altLang="en-US"/>
              <a:t>解析</a:t>
            </a:r>
            <a:r>
              <a:rPr lang="en-US" altLang="zh-CN"/>
              <a:t>-</a:t>
            </a:r>
            <a:r>
              <a:rPr lang="zh-CN" altLang="en-US"/>
              <a:t>执行</a:t>
            </a:r>
            <a:r>
              <a:rPr lang="en-US" altLang="zh-CN"/>
              <a:t>”</a:t>
            </a:r>
            <a:r>
              <a:rPr lang="zh-CN" altLang="en-US"/>
              <a:t>的漫长循环，这在现实中会导致动作卡顿或系统崩溃。将空间记忆索引和物理动作控制作为</a:t>
            </a:r>
            <a:r>
              <a:rPr lang="en-US" altLang="zh-CN"/>
              <a:t> Skill </a:t>
            </a:r>
            <a:r>
              <a:rPr lang="zh-CN" altLang="en-US"/>
              <a:t>深度内化到模型的生成流中，能让机器人表现出类似人类</a:t>
            </a:r>
            <a:r>
              <a:rPr lang="en-US" altLang="zh-CN"/>
              <a:t>“</a:t>
            </a:r>
            <a:r>
              <a:rPr lang="zh-CN" altLang="en-US"/>
              <a:t>肌肉记忆</a:t>
            </a:r>
            <a:r>
              <a:rPr lang="en-US" altLang="zh-CN"/>
              <a:t>”</a:t>
            </a:r>
            <a:r>
              <a:rPr lang="zh-CN" altLang="en-US"/>
              <a:t>或</a:t>
            </a:r>
            <a:r>
              <a:rPr lang="en-US" altLang="zh-CN"/>
              <a:t>“</a:t>
            </a:r>
            <a:r>
              <a:rPr lang="zh-CN" altLang="en-US"/>
              <a:t>直觉</a:t>
            </a:r>
            <a:r>
              <a:rPr lang="en-US" altLang="zh-CN"/>
              <a:t>”</a:t>
            </a:r>
            <a:r>
              <a:rPr lang="zh-CN" altLang="en-US"/>
              <a:t>的实时反应能力。</a:t>
            </a:r>
            <a:endParaRPr lang="zh-CN" altLang="en-US"/>
          </a:p>
        </p:txBody>
      </p:sp>
      <p:sp>
        <p:nvSpPr>
          <p:cNvPr id="7" name="文本框 6"/>
          <p:cNvSpPr txBox="1"/>
          <p:nvPr/>
        </p:nvSpPr>
        <p:spPr>
          <a:xfrm>
            <a:off x="1051560" y="2236470"/>
            <a:ext cx="4064000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zh-CN" altLang="en-US" b="1"/>
              <a:t>适用场景：</a:t>
            </a:r>
            <a:endParaRPr lang="zh-CN" altLang="en-US" b="1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0"/>
    </mc:Choice>
    <mc:Fallback>
      <p:transition/>
    </mc:Fallback>
  </mc:AlternateContent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grpSp>
        <p:nvGrpSpPr>
          <p:cNvPr id="2" name="组合 1"/>
          <p:cNvGrpSpPr/>
          <p:nvPr/>
        </p:nvGrpSpPr>
        <p:grpSpPr>
          <a:xfrm>
            <a:off x="-1386840" y="62865"/>
            <a:ext cx="8120380" cy="1326515"/>
            <a:chOff x="-2184" y="-721"/>
            <a:chExt cx="12788" cy="2089"/>
          </a:xfrm>
        </p:grpSpPr>
        <p:sp>
          <p:nvSpPr>
            <p:cNvPr id="3" name="TextBox 8"/>
            <p:cNvSpPr txBox="1"/>
            <p:nvPr/>
          </p:nvSpPr>
          <p:spPr>
            <a:xfrm>
              <a:off x="-2184" y="-721"/>
              <a:ext cx="12788" cy="1598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p>
              <a:pPr algn="ctr"/>
              <a:r>
                <a:rPr lang="en-US" sz="6000" b="1" spc="600" dirty="0" smtClean="0">
                  <a:solidFill>
                    <a:schemeClr val="bg1">
                      <a:lumMod val="95000"/>
                    </a:schemeClr>
                  </a:solidFill>
                  <a:latin typeface="庞门正道标题体" panose="02010600030101010101" charset="-122"/>
                  <a:ea typeface="庞门正道标题体" panose="02010600030101010101" charset="-122"/>
                  <a:cs typeface="Montserrat" panose="00000500000000000000" pitchFamily="50" charset="0"/>
                </a:rPr>
                <a:t>MINIMALIST</a:t>
              </a:r>
              <a:endParaRPr lang="en-US" sz="6000" b="1" spc="600" dirty="0" smtClean="0">
                <a:solidFill>
                  <a:schemeClr val="bg1">
                    <a:lumMod val="95000"/>
                  </a:schemeClr>
                </a:solidFill>
                <a:latin typeface="庞门正道标题体" panose="02010600030101010101" charset="-122"/>
                <a:ea typeface="庞门正道标题体" panose="02010600030101010101" charset="-122"/>
                <a:cs typeface="Montserrat" panose="00000500000000000000" pitchFamily="50" charset="0"/>
              </a:endParaRPr>
            </a:p>
          </p:txBody>
        </p:sp>
        <p:sp>
          <p:nvSpPr>
            <p:cNvPr id="24" name="TextBox 9"/>
            <p:cNvSpPr txBox="1"/>
            <p:nvPr/>
          </p:nvSpPr>
          <p:spPr>
            <a:xfrm>
              <a:off x="-1247" y="-166"/>
              <a:ext cx="10932" cy="130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p>
              <a:pPr algn="ctr"/>
              <a:r>
                <a:rPr lang="zh-CN" altLang="en-US" sz="4800" b="1" spc="600" dirty="0" smtClean="0">
                  <a:solidFill>
                    <a:schemeClr val="tx1"/>
                  </a:solidFill>
                  <a:latin typeface="方正明尚简体" panose="02000000000000000000" charset="-122"/>
                  <a:ea typeface="方正明尚简体" panose="02000000000000000000" charset="-122"/>
                  <a:cs typeface="Montserrat" panose="00000500000000000000" pitchFamily="50" charset="0"/>
                </a:rPr>
                <a:t>三大设计</a:t>
              </a:r>
              <a:r>
                <a:rPr lang="zh-CN" altLang="en-US" sz="4800" b="1" spc="600" dirty="0" smtClean="0">
                  <a:solidFill>
                    <a:schemeClr val="tx1"/>
                  </a:solidFill>
                  <a:latin typeface="方正明尚简体" panose="02000000000000000000" charset="-122"/>
                  <a:ea typeface="方正明尚简体" panose="02000000000000000000" charset="-122"/>
                  <a:cs typeface="Montserrat" panose="00000500000000000000" pitchFamily="50" charset="0"/>
                </a:rPr>
                <a:t>模式</a:t>
              </a:r>
              <a:endParaRPr lang="zh-CN" altLang="en-US" sz="4800" b="1" spc="600" dirty="0" smtClean="0">
                <a:solidFill>
                  <a:schemeClr val="tx1"/>
                </a:solidFill>
                <a:latin typeface="方正明尚简体" panose="02000000000000000000" charset="-122"/>
                <a:ea typeface="方正明尚简体" panose="02000000000000000000" charset="-122"/>
                <a:cs typeface="Montserrat" panose="00000500000000000000" pitchFamily="50" charset="0"/>
              </a:endParaRPr>
            </a:p>
          </p:txBody>
        </p:sp>
        <p:sp>
          <p:nvSpPr>
            <p:cNvPr id="25" name="TextBox 12"/>
            <p:cNvSpPr txBox="1"/>
            <p:nvPr/>
          </p:nvSpPr>
          <p:spPr>
            <a:xfrm>
              <a:off x="291" y="799"/>
              <a:ext cx="7856" cy="56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p>
              <a:pPr algn="ctr">
                <a:lnSpc>
                  <a:spcPct val="150000"/>
                </a:lnSpc>
              </a:pPr>
              <a:r>
                <a:rPr lang="en-US" baseline="-25000" dirty="0" smtClean="0">
                  <a:latin typeface="Dotum" panose="020B0600000101010101" charset="-127"/>
                  <a:ea typeface="Dotum" panose="020B0600000101010101" charset="-127"/>
                  <a:cs typeface="+mj-lt"/>
                </a:rPr>
                <a:t>minimal presentation template</a:t>
              </a:r>
              <a:endParaRPr lang="en-US" baseline="-25000" dirty="0" smtClean="0">
                <a:latin typeface="Dotum" panose="020B0600000101010101" charset="-127"/>
                <a:ea typeface="Dotum" panose="020B0600000101010101" charset="-127"/>
                <a:cs typeface="+mj-lt"/>
              </a:endParaRPr>
            </a:p>
          </p:txBody>
        </p:sp>
      </p:grpSp>
      <p:sp>
        <p:nvSpPr>
          <p:cNvPr id="14" name="文本框 13"/>
          <p:cNvSpPr txBox="1"/>
          <p:nvPr/>
        </p:nvSpPr>
        <p:spPr>
          <a:xfrm>
            <a:off x="547370" y="1695450"/>
            <a:ext cx="532066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b="1">
                <a:sym typeface="+mn-ea"/>
              </a:rPr>
              <a:t>2. </a:t>
            </a:r>
            <a:r>
              <a:rPr lang="zh-CN" altLang="en-US" b="1">
                <a:sym typeface="+mn-ea"/>
              </a:rPr>
              <a:t>自发内化调用模式</a:t>
            </a:r>
            <a:r>
              <a:rPr lang="zh-CN" altLang="en-US" b="1">
                <a:solidFill>
                  <a:srgbClr val="0070C0"/>
                </a:solidFill>
                <a:sym typeface="+mn-ea"/>
              </a:rPr>
              <a:t>现状</a:t>
            </a:r>
            <a:r>
              <a:rPr lang="en-US" altLang="zh-CN" b="1">
                <a:solidFill>
                  <a:srgbClr val="0070C0"/>
                </a:solidFill>
                <a:sym typeface="+mn-ea"/>
              </a:rPr>
              <a:t> : </a:t>
            </a:r>
            <a:r>
              <a:rPr lang="zh-CN" altLang="en-US" b="1">
                <a:solidFill>
                  <a:srgbClr val="0070C0"/>
                </a:solidFill>
                <a:sym typeface="+mn-ea"/>
              </a:rPr>
              <a:t>底层火热，应用层谨慎</a:t>
            </a:r>
            <a:endParaRPr lang="zh-CN" altLang="en-US" b="1">
              <a:solidFill>
                <a:srgbClr val="0070C0"/>
              </a:solidFill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1332230" y="2625090"/>
            <a:ext cx="10106660" cy="230695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/>
              <a:t>3. </a:t>
            </a:r>
            <a:r>
              <a:rPr lang="zh-CN" altLang="en-US"/>
              <a:t>高并发的自动化测试与监控流水线</a:t>
            </a:r>
            <a:endParaRPr lang="zh-CN" altLang="en-US"/>
          </a:p>
          <a:p>
            <a:r>
              <a:rPr lang="zh-CN" altLang="en-US"/>
              <a:t>在构建企业级的大规模测试集群，或是类似</a:t>
            </a:r>
            <a:r>
              <a:rPr lang="en-US" altLang="zh-CN"/>
              <a:t> RAG </a:t>
            </a:r>
            <a:r>
              <a:rPr lang="zh-CN" altLang="en-US"/>
              <a:t>评测任务触发控制台时，系统往往需要不间断地拉取数据、执行评估脚本并生成报告。在多机协同的流水线中，如果</a:t>
            </a:r>
            <a:r>
              <a:rPr lang="en-US" altLang="zh-CN"/>
              <a:t> Agent </a:t>
            </a:r>
            <a:r>
              <a:rPr lang="zh-CN" altLang="en-US"/>
              <a:t>频繁因为</a:t>
            </a:r>
            <a:r>
              <a:rPr lang="en-US" altLang="zh-CN"/>
              <a:t> JSON </a:t>
            </a:r>
            <a:r>
              <a:rPr lang="zh-CN" altLang="en-US"/>
              <a:t>格式化错误或</a:t>
            </a:r>
            <a:r>
              <a:rPr lang="en-US" altLang="zh-CN"/>
              <a:t>“</a:t>
            </a:r>
            <a:r>
              <a:rPr lang="zh-CN" altLang="en-US"/>
              <a:t>工具幻觉</a:t>
            </a:r>
            <a:r>
              <a:rPr lang="en-US" altLang="zh-CN"/>
              <a:t>”</a:t>
            </a:r>
            <a:r>
              <a:rPr lang="zh-CN" altLang="en-US"/>
              <a:t>而挂起，整个测试链条就会断裂。</a:t>
            </a:r>
            <a:endParaRPr lang="zh-CN" altLang="en-US"/>
          </a:p>
          <a:p>
            <a:endParaRPr lang="en-US" altLang="zh-CN"/>
          </a:p>
          <a:p>
            <a:r>
              <a:rPr lang="zh-CN" altLang="en-US"/>
              <a:t>自发内化模式通过在前期的微调阶段，将特定测试框架的触发语法强制刻入模型的注意力机制中，能够从底层算子级别大幅降低格式幻觉率。这使得</a:t>
            </a:r>
            <a:r>
              <a:rPr lang="en-US" altLang="zh-CN"/>
              <a:t> Agent </a:t>
            </a:r>
            <a:r>
              <a:rPr lang="zh-CN" altLang="en-US"/>
              <a:t>在执行高密度的持续集成（</a:t>
            </a:r>
            <a:r>
              <a:rPr lang="en-US" altLang="zh-CN"/>
              <a:t>CI</a:t>
            </a:r>
            <a:r>
              <a:rPr lang="zh-CN" altLang="en-US"/>
              <a:t>）任务或舆情嗅探脚本时，表现出极高的吞吐量和稳定性，无需外部框架反复介入纠错。</a:t>
            </a:r>
            <a:endParaRPr lang="zh-CN" altLang="en-US"/>
          </a:p>
        </p:txBody>
      </p:sp>
      <p:sp>
        <p:nvSpPr>
          <p:cNvPr id="7" name="文本框 6"/>
          <p:cNvSpPr txBox="1"/>
          <p:nvPr/>
        </p:nvSpPr>
        <p:spPr>
          <a:xfrm>
            <a:off x="1051560" y="2236470"/>
            <a:ext cx="4064000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zh-CN" altLang="en-US" b="1"/>
              <a:t>适用场景：</a:t>
            </a:r>
            <a:endParaRPr lang="zh-CN" altLang="en-US" b="1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0"/>
    </mc:Choice>
    <mc:Fallback>
      <p:transition/>
    </mc:Fallback>
  </mc:AlternateContent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grpSp>
        <p:nvGrpSpPr>
          <p:cNvPr id="2" name="组合 1"/>
          <p:cNvGrpSpPr/>
          <p:nvPr/>
        </p:nvGrpSpPr>
        <p:grpSpPr>
          <a:xfrm>
            <a:off x="-1386840" y="62865"/>
            <a:ext cx="8120380" cy="1326515"/>
            <a:chOff x="-2184" y="-721"/>
            <a:chExt cx="12788" cy="2089"/>
          </a:xfrm>
        </p:grpSpPr>
        <p:sp>
          <p:nvSpPr>
            <p:cNvPr id="3" name="TextBox 8"/>
            <p:cNvSpPr txBox="1"/>
            <p:nvPr/>
          </p:nvSpPr>
          <p:spPr>
            <a:xfrm>
              <a:off x="-2184" y="-721"/>
              <a:ext cx="12788" cy="1598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p>
              <a:pPr algn="ctr"/>
              <a:r>
                <a:rPr lang="en-US" sz="6000" b="1" spc="600" dirty="0" smtClean="0">
                  <a:solidFill>
                    <a:schemeClr val="bg1">
                      <a:lumMod val="95000"/>
                    </a:schemeClr>
                  </a:solidFill>
                  <a:latin typeface="庞门正道标题体" panose="02010600030101010101" charset="-122"/>
                  <a:ea typeface="庞门正道标题体" panose="02010600030101010101" charset="-122"/>
                  <a:cs typeface="Montserrat" panose="00000500000000000000" pitchFamily="50" charset="0"/>
                </a:rPr>
                <a:t>MINIMALIST</a:t>
              </a:r>
              <a:endParaRPr lang="en-US" sz="6000" b="1" spc="600" dirty="0" smtClean="0">
                <a:solidFill>
                  <a:schemeClr val="bg1">
                    <a:lumMod val="95000"/>
                  </a:schemeClr>
                </a:solidFill>
                <a:latin typeface="庞门正道标题体" panose="02010600030101010101" charset="-122"/>
                <a:ea typeface="庞门正道标题体" panose="02010600030101010101" charset="-122"/>
                <a:cs typeface="Montserrat" panose="00000500000000000000" pitchFamily="50" charset="0"/>
              </a:endParaRPr>
            </a:p>
          </p:txBody>
        </p:sp>
        <p:sp>
          <p:nvSpPr>
            <p:cNvPr id="24" name="TextBox 9"/>
            <p:cNvSpPr txBox="1"/>
            <p:nvPr/>
          </p:nvSpPr>
          <p:spPr>
            <a:xfrm>
              <a:off x="-1247" y="-166"/>
              <a:ext cx="10932" cy="130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p>
              <a:pPr algn="ctr"/>
              <a:r>
                <a:rPr lang="zh-CN" altLang="en-US" sz="4800" b="1" spc="600" dirty="0" smtClean="0">
                  <a:solidFill>
                    <a:schemeClr val="tx1"/>
                  </a:solidFill>
                  <a:latin typeface="方正明尚简体" panose="02000000000000000000" charset="-122"/>
                  <a:ea typeface="方正明尚简体" panose="02000000000000000000" charset="-122"/>
                  <a:cs typeface="Montserrat" panose="00000500000000000000" pitchFamily="50" charset="0"/>
                </a:rPr>
                <a:t>三大设计</a:t>
              </a:r>
              <a:r>
                <a:rPr lang="zh-CN" altLang="en-US" sz="4800" b="1" spc="600" dirty="0" smtClean="0">
                  <a:solidFill>
                    <a:schemeClr val="tx1"/>
                  </a:solidFill>
                  <a:latin typeface="方正明尚简体" panose="02000000000000000000" charset="-122"/>
                  <a:ea typeface="方正明尚简体" panose="02000000000000000000" charset="-122"/>
                  <a:cs typeface="Montserrat" panose="00000500000000000000" pitchFamily="50" charset="0"/>
                </a:rPr>
                <a:t>模式</a:t>
              </a:r>
              <a:endParaRPr lang="zh-CN" altLang="en-US" sz="4800" b="1" spc="600" dirty="0" smtClean="0">
                <a:solidFill>
                  <a:schemeClr val="tx1"/>
                </a:solidFill>
                <a:latin typeface="方正明尚简体" panose="02000000000000000000" charset="-122"/>
                <a:ea typeface="方正明尚简体" panose="02000000000000000000" charset="-122"/>
                <a:cs typeface="Montserrat" panose="00000500000000000000" pitchFamily="50" charset="0"/>
              </a:endParaRPr>
            </a:p>
          </p:txBody>
        </p:sp>
        <p:sp>
          <p:nvSpPr>
            <p:cNvPr id="25" name="TextBox 12"/>
            <p:cNvSpPr txBox="1"/>
            <p:nvPr/>
          </p:nvSpPr>
          <p:spPr>
            <a:xfrm>
              <a:off x="291" y="799"/>
              <a:ext cx="7856" cy="56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p>
              <a:pPr algn="ctr">
                <a:lnSpc>
                  <a:spcPct val="150000"/>
                </a:lnSpc>
              </a:pPr>
              <a:r>
                <a:rPr lang="en-US" baseline="-25000" dirty="0" smtClean="0">
                  <a:latin typeface="Dotum" panose="020B0600000101010101" charset="-127"/>
                  <a:ea typeface="Dotum" panose="020B0600000101010101" charset="-127"/>
                  <a:cs typeface="+mj-lt"/>
                </a:rPr>
                <a:t>minimal presentation template</a:t>
              </a:r>
              <a:endParaRPr lang="en-US" baseline="-25000" dirty="0" smtClean="0">
                <a:latin typeface="Dotum" panose="020B0600000101010101" charset="-127"/>
                <a:ea typeface="Dotum" panose="020B0600000101010101" charset="-127"/>
                <a:cs typeface="+mj-lt"/>
              </a:endParaRPr>
            </a:p>
          </p:txBody>
        </p:sp>
      </p:grpSp>
      <p:sp>
        <p:nvSpPr>
          <p:cNvPr id="14" name="文本框 13"/>
          <p:cNvSpPr txBox="1"/>
          <p:nvPr/>
        </p:nvSpPr>
        <p:spPr>
          <a:xfrm>
            <a:off x="547370" y="1695450"/>
            <a:ext cx="532066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b="1">
                <a:solidFill>
                  <a:schemeClr val="tx1"/>
                </a:solidFill>
                <a:sym typeface="+mn-ea"/>
              </a:rPr>
              <a:t>2. </a:t>
            </a:r>
            <a:r>
              <a:rPr lang="zh-CN" altLang="en-US" b="1">
                <a:solidFill>
                  <a:schemeClr val="tx1"/>
                </a:solidFill>
                <a:sym typeface="+mn-ea"/>
              </a:rPr>
              <a:t>基于描述的动态选择模式</a:t>
            </a:r>
            <a:endParaRPr lang="zh-CN" altLang="en-US" b="1">
              <a:solidFill>
                <a:schemeClr val="tx1"/>
              </a:solidFill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1042670" y="2205990"/>
            <a:ext cx="10106660" cy="230695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zh-CN" altLang="en-US">
                <a:sym typeface="+mn-ea"/>
              </a:rPr>
              <a:t>设计规范：</a:t>
            </a:r>
            <a:r>
              <a:rPr lang="en-US" altLang="zh-CN">
                <a:sym typeface="+mn-ea"/>
              </a:rPr>
              <a:t> </a:t>
            </a:r>
            <a:r>
              <a:rPr lang="zh-CN" altLang="en-US">
                <a:sym typeface="+mn-ea"/>
              </a:rPr>
              <a:t>这是目前被应用最广的规范，即</a:t>
            </a:r>
            <a:r>
              <a:rPr lang="en-US" altLang="zh-CN">
                <a:sym typeface="+mn-ea"/>
              </a:rPr>
              <a:t>“</a:t>
            </a:r>
            <a:r>
              <a:rPr lang="zh-CN" altLang="en-US">
                <a:sym typeface="+mn-ea"/>
              </a:rPr>
              <a:t>基于描述的</a:t>
            </a:r>
            <a:r>
              <a:rPr lang="en-US" altLang="zh-CN">
                <a:sym typeface="+mn-ea"/>
              </a:rPr>
              <a:t> AI </a:t>
            </a:r>
            <a:r>
              <a:rPr lang="zh-CN" altLang="en-US">
                <a:sym typeface="+mn-ea"/>
              </a:rPr>
              <a:t>协同</a:t>
            </a:r>
            <a:r>
              <a:rPr lang="en-US" altLang="zh-CN">
                <a:sym typeface="+mn-ea"/>
              </a:rPr>
              <a:t>”</a:t>
            </a:r>
            <a:r>
              <a:rPr lang="zh-CN" altLang="en-US">
                <a:sym typeface="+mn-ea"/>
              </a:rPr>
              <a:t>。系统将</a:t>
            </a:r>
            <a:r>
              <a:rPr lang="en-US" altLang="zh-CN">
                <a:sym typeface="+mn-ea"/>
              </a:rPr>
              <a:t> HuggingFace </a:t>
            </a:r>
            <a:r>
              <a:rPr lang="zh-CN" altLang="en-US">
                <a:sym typeface="+mn-ea"/>
              </a:rPr>
              <a:t>上的数百个模型作为独立的</a:t>
            </a:r>
            <a:r>
              <a:rPr lang="en-US" altLang="zh-CN">
                <a:sym typeface="+mn-ea"/>
              </a:rPr>
              <a:t> Skills</a:t>
            </a:r>
            <a:r>
              <a:rPr lang="zh-CN" altLang="en-US">
                <a:sym typeface="+mn-ea"/>
              </a:rPr>
              <a:t>。</a:t>
            </a:r>
            <a:endParaRPr lang="zh-CN" altLang="en-US"/>
          </a:p>
          <a:p>
            <a:endParaRPr lang="en-US" altLang="zh-CN"/>
          </a:p>
          <a:p>
            <a:r>
              <a:rPr lang="zh-CN" altLang="en-US">
                <a:sym typeface="+mn-ea"/>
              </a:rPr>
              <a:t>执行逻辑：</a:t>
            </a:r>
            <a:r>
              <a:rPr lang="en-US" altLang="zh-CN">
                <a:sym typeface="+mn-ea"/>
              </a:rPr>
              <a:t> </a:t>
            </a:r>
            <a:r>
              <a:rPr lang="zh-CN" altLang="en-US">
                <a:sym typeface="+mn-ea"/>
              </a:rPr>
              <a:t>这种模式极其依赖</a:t>
            </a:r>
            <a:r>
              <a:rPr lang="en-US" altLang="zh-CN">
                <a:sym typeface="+mn-ea"/>
              </a:rPr>
              <a:t> Skill Description</a:t>
            </a:r>
            <a:r>
              <a:rPr lang="zh-CN" altLang="en-US">
                <a:sym typeface="+mn-ea"/>
              </a:rPr>
              <a:t>（工具描述）。</a:t>
            </a:r>
            <a:r>
              <a:rPr lang="en-US" altLang="zh-CN">
                <a:sym typeface="+mn-ea"/>
              </a:rPr>
              <a:t>LLM</a:t>
            </a:r>
            <a:r>
              <a:rPr lang="zh-CN" altLang="en-US">
                <a:sym typeface="+mn-ea"/>
              </a:rPr>
              <a:t>（作为任务管理器）通过阅读各个</a:t>
            </a:r>
            <a:r>
              <a:rPr lang="en-US" altLang="zh-CN">
                <a:sym typeface="+mn-ea"/>
              </a:rPr>
              <a:t> Skill </a:t>
            </a:r>
            <a:r>
              <a:rPr lang="zh-CN" altLang="en-US">
                <a:sym typeface="+mn-ea"/>
              </a:rPr>
              <a:t>的功能描述文档，来动态决定在哪个步骤选用哪个</a:t>
            </a:r>
            <a:r>
              <a:rPr lang="en-US" altLang="zh-CN">
                <a:sym typeface="+mn-ea"/>
              </a:rPr>
              <a:t> Skill</a:t>
            </a:r>
            <a:r>
              <a:rPr lang="zh-CN" altLang="en-US">
                <a:sym typeface="+mn-ea"/>
              </a:rPr>
              <a:t>。</a:t>
            </a:r>
            <a:endParaRPr lang="zh-CN" altLang="en-US">
              <a:sym typeface="+mn-ea"/>
            </a:endParaRPr>
          </a:p>
          <a:p>
            <a:endParaRPr lang="zh-CN" altLang="en-US"/>
          </a:p>
          <a:p>
            <a:r>
              <a:rPr lang="zh-CN" altLang="en-US"/>
              <a:t>核心思想：</a:t>
            </a:r>
            <a:r>
              <a:rPr lang="zh-CN" altLang="en-US" b="1"/>
              <a:t>摒弃传统的硬编码（</a:t>
            </a:r>
            <a:r>
              <a:rPr lang="en-US" altLang="zh-CN" b="1"/>
              <a:t>Hard-coding</a:t>
            </a:r>
            <a:r>
              <a:rPr lang="zh-CN" altLang="en-US" b="1"/>
              <a:t>）路由规则，让大语言模型（</a:t>
            </a:r>
            <a:r>
              <a:rPr lang="en-US" altLang="zh-CN" b="1"/>
              <a:t>LLM</a:t>
            </a:r>
            <a:r>
              <a:rPr lang="zh-CN" altLang="en-US" b="1"/>
              <a:t>）充当</a:t>
            </a:r>
            <a:r>
              <a:rPr lang="en-US" altLang="zh-CN" b="1"/>
              <a:t>“</a:t>
            </a:r>
            <a:r>
              <a:rPr lang="zh-CN" altLang="en-US" b="1"/>
              <a:t>任务调度员</a:t>
            </a:r>
            <a:r>
              <a:rPr lang="en-US" altLang="zh-CN" b="1"/>
              <a:t>”</a:t>
            </a:r>
            <a:r>
              <a:rPr lang="zh-CN" altLang="en-US" b="1"/>
              <a:t>，通过阅读各个</a:t>
            </a:r>
            <a:r>
              <a:rPr lang="en-US" altLang="zh-CN" b="1"/>
              <a:t>Skill</a:t>
            </a:r>
            <a:r>
              <a:rPr lang="zh-CN" altLang="en-US" b="1"/>
              <a:t>的</a:t>
            </a:r>
            <a:r>
              <a:rPr lang="en-US" altLang="zh-CN" b="1"/>
              <a:t>“</a:t>
            </a:r>
            <a:r>
              <a:rPr lang="zh-CN" altLang="en-US" b="1"/>
              <a:t>自然语言说明书</a:t>
            </a:r>
            <a:r>
              <a:rPr lang="en-US" altLang="zh-CN" b="1"/>
              <a:t>”</a:t>
            </a:r>
            <a:r>
              <a:rPr lang="zh-CN" altLang="en-US" b="1"/>
              <a:t>，来自主决定在什么时候调用哪个</a:t>
            </a:r>
            <a:r>
              <a:rPr lang="en-US" altLang="zh-CN" b="1"/>
              <a:t>Skill</a:t>
            </a:r>
            <a:r>
              <a:rPr lang="zh-CN" altLang="en-US" b="1"/>
              <a:t>。</a:t>
            </a:r>
            <a:endParaRPr lang="zh-CN" altLang="en-US" b="1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0"/>
    </mc:Choice>
    <mc:Fallback>
      <p:transition/>
    </mc:Fallback>
  </mc:AlternateContent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grpSp>
        <p:nvGrpSpPr>
          <p:cNvPr id="2" name="组合 1"/>
          <p:cNvGrpSpPr/>
          <p:nvPr/>
        </p:nvGrpSpPr>
        <p:grpSpPr>
          <a:xfrm>
            <a:off x="-1386840" y="62865"/>
            <a:ext cx="8120380" cy="1326515"/>
            <a:chOff x="-2184" y="-721"/>
            <a:chExt cx="12788" cy="2089"/>
          </a:xfrm>
        </p:grpSpPr>
        <p:sp>
          <p:nvSpPr>
            <p:cNvPr id="3" name="TextBox 8"/>
            <p:cNvSpPr txBox="1"/>
            <p:nvPr/>
          </p:nvSpPr>
          <p:spPr>
            <a:xfrm>
              <a:off x="-2184" y="-721"/>
              <a:ext cx="12788" cy="1598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p>
              <a:pPr algn="ctr"/>
              <a:r>
                <a:rPr lang="en-US" sz="6000" b="1" spc="600" dirty="0" smtClean="0">
                  <a:solidFill>
                    <a:schemeClr val="bg1">
                      <a:lumMod val="95000"/>
                    </a:schemeClr>
                  </a:solidFill>
                  <a:latin typeface="庞门正道标题体" panose="02010600030101010101" charset="-122"/>
                  <a:ea typeface="庞门正道标题体" panose="02010600030101010101" charset="-122"/>
                  <a:cs typeface="Montserrat" panose="00000500000000000000" pitchFamily="50" charset="0"/>
                </a:rPr>
                <a:t>MINIMALIST</a:t>
              </a:r>
              <a:endParaRPr lang="en-US" sz="6000" b="1" spc="600" dirty="0" smtClean="0">
                <a:solidFill>
                  <a:schemeClr val="bg1">
                    <a:lumMod val="95000"/>
                  </a:schemeClr>
                </a:solidFill>
                <a:latin typeface="庞门正道标题体" panose="02010600030101010101" charset="-122"/>
                <a:ea typeface="庞门正道标题体" panose="02010600030101010101" charset="-122"/>
                <a:cs typeface="Montserrat" panose="00000500000000000000" pitchFamily="50" charset="0"/>
              </a:endParaRPr>
            </a:p>
          </p:txBody>
        </p:sp>
        <p:sp>
          <p:nvSpPr>
            <p:cNvPr id="24" name="TextBox 9"/>
            <p:cNvSpPr txBox="1"/>
            <p:nvPr/>
          </p:nvSpPr>
          <p:spPr>
            <a:xfrm>
              <a:off x="-1247" y="-166"/>
              <a:ext cx="10932" cy="130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p>
              <a:pPr algn="ctr"/>
              <a:r>
                <a:rPr lang="zh-CN" altLang="en-US" sz="4800" b="1" spc="600" dirty="0" smtClean="0">
                  <a:solidFill>
                    <a:schemeClr val="tx1"/>
                  </a:solidFill>
                  <a:latin typeface="方正明尚简体" panose="02000000000000000000" charset="-122"/>
                  <a:ea typeface="方正明尚简体" panose="02000000000000000000" charset="-122"/>
                  <a:cs typeface="Montserrat" panose="00000500000000000000" pitchFamily="50" charset="0"/>
                </a:rPr>
                <a:t>三大设计</a:t>
              </a:r>
              <a:r>
                <a:rPr lang="zh-CN" altLang="en-US" sz="4800" b="1" spc="600" dirty="0" smtClean="0">
                  <a:solidFill>
                    <a:schemeClr val="tx1"/>
                  </a:solidFill>
                  <a:latin typeface="方正明尚简体" panose="02000000000000000000" charset="-122"/>
                  <a:ea typeface="方正明尚简体" panose="02000000000000000000" charset="-122"/>
                  <a:cs typeface="Montserrat" panose="00000500000000000000" pitchFamily="50" charset="0"/>
                </a:rPr>
                <a:t>模式</a:t>
              </a:r>
              <a:endParaRPr lang="zh-CN" altLang="en-US" sz="4800" b="1" spc="600" dirty="0" smtClean="0">
                <a:solidFill>
                  <a:schemeClr val="tx1"/>
                </a:solidFill>
                <a:latin typeface="方正明尚简体" panose="02000000000000000000" charset="-122"/>
                <a:ea typeface="方正明尚简体" panose="02000000000000000000" charset="-122"/>
                <a:cs typeface="Montserrat" panose="00000500000000000000" pitchFamily="50" charset="0"/>
              </a:endParaRPr>
            </a:p>
          </p:txBody>
        </p:sp>
        <p:sp>
          <p:nvSpPr>
            <p:cNvPr id="25" name="TextBox 12"/>
            <p:cNvSpPr txBox="1"/>
            <p:nvPr/>
          </p:nvSpPr>
          <p:spPr>
            <a:xfrm>
              <a:off x="291" y="799"/>
              <a:ext cx="7856" cy="56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p>
              <a:pPr algn="ctr">
                <a:lnSpc>
                  <a:spcPct val="150000"/>
                </a:lnSpc>
              </a:pPr>
              <a:r>
                <a:rPr lang="en-US" baseline="-25000" dirty="0" smtClean="0">
                  <a:latin typeface="Dotum" panose="020B0600000101010101" charset="-127"/>
                  <a:ea typeface="Dotum" panose="020B0600000101010101" charset="-127"/>
                  <a:cs typeface="+mj-lt"/>
                </a:rPr>
                <a:t>minimal presentation template</a:t>
              </a:r>
              <a:endParaRPr lang="en-US" baseline="-25000" dirty="0" smtClean="0">
                <a:latin typeface="Dotum" panose="020B0600000101010101" charset="-127"/>
                <a:ea typeface="Dotum" panose="020B0600000101010101" charset="-127"/>
                <a:cs typeface="+mj-lt"/>
              </a:endParaRPr>
            </a:p>
          </p:txBody>
        </p:sp>
      </p:grpSp>
      <p:sp>
        <p:nvSpPr>
          <p:cNvPr id="14" name="文本框 13"/>
          <p:cNvSpPr txBox="1"/>
          <p:nvPr/>
        </p:nvSpPr>
        <p:spPr>
          <a:xfrm>
            <a:off x="547370" y="1695450"/>
            <a:ext cx="532066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b="1">
                <a:solidFill>
                  <a:schemeClr val="tx1"/>
                </a:solidFill>
                <a:sym typeface="+mn-ea"/>
              </a:rPr>
              <a:t>2. </a:t>
            </a:r>
            <a:r>
              <a:rPr lang="zh-CN" altLang="en-US" b="1">
                <a:solidFill>
                  <a:schemeClr val="tx1"/>
                </a:solidFill>
                <a:sym typeface="+mn-ea"/>
              </a:rPr>
              <a:t>基于描述的动态选择模式</a:t>
            </a:r>
            <a:r>
              <a:rPr lang="zh-CN" altLang="en-US" b="1">
                <a:solidFill>
                  <a:srgbClr val="FF0000"/>
                </a:solidFill>
                <a:sym typeface="+mn-ea"/>
              </a:rPr>
              <a:t>实现原理</a:t>
            </a:r>
            <a:endParaRPr lang="zh-CN" altLang="en-US" b="1">
              <a:solidFill>
                <a:srgbClr val="FF0000"/>
              </a:solidFill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1042670" y="2205990"/>
            <a:ext cx="10106660" cy="230695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zh-CN" altLang="en-US" b="1"/>
              <a:t>本质上是一次精妙的</a:t>
            </a:r>
            <a:r>
              <a:rPr lang="en-US" altLang="zh-CN" b="1"/>
              <a:t>“Prompt Engineering</a:t>
            </a:r>
            <a:r>
              <a:rPr lang="zh-CN" altLang="en-US" b="1"/>
              <a:t>（提示词工程）</a:t>
            </a:r>
            <a:r>
              <a:rPr lang="en-US" altLang="zh-CN" b="1"/>
              <a:t>”</a:t>
            </a:r>
            <a:r>
              <a:rPr lang="zh-CN" altLang="en-US" b="1"/>
              <a:t>结合结构化输出（</a:t>
            </a:r>
            <a:r>
              <a:rPr lang="en-US" altLang="zh-CN" b="1"/>
              <a:t>Structured Output</a:t>
            </a:r>
            <a:r>
              <a:rPr lang="zh-CN" altLang="en-US" b="1"/>
              <a:t>）的过程。</a:t>
            </a:r>
            <a:endParaRPr lang="zh-CN" altLang="en-US" b="1"/>
          </a:p>
          <a:p>
            <a:endParaRPr lang="zh-CN" altLang="en-US" b="1"/>
          </a:p>
          <a:p>
            <a:r>
              <a:rPr lang="zh-CN" altLang="en-US" b="1"/>
              <a:t>四个核心步骤：</a:t>
            </a:r>
            <a:endParaRPr lang="zh-CN" altLang="en-US" b="1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zh-CN" altLang="en-US" b="1"/>
              <a:t>工具注册与描述池化</a:t>
            </a:r>
            <a:r>
              <a:rPr lang="en-US" altLang="zh-CN" b="1"/>
              <a:t> (Tool Registry)</a:t>
            </a:r>
            <a:endParaRPr lang="en-US" altLang="zh-CN" b="1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zh-CN" altLang="en-US" b="1"/>
              <a:t>动态</a:t>
            </a:r>
            <a:r>
              <a:rPr lang="en-US" altLang="zh-CN" b="1"/>
              <a:t> Prompt </a:t>
            </a:r>
            <a:r>
              <a:rPr lang="zh-CN" altLang="en-US" b="1"/>
              <a:t>组装</a:t>
            </a:r>
            <a:r>
              <a:rPr lang="en-US" altLang="zh-CN" b="1"/>
              <a:t> (Context Construction)</a:t>
            </a:r>
            <a:endParaRPr lang="en-US" altLang="zh-CN" b="1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altLang="zh-CN" b="1"/>
              <a:t>LLM </a:t>
            </a:r>
            <a:r>
              <a:rPr lang="zh-CN" altLang="en-US" b="1"/>
              <a:t>语义推理与结构化输出</a:t>
            </a:r>
            <a:endParaRPr lang="zh-CN" altLang="en-US" b="1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zh-CN" altLang="en-US" b="1"/>
              <a:t>框架解析与沙箱执行</a:t>
            </a:r>
            <a:endParaRPr lang="zh-CN" altLang="en-US" b="1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0"/>
    </mc:Choice>
    <mc:Fallback>
      <p:transition/>
    </mc:Fallback>
  </mc:AlternateContent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grpSp>
        <p:nvGrpSpPr>
          <p:cNvPr id="2" name="组合 1"/>
          <p:cNvGrpSpPr/>
          <p:nvPr/>
        </p:nvGrpSpPr>
        <p:grpSpPr>
          <a:xfrm>
            <a:off x="-1386840" y="62865"/>
            <a:ext cx="8120380" cy="1326515"/>
            <a:chOff x="-2184" y="-721"/>
            <a:chExt cx="12788" cy="2089"/>
          </a:xfrm>
        </p:grpSpPr>
        <p:sp>
          <p:nvSpPr>
            <p:cNvPr id="3" name="TextBox 8"/>
            <p:cNvSpPr txBox="1"/>
            <p:nvPr/>
          </p:nvSpPr>
          <p:spPr>
            <a:xfrm>
              <a:off x="-2184" y="-721"/>
              <a:ext cx="12788" cy="1598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p>
              <a:pPr algn="ctr"/>
              <a:r>
                <a:rPr lang="en-US" sz="6000" b="1" spc="600" dirty="0" smtClean="0">
                  <a:solidFill>
                    <a:schemeClr val="bg1">
                      <a:lumMod val="95000"/>
                    </a:schemeClr>
                  </a:solidFill>
                  <a:latin typeface="庞门正道标题体" panose="02010600030101010101" charset="-122"/>
                  <a:ea typeface="庞门正道标题体" panose="02010600030101010101" charset="-122"/>
                  <a:cs typeface="Montserrat" panose="00000500000000000000" pitchFamily="50" charset="0"/>
                </a:rPr>
                <a:t>MINIMALIST</a:t>
              </a:r>
              <a:endParaRPr lang="en-US" sz="6000" b="1" spc="600" dirty="0" smtClean="0">
                <a:solidFill>
                  <a:schemeClr val="bg1">
                    <a:lumMod val="95000"/>
                  </a:schemeClr>
                </a:solidFill>
                <a:latin typeface="庞门正道标题体" panose="02010600030101010101" charset="-122"/>
                <a:ea typeface="庞门正道标题体" panose="02010600030101010101" charset="-122"/>
                <a:cs typeface="Montserrat" panose="00000500000000000000" pitchFamily="50" charset="0"/>
              </a:endParaRPr>
            </a:p>
          </p:txBody>
        </p:sp>
        <p:sp>
          <p:nvSpPr>
            <p:cNvPr id="24" name="TextBox 9"/>
            <p:cNvSpPr txBox="1"/>
            <p:nvPr/>
          </p:nvSpPr>
          <p:spPr>
            <a:xfrm>
              <a:off x="-1247" y="-166"/>
              <a:ext cx="10932" cy="130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p>
              <a:pPr algn="ctr"/>
              <a:r>
                <a:rPr lang="zh-CN" altLang="en-US" sz="4800" b="1" spc="600" dirty="0" smtClean="0">
                  <a:solidFill>
                    <a:schemeClr val="tx1"/>
                  </a:solidFill>
                  <a:latin typeface="方正明尚简体" panose="02000000000000000000" charset="-122"/>
                  <a:ea typeface="方正明尚简体" panose="02000000000000000000" charset="-122"/>
                  <a:cs typeface="Montserrat" panose="00000500000000000000" pitchFamily="50" charset="0"/>
                </a:rPr>
                <a:t>三大设计</a:t>
              </a:r>
              <a:r>
                <a:rPr lang="zh-CN" altLang="en-US" sz="4800" b="1" spc="600" dirty="0" smtClean="0">
                  <a:solidFill>
                    <a:schemeClr val="tx1"/>
                  </a:solidFill>
                  <a:latin typeface="方正明尚简体" panose="02000000000000000000" charset="-122"/>
                  <a:ea typeface="方正明尚简体" panose="02000000000000000000" charset="-122"/>
                  <a:cs typeface="Montserrat" panose="00000500000000000000" pitchFamily="50" charset="0"/>
                </a:rPr>
                <a:t>模式</a:t>
              </a:r>
              <a:endParaRPr lang="zh-CN" altLang="en-US" sz="4800" b="1" spc="600" dirty="0" smtClean="0">
                <a:solidFill>
                  <a:schemeClr val="tx1"/>
                </a:solidFill>
                <a:latin typeface="方正明尚简体" panose="02000000000000000000" charset="-122"/>
                <a:ea typeface="方正明尚简体" panose="02000000000000000000" charset="-122"/>
                <a:cs typeface="Montserrat" panose="00000500000000000000" pitchFamily="50" charset="0"/>
              </a:endParaRPr>
            </a:p>
          </p:txBody>
        </p:sp>
        <p:sp>
          <p:nvSpPr>
            <p:cNvPr id="25" name="TextBox 12"/>
            <p:cNvSpPr txBox="1"/>
            <p:nvPr/>
          </p:nvSpPr>
          <p:spPr>
            <a:xfrm>
              <a:off x="291" y="799"/>
              <a:ext cx="7856" cy="56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p>
              <a:pPr algn="ctr">
                <a:lnSpc>
                  <a:spcPct val="150000"/>
                </a:lnSpc>
              </a:pPr>
              <a:r>
                <a:rPr lang="en-US" baseline="-25000" dirty="0" smtClean="0">
                  <a:latin typeface="Dotum" panose="020B0600000101010101" charset="-127"/>
                  <a:ea typeface="Dotum" panose="020B0600000101010101" charset="-127"/>
                  <a:cs typeface="+mj-lt"/>
                </a:rPr>
                <a:t>minimal presentation template</a:t>
              </a:r>
              <a:endParaRPr lang="en-US" baseline="-25000" dirty="0" smtClean="0">
                <a:latin typeface="Dotum" panose="020B0600000101010101" charset="-127"/>
                <a:ea typeface="Dotum" panose="020B0600000101010101" charset="-127"/>
                <a:cs typeface="+mj-lt"/>
              </a:endParaRPr>
            </a:p>
          </p:txBody>
        </p:sp>
      </p:grpSp>
      <p:sp>
        <p:nvSpPr>
          <p:cNvPr id="14" name="文本框 13"/>
          <p:cNvSpPr txBox="1"/>
          <p:nvPr/>
        </p:nvSpPr>
        <p:spPr>
          <a:xfrm>
            <a:off x="547370" y="1695450"/>
            <a:ext cx="532066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b="1">
                <a:solidFill>
                  <a:schemeClr val="tx1"/>
                </a:solidFill>
                <a:sym typeface="+mn-ea"/>
              </a:rPr>
              <a:t>2. </a:t>
            </a:r>
            <a:r>
              <a:rPr lang="zh-CN" altLang="en-US" b="1">
                <a:solidFill>
                  <a:schemeClr val="tx1"/>
                </a:solidFill>
                <a:sym typeface="+mn-ea"/>
              </a:rPr>
              <a:t>基于描述的动态选择模式</a:t>
            </a:r>
            <a:r>
              <a:rPr lang="zh-CN" altLang="en-US" b="1">
                <a:solidFill>
                  <a:srgbClr val="FF0000"/>
                </a:solidFill>
                <a:sym typeface="+mn-ea"/>
              </a:rPr>
              <a:t>实现原理</a:t>
            </a:r>
            <a:endParaRPr lang="zh-CN" altLang="en-US" b="1">
              <a:solidFill>
                <a:srgbClr val="FF0000"/>
              </a:solidFill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1042670" y="2205990"/>
            <a:ext cx="10106660" cy="147637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b="1"/>
              <a:t>1. </a:t>
            </a:r>
            <a:r>
              <a:rPr lang="zh-CN" altLang="en-US" b="1"/>
              <a:t>工具注册与描述池化</a:t>
            </a:r>
            <a:r>
              <a:rPr lang="en-US" altLang="zh-CN" b="1"/>
              <a:t> (Tool Registry)</a:t>
            </a:r>
            <a:endParaRPr lang="en-US" altLang="zh-CN" b="1"/>
          </a:p>
          <a:p>
            <a:r>
              <a:rPr lang="zh-CN" altLang="en-US" b="1"/>
              <a:t>首先，在代码底层，系统会维护一个</a:t>
            </a:r>
            <a:r>
              <a:rPr lang="en-US" altLang="zh-CN" b="1"/>
              <a:t>“</a:t>
            </a:r>
            <a:r>
              <a:rPr lang="zh-CN" altLang="en-US" b="1"/>
              <a:t>工具库</a:t>
            </a:r>
            <a:r>
              <a:rPr lang="en-US" altLang="zh-CN" b="1"/>
              <a:t>”</a:t>
            </a:r>
            <a:r>
              <a:rPr lang="zh-CN" altLang="en-US" b="1"/>
              <a:t>。每一个工具（可能是本地的</a:t>
            </a:r>
            <a:r>
              <a:rPr lang="en-US" altLang="zh-CN" b="1"/>
              <a:t> Python </a:t>
            </a:r>
            <a:r>
              <a:rPr lang="zh-CN" altLang="en-US" b="1"/>
              <a:t>函数，也可能是外部的</a:t>
            </a:r>
            <a:r>
              <a:rPr lang="en-US" altLang="zh-CN" b="1"/>
              <a:t> REST API</a:t>
            </a:r>
            <a:r>
              <a:rPr lang="zh-CN" altLang="en-US" b="1"/>
              <a:t>）被注册时，强制要求绑定一段高质量的自然语言描述。</a:t>
            </a:r>
            <a:endParaRPr lang="zh-CN" altLang="en-US" b="1"/>
          </a:p>
          <a:p>
            <a:endParaRPr lang="en-US" altLang="zh-CN" b="1"/>
          </a:p>
          <a:p>
            <a:r>
              <a:rPr lang="zh-CN" altLang="en-US" b="1"/>
              <a:t>在代码结构中，它通常被定义为一个包含名称、描述和参数约束的对象（例如使用</a:t>
            </a:r>
            <a:r>
              <a:rPr lang="en-US" altLang="zh-CN" b="1"/>
              <a:t> JSON Schema</a:t>
            </a:r>
            <a:r>
              <a:rPr lang="zh-CN" altLang="en-US" b="1"/>
              <a:t>）：</a:t>
            </a:r>
            <a:endParaRPr lang="zh-CN" altLang="en-US" b="1"/>
          </a:p>
        </p:txBody>
      </p:sp>
      <p:pic>
        <p:nvPicPr>
          <p:cNvPr id="4" name="图片 3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708275" y="3824605"/>
            <a:ext cx="5906135" cy="2780030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0"/>
    </mc:Choice>
    <mc:Fallback>
      <p:transition/>
    </mc:Fallback>
  </mc:AlternateContent>
</p:sld>
</file>

<file path=ppt/slides/slide5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grpSp>
        <p:nvGrpSpPr>
          <p:cNvPr id="2" name="组合 1"/>
          <p:cNvGrpSpPr/>
          <p:nvPr/>
        </p:nvGrpSpPr>
        <p:grpSpPr>
          <a:xfrm>
            <a:off x="-1386840" y="62865"/>
            <a:ext cx="8120380" cy="1326515"/>
            <a:chOff x="-2184" y="-721"/>
            <a:chExt cx="12788" cy="2089"/>
          </a:xfrm>
        </p:grpSpPr>
        <p:sp>
          <p:nvSpPr>
            <p:cNvPr id="3" name="TextBox 8"/>
            <p:cNvSpPr txBox="1"/>
            <p:nvPr/>
          </p:nvSpPr>
          <p:spPr>
            <a:xfrm>
              <a:off x="-2184" y="-721"/>
              <a:ext cx="12788" cy="1598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p>
              <a:pPr algn="ctr"/>
              <a:r>
                <a:rPr lang="en-US" sz="6000" b="1" spc="600" dirty="0" smtClean="0">
                  <a:solidFill>
                    <a:schemeClr val="bg1">
                      <a:lumMod val="95000"/>
                    </a:schemeClr>
                  </a:solidFill>
                  <a:latin typeface="庞门正道标题体" panose="02010600030101010101" charset="-122"/>
                  <a:ea typeface="庞门正道标题体" panose="02010600030101010101" charset="-122"/>
                  <a:cs typeface="Montserrat" panose="00000500000000000000" pitchFamily="50" charset="0"/>
                </a:rPr>
                <a:t>MINIMALIST</a:t>
              </a:r>
              <a:endParaRPr lang="en-US" sz="6000" b="1" spc="600" dirty="0" smtClean="0">
                <a:solidFill>
                  <a:schemeClr val="bg1">
                    <a:lumMod val="95000"/>
                  </a:schemeClr>
                </a:solidFill>
                <a:latin typeface="庞门正道标题体" panose="02010600030101010101" charset="-122"/>
                <a:ea typeface="庞门正道标题体" panose="02010600030101010101" charset="-122"/>
                <a:cs typeface="Montserrat" panose="00000500000000000000" pitchFamily="50" charset="0"/>
              </a:endParaRPr>
            </a:p>
          </p:txBody>
        </p:sp>
        <p:sp>
          <p:nvSpPr>
            <p:cNvPr id="24" name="TextBox 9"/>
            <p:cNvSpPr txBox="1"/>
            <p:nvPr/>
          </p:nvSpPr>
          <p:spPr>
            <a:xfrm>
              <a:off x="-1247" y="-166"/>
              <a:ext cx="10932" cy="130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p>
              <a:pPr algn="ctr"/>
              <a:r>
                <a:rPr lang="zh-CN" altLang="en-US" sz="4800" b="1" spc="600" dirty="0" smtClean="0">
                  <a:solidFill>
                    <a:schemeClr val="tx1"/>
                  </a:solidFill>
                  <a:latin typeface="方正明尚简体" panose="02000000000000000000" charset="-122"/>
                  <a:ea typeface="方正明尚简体" panose="02000000000000000000" charset="-122"/>
                  <a:cs typeface="Montserrat" panose="00000500000000000000" pitchFamily="50" charset="0"/>
                </a:rPr>
                <a:t>三大设计</a:t>
              </a:r>
              <a:r>
                <a:rPr lang="zh-CN" altLang="en-US" sz="4800" b="1" spc="600" dirty="0" smtClean="0">
                  <a:solidFill>
                    <a:schemeClr val="tx1"/>
                  </a:solidFill>
                  <a:latin typeface="方正明尚简体" panose="02000000000000000000" charset="-122"/>
                  <a:ea typeface="方正明尚简体" panose="02000000000000000000" charset="-122"/>
                  <a:cs typeface="Montserrat" panose="00000500000000000000" pitchFamily="50" charset="0"/>
                </a:rPr>
                <a:t>模式</a:t>
              </a:r>
              <a:endParaRPr lang="zh-CN" altLang="en-US" sz="4800" b="1" spc="600" dirty="0" smtClean="0">
                <a:solidFill>
                  <a:schemeClr val="tx1"/>
                </a:solidFill>
                <a:latin typeface="方正明尚简体" panose="02000000000000000000" charset="-122"/>
                <a:ea typeface="方正明尚简体" panose="02000000000000000000" charset="-122"/>
                <a:cs typeface="Montserrat" panose="00000500000000000000" pitchFamily="50" charset="0"/>
              </a:endParaRPr>
            </a:p>
          </p:txBody>
        </p:sp>
        <p:sp>
          <p:nvSpPr>
            <p:cNvPr id="25" name="TextBox 12"/>
            <p:cNvSpPr txBox="1"/>
            <p:nvPr/>
          </p:nvSpPr>
          <p:spPr>
            <a:xfrm>
              <a:off x="291" y="799"/>
              <a:ext cx="7856" cy="56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p>
              <a:pPr algn="ctr">
                <a:lnSpc>
                  <a:spcPct val="150000"/>
                </a:lnSpc>
              </a:pPr>
              <a:r>
                <a:rPr lang="en-US" baseline="-25000" dirty="0" smtClean="0">
                  <a:latin typeface="Dotum" panose="020B0600000101010101" charset="-127"/>
                  <a:ea typeface="Dotum" panose="020B0600000101010101" charset="-127"/>
                  <a:cs typeface="+mj-lt"/>
                </a:rPr>
                <a:t>minimal presentation template</a:t>
              </a:r>
              <a:endParaRPr lang="en-US" baseline="-25000" dirty="0" smtClean="0">
                <a:latin typeface="Dotum" panose="020B0600000101010101" charset="-127"/>
                <a:ea typeface="Dotum" panose="020B0600000101010101" charset="-127"/>
                <a:cs typeface="+mj-lt"/>
              </a:endParaRPr>
            </a:p>
          </p:txBody>
        </p:sp>
      </p:grpSp>
      <p:sp>
        <p:nvSpPr>
          <p:cNvPr id="14" name="文本框 13"/>
          <p:cNvSpPr txBox="1"/>
          <p:nvPr/>
        </p:nvSpPr>
        <p:spPr>
          <a:xfrm>
            <a:off x="547370" y="1695450"/>
            <a:ext cx="532066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b="1">
                <a:solidFill>
                  <a:schemeClr val="tx1"/>
                </a:solidFill>
                <a:sym typeface="+mn-ea"/>
              </a:rPr>
              <a:t>2. </a:t>
            </a:r>
            <a:r>
              <a:rPr lang="zh-CN" altLang="en-US" b="1">
                <a:solidFill>
                  <a:schemeClr val="tx1"/>
                </a:solidFill>
                <a:sym typeface="+mn-ea"/>
              </a:rPr>
              <a:t>基于描述的动态选择模式</a:t>
            </a:r>
            <a:r>
              <a:rPr lang="zh-CN" altLang="en-US" b="1">
                <a:solidFill>
                  <a:srgbClr val="FF0000"/>
                </a:solidFill>
                <a:sym typeface="+mn-ea"/>
              </a:rPr>
              <a:t>实现原理</a:t>
            </a:r>
            <a:endParaRPr lang="zh-CN" altLang="en-US" b="1">
              <a:solidFill>
                <a:srgbClr val="FF0000"/>
              </a:solidFill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1042670" y="2205990"/>
            <a:ext cx="10106660" cy="461581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1400" b="1"/>
              <a:t>2. </a:t>
            </a:r>
            <a:r>
              <a:rPr lang="zh-CN" altLang="en-US" sz="1400" b="1"/>
              <a:t>动态</a:t>
            </a:r>
            <a:r>
              <a:rPr lang="en-US" altLang="zh-CN" sz="1400" b="1"/>
              <a:t> Prompt </a:t>
            </a:r>
            <a:r>
              <a:rPr lang="zh-CN" altLang="en-US" sz="1400" b="1"/>
              <a:t>组装</a:t>
            </a:r>
            <a:r>
              <a:rPr lang="en-US" altLang="zh-CN" sz="1400" b="1"/>
              <a:t> (Context Construction)</a:t>
            </a:r>
            <a:endParaRPr lang="en-US" altLang="zh-CN" sz="1400" b="1"/>
          </a:p>
          <a:p>
            <a:r>
              <a:rPr lang="zh-CN" altLang="en-US" sz="1400" b="1"/>
              <a:t>当用户输入一个请求（例如：</a:t>
            </a:r>
            <a:r>
              <a:rPr lang="en-US" altLang="zh-CN" sz="1400" b="1"/>
              <a:t>“</a:t>
            </a:r>
            <a:r>
              <a:rPr lang="zh-CN" altLang="en-US" sz="1400" b="1"/>
              <a:t>帮我查一下东京今天下雨吗？</a:t>
            </a:r>
            <a:r>
              <a:rPr lang="en-US" altLang="zh-CN" sz="1400" b="1"/>
              <a:t>”</a:t>
            </a:r>
            <a:r>
              <a:rPr lang="zh-CN" altLang="en-US" sz="1400" b="1"/>
              <a:t>）后，</a:t>
            </a:r>
            <a:r>
              <a:rPr lang="en-US" altLang="zh-CN" sz="1400" b="1"/>
              <a:t>Agent </a:t>
            </a:r>
            <a:r>
              <a:rPr lang="zh-CN" altLang="en-US" sz="1400" b="1"/>
              <a:t>框架（如</a:t>
            </a:r>
            <a:r>
              <a:rPr lang="en-US" altLang="zh-CN" sz="1400" b="1"/>
              <a:t> LangChain </a:t>
            </a:r>
            <a:r>
              <a:rPr lang="zh-CN" altLang="en-US" sz="1400" b="1"/>
              <a:t>或</a:t>
            </a:r>
            <a:r>
              <a:rPr lang="en-US" altLang="zh-CN" sz="1400" b="1"/>
              <a:t> LlamaIndex</a:t>
            </a:r>
            <a:r>
              <a:rPr lang="zh-CN" altLang="en-US" sz="1400" b="1"/>
              <a:t>）会在后台秘密地组装一个极其庞大的</a:t>
            </a:r>
            <a:r>
              <a:rPr lang="en-US" altLang="zh-CN" sz="1400" b="1"/>
              <a:t> System Prompt</a:t>
            </a:r>
            <a:r>
              <a:rPr lang="zh-CN" altLang="en-US" sz="1400" b="1"/>
              <a:t>。</a:t>
            </a:r>
            <a:endParaRPr lang="zh-CN" altLang="en-US" sz="1400" b="1"/>
          </a:p>
          <a:p>
            <a:endParaRPr lang="en-US" altLang="zh-CN" sz="1400" b="1"/>
          </a:p>
          <a:p>
            <a:r>
              <a:rPr lang="zh-CN" altLang="en-US" sz="1400" b="1"/>
              <a:t>这个</a:t>
            </a:r>
            <a:r>
              <a:rPr lang="en-US" altLang="zh-CN" sz="1400" b="1"/>
              <a:t> Prompt </a:t>
            </a:r>
            <a:r>
              <a:rPr lang="zh-CN" altLang="en-US" sz="1400" b="1"/>
              <a:t>的核心逻辑是：把用户的请求，和当前工具库里所有工具的</a:t>
            </a:r>
            <a:r>
              <a:rPr lang="en-US" altLang="zh-CN" sz="1400" b="1"/>
              <a:t>“</a:t>
            </a:r>
            <a:r>
              <a:rPr lang="zh-CN" altLang="en-US" sz="1400" b="1"/>
              <a:t>说明书</a:t>
            </a:r>
            <a:r>
              <a:rPr lang="en-US" altLang="zh-CN" sz="1400" b="1"/>
              <a:t>”</a:t>
            </a:r>
            <a:r>
              <a:rPr lang="zh-CN" altLang="en-US" sz="1400" b="1"/>
              <a:t>拼在一起，然后告诉</a:t>
            </a:r>
            <a:r>
              <a:rPr lang="en-US" altLang="zh-CN" sz="1400" b="1"/>
              <a:t> LLM </a:t>
            </a:r>
            <a:r>
              <a:rPr lang="zh-CN" altLang="en-US" sz="1400" b="1"/>
              <a:t>它现在的角色是一个调度员。</a:t>
            </a:r>
            <a:endParaRPr lang="zh-CN" altLang="en-US" sz="1400" b="1"/>
          </a:p>
          <a:p>
            <a:endParaRPr lang="en-US" altLang="zh-CN" sz="1400" b="1"/>
          </a:p>
          <a:p>
            <a:r>
              <a:rPr lang="zh-CN" altLang="en-US" sz="1400" b="1"/>
              <a:t>组装出来的隐秘</a:t>
            </a:r>
            <a:r>
              <a:rPr lang="en-US" altLang="zh-CN" sz="1400" b="1"/>
              <a:t> Prompt </a:t>
            </a:r>
            <a:r>
              <a:rPr lang="zh-CN" altLang="en-US" sz="1400" b="1"/>
              <a:t>大致长这样：</a:t>
            </a:r>
            <a:endParaRPr lang="zh-CN" altLang="en-US" sz="1400" b="1"/>
          </a:p>
          <a:p>
            <a:endParaRPr lang="en-US" altLang="zh-CN" sz="1400" b="1"/>
          </a:p>
          <a:p>
            <a:pPr lvl="1"/>
            <a:r>
              <a:rPr lang="en-US" altLang="zh-CN" sz="1400" b="1"/>
              <a:t>System: </a:t>
            </a:r>
            <a:r>
              <a:rPr lang="zh-CN" altLang="en-US" sz="1400" b="1"/>
              <a:t>你是一个智能助手。你现在有以下工具可用：</a:t>
            </a:r>
            <a:endParaRPr lang="zh-CN" altLang="en-US" sz="1400" b="1"/>
          </a:p>
          <a:p>
            <a:pPr lvl="1"/>
            <a:endParaRPr lang="en-US" altLang="zh-CN" sz="1400" b="1"/>
          </a:p>
          <a:p>
            <a:pPr lvl="1"/>
            <a:r>
              <a:rPr lang="en-US" altLang="zh-CN" sz="1400" b="1"/>
              <a:t>get_current_weather: </a:t>
            </a:r>
            <a:r>
              <a:rPr lang="zh-CN" altLang="en-US" sz="1400" b="1"/>
              <a:t>获取指定城市的当前天气情况</a:t>
            </a:r>
            <a:r>
              <a:rPr lang="en-US" altLang="zh-CN" sz="1400" b="1"/>
              <a:t>...</a:t>
            </a:r>
            <a:endParaRPr lang="en-US" altLang="zh-CN" sz="1400" b="1"/>
          </a:p>
          <a:p>
            <a:pPr lvl="1"/>
            <a:endParaRPr lang="en-US" altLang="zh-CN" sz="1400" b="1"/>
          </a:p>
          <a:p>
            <a:pPr lvl="1"/>
            <a:r>
              <a:rPr lang="en-US" altLang="zh-CN" sz="1400" b="1"/>
              <a:t>calculator: </a:t>
            </a:r>
            <a:r>
              <a:rPr lang="zh-CN" altLang="en-US" sz="1400" b="1"/>
              <a:t>用于执行数学公式计算</a:t>
            </a:r>
            <a:r>
              <a:rPr lang="en-US" altLang="zh-CN" sz="1400" b="1"/>
              <a:t>...</a:t>
            </a:r>
            <a:endParaRPr lang="en-US" altLang="zh-CN" sz="1400" b="1"/>
          </a:p>
          <a:p>
            <a:pPr lvl="1"/>
            <a:endParaRPr lang="en-US" altLang="zh-CN" sz="1400" b="1"/>
          </a:p>
          <a:p>
            <a:pPr lvl="1"/>
            <a:r>
              <a:rPr lang="en-US" altLang="zh-CN" sz="1400" b="1"/>
              <a:t>web_search: </a:t>
            </a:r>
            <a:r>
              <a:rPr lang="zh-CN" altLang="en-US" sz="1400" b="1"/>
              <a:t>用于搜索互联网上的最新新闻</a:t>
            </a:r>
            <a:r>
              <a:rPr lang="en-US" altLang="zh-CN" sz="1400" b="1"/>
              <a:t>...</a:t>
            </a:r>
            <a:endParaRPr lang="en-US" altLang="zh-CN" sz="1400" b="1"/>
          </a:p>
          <a:p>
            <a:endParaRPr lang="en-US" altLang="zh-CN" sz="1400" b="1"/>
          </a:p>
          <a:p>
            <a:pPr lvl="1"/>
            <a:r>
              <a:rPr lang="zh-CN" altLang="en-US" sz="1400" b="1"/>
              <a:t>请阅读用户的输入，思考为了完成任务是否需要调用工具。如果需要，请严格按照</a:t>
            </a:r>
            <a:r>
              <a:rPr lang="en-US" altLang="zh-CN" sz="1400" b="1"/>
              <a:t> JSON </a:t>
            </a:r>
            <a:r>
              <a:rPr lang="zh-CN" altLang="en-US" sz="1400" b="1"/>
              <a:t>格式输出你选择的工具名称（</a:t>
            </a:r>
            <a:r>
              <a:rPr lang="en-US" altLang="zh-CN" sz="1400" b="1"/>
              <a:t>tool_name</a:t>
            </a:r>
            <a:r>
              <a:rPr lang="zh-CN" altLang="en-US" sz="1400" b="1"/>
              <a:t>）和提取的参数（</a:t>
            </a:r>
            <a:r>
              <a:rPr lang="en-US" altLang="zh-CN" sz="1400" b="1"/>
              <a:t>arguments</a:t>
            </a:r>
            <a:r>
              <a:rPr lang="zh-CN" altLang="en-US" sz="1400" b="1"/>
              <a:t>）。</a:t>
            </a:r>
            <a:endParaRPr lang="zh-CN" altLang="en-US" sz="1400" b="1"/>
          </a:p>
          <a:p>
            <a:pPr lvl="1"/>
            <a:endParaRPr lang="en-US" altLang="zh-CN" sz="1400" b="1"/>
          </a:p>
          <a:p>
            <a:pPr lvl="1"/>
            <a:r>
              <a:rPr lang="en-US" altLang="zh-CN" sz="1400" b="1"/>
              <a:t>User: </a:t>
            </a:r>
            <a:r>
              <a:rPr lang="zh-CN" altLang="en-US" sz="1400" b="1"/>
              <a:t>帮我查一下东京今天下雨吗？</a:t>
            </a:r>
            <a:endParaRPr lang="zh-CN" altLang="en-US" sz="1400" b="1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0"/>
    </mc:Choice>
    <mc:Fallback>
      <p:transition/>
    </mc:Fallback>
  </mc:AlternateContent>
</p:sld>
</file>

<file path=ppt/slides/slide5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grpSp>
        <p:nvGrpSpPr>
          <p:cNvPr id="2" name="组合 1"/>
          <p:cNvGrpSpPr/>
          <p:nvPr/>
        </p:nvGrpSpPr>
        <p:grpSpPr>
          <a:xfrm>
            <a:off x="-1386840" y="62865"/>
            <a:ext cx="8120380" cy="1326515"/>
            <a:chOff x="-2184" y="-721"/>
            <a:chExt cx="12788" cy="2089"/>
          </a:xfrm>
        </p:grpSpPr>
        <p:sp>
          <p:nvSpPr>
            <p:cNvPr id="3" name="TextBox 8"/>
            <p:cNvSpPr txBox="1"/>
            <p:nvPr/>
          </p:nvSpPr>
          <p:spPr>
            <a:xfrm>
              <a:off x="-2184" y="-721"/>
              <a:ext cx="12788" cy="1598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p>
              <a:pPr algn="ctr"/>
              <a:r>
                <a:rPr lang="en-US" sz="6000" b="1" spc="600" dirty="0" smtClean="0">
                  <a:solidFill>
                    <a:schemeClr val="bg1">
                      <a:lumMod val="95000"/>
                    </a:schemeClr>
                  </a:solidFill>
                  <a:latin typeface="庞门正道标题体" panose="02010600030101010101" charset="-122"/>
                  <a:ea typeface="庞门正道标题体" panose="02010600030101010101" charset="-122"/>
                  <a:cs typeface="Montserrat" panose="00000500000000000000" pitchFamily="50" charset="0"/>
                </a:rPr>
                <a:t>MINIMALIST</a:t>
              </a:r>
              <a:endParaRPr lang="en-US" sz="6000" b="1" spc="600" dirty="0" smtClean="0">
                <a:solidFill>
                  <a:schemeClr val="bg1">
                    <a:lumMod val="95000"/>
                  </a:schemeClr>
                </a:solidFill>
                <a:latin typeface="庞门正道标题体" panose="02010600030101010101" charset="-122"/>
                <a:ea typeface="庞门正道标题体" panose="02010600030101010101" charset="-122"/>
                <a:cs typeface="Montserrat" panose="00000500000000000000" pitchFamily="50" charset="0"/>
              </a:endParaRPr>
            </a:p>
          </p:txBody>
        </p:sp>
        <p:sp>
          <p:nvSpPr>
            <p:cNvPr id="24" name="TextBox 9"/>
            <p:cNvSpPr txBox="1"/>
            <p:nvPr/>
          </p:nvSpPr>
          <p:spPr>
            <a:xfrm>
              <a:off x="-1247" y="-166"/>
              <a:ext cx="10932" cy="130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p>
              <a:pPr algn="ctr"/>
              <a:r>
                <a:rPr lang="zh-CN" altLang="en-US" sz="4800" b="1" spc="600" dirty="0" smtClean="0">
                  <a:solidFill>
                    <a:schemeClr val="tx1"/>
                  </a:solidFill>
                  <a:latin typeface="方正明尚简体" panose="02000000000000000000" charset="-122"/>
                  <a:ea typeface="方正明尚简体" panose="02000000000000000000" charset="-122"/>
                  <a:cs typeface="Montserrat" panose="00000500000000000000" pitchFamily="50" charset="0"/>
                </a:rPr>
                <a:t>三大设计</a:t>
              </a:r>
              <a:r>
                <a:rPr lang="zh-CN" altLang="en-US" sz="4800" b="1" spc="600" dirty="0" smtClean="0">
                  <a:solidFill>
                    <a:schemeClr val="tx1"/>
                  </a:solidFill>
                  <a:latin typeface="方正明尚简体" panose="02000000000000000000" charset="-122"/>
                  <a:ea typeface="方正明尚简体" panose="02000000000000000000" charset="-122"/>
                  <a:cs typeface="Montserrat" panose="00000500000000000000" pitchFamily="50" charset="0"/>
                </a:rPr>
                <a:t>模式</a:t>
              </a:r>
              <a:endParaRPr lang="zh-CN" altLang="en-US" sz="4800" b="1" spc="600" dirty="0" smtClean="0">
                <a:solidFill>
                  <a:schemeClr val="tx1"/>
                </a:solidFill>
                <a:latin typeface="方正明尚简体" panose="02000000000000000000" charset="-122"/>
                <a:ea typeface="方正明尚简体" panose="02000000000000000000" charset="-122"/>
                <a:cs typeface="Montserrat" panose="00000500000000000000" pitchFamily="50" charset="0"/>
              </a:endParaRPr>
            </a:p>
          </p:txBody>
        </p:sp>
        <p:sp>
          <p:nvSpPr>
            <p:cNvPr id="25" name="TextBox 12"/>
            <p:cNvSpPr txBox="1"/>
            <p:nvPr/>
          </p:nvSpPr>
          <p:spPr>
            <a:xfrm>
              <a:off x="291" y="799"/>
              <a:ext cx="7856" cy="56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p>
              <a:pPr algn="ctr">
                <a:lnSpc>
                  <a:spcPct val="150000"/>
                </a:lnSpc>
              </a:pPr>
              <a:r>
                <a:rPr lang="en-US" baseline="-25000" dirty="0" smtClean="0">
                  <a:latin typeface="Dotum" panose="020B0600000101010101" charset="-127"/>
                  <a:ea typeface="Dotum" panose="020B0600000101010101" charset="-127"/>
                  <a:cs typeface="+mj-lt"/>
                </a:rPr>
                <a:t>minimal presentation template</a:t>
              </a:r>
              <a:endParaRPr lang="en-US" baseline="-25000" dirty="0" smtClean="0">
                <a:latin typeface="Dotum" panose="020B0600000101010101" charset="-127"/>
                <a:ea typeface="Dotum" panose="020B0600000101010101" charset="-127"/>
                <a:cs typeface="+mj-lt"/>
              </a:endParaRPr>
            </a:p>
          </p:txBody>
        </p:sp>
      </p:grpSp>
      <p:sp>
        <p:nvSpPr>
          <p:cNvPr id="14" name="文本框 13"/>
          <p:cNvSpPr txBox="1"/>
          <p:nvPr/>
        </p:nvSpPr>
        <p:spPr>
          <a:xfrm>
            <a:off x="547370" y="1695450"/>
            <a:ext cx="532066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b="1">
                <a:solidFill>
                  <a:schemeClr val="tx1"/>
                </a:solidFill>
                <a:sym typeface="+mn-ea"/>
              </a:rPr>
              <a:t>2. </a:t>
            </a:r>
            <a:r>
              <a:rPr lang="zh-CN" altLang="en-US" b="1">
                <a:solidFill>
                  <a:schemeClr val="tx1"/>
                </a:solidFill>
                <a:sym typeface="+mn-ea"/>
              </a:rPr>
              <a:t>基于描述的动态选择模式</a:t>
            </a:r>
            <a:r>
              <a:rPr lang="zh-CN" altLang="en-US" b="1">
                <a:solidFill>
                  <a:srgbClr val="FF0000"/>
                </a:solidFill>
                <a:sym typeface="+mn-ea"/>
              </a:rPr>
              <a:t>实现原理</a:t>
            </a:r>
            <a:endParaRPr lang="zh-CN" altLang="en-US" b="1">
              <a:solidFill>
                <a:srgbClr val="FF0000"/>
              </a:solidFill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1042670" y="2205990"/>
            <a:ext cx="10106660" cy="224536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1400" b="1"/>
              <a:t>3. LLM </a:t>
            </a:r>
            <a:r>
              <a:rPr lang="zh-CN" altLang="en-US" sz="1400" b="1"/>
              <a:t>语义推理与结构化输出</a:t>
            </a:r>
            <a:r>
              <a:rPr lang="en-US" altLang="zh-CN" sz="1400" b="1"/>
              <a:t> (Semantic Routing)</a:t>
            </a:r>
            <a:endParaRPr lang="en-US" altLang="zh-CN" sz="1400" b="1"/>
          </a:p>
          <a:p>
            <a:r>
              <a:rPr lang="zh-CN" altLang="en-US" sz="1400" b="1"/>
              <a:t>这是最神奇的一步。大语言模型接收到上述组装好的</a:t>
            </a:r>
            <a:r>
              <a:rPr lang="en-US" altLang="zh-CN" sz="1400" b="1"/>
              <a:t> Prompt </a:t>
            </a:r>
            <a:r>
              <a:rPr lang="zh-CN" altLang="en-US" sz="1400" b="1"/>
              <a:t>后，开始进行内部的语义匹配：</a:t>
            </a:r>
            <a:endParaRPr lang="zh-CN" altLang="en-US" sz="1400" b="1"/>
          </a:p>
          <a:p>
            <a:endParaRPr lang="en-US" altLang="zh-CN" sz="1400" b="1"/>
          </a:p>
          <a:p>
            <a:r>
              <a:rPr lang="zh-CN" altLang="en-US" sz="1400" b="1"/>
              <a:t>模型理解了用户的意图是</a:t>
            </a:r>
            <a:r>
              <a:rPr lang="en-US" altLang="zh-CN" sz="1400" b="1"/>
              <a:t>“</a:t>
            </a:r>
            <a:r>
              <a:rPr lang="zh-CN" altLang="en-US" sz="1400" b="1"/>
              <a:t>查询天气</a:t>
            </a:r>
            <a:r>
              <a:rPr lang="en-US" altLang="zh-CN" sz="1400" b="1"/>
              <a:t>”</a:t>
            </a:r>
            <a:r>
              <a:rPr lang="zh-CN" altLang="en-US" sz="1400" b="1"/>
              <a:t>。</a:t>
            </a:r>
            <a:endParaRPr lang="zh-CN" altLang="en-US" sz="1400" b="1"/>
          </a:p>
          <a:p>
            <a:endParaRPr lang="en-US" altLang="zh-CN" sz="1400" b="1"/>
          </a:p>
          <a:p>
            <a:r>
              <a:rPr lang="zh-CN" altLang="en-US" sz="1400" b="1"/>
              <a:t>模型扫描了提供的工具列表，发现</a:t>
            </a:r>
            <a:r>
              <a:rPr lang="en-US" altLang="zh-CN" sz="1400" b="1"/>
              <a:t> get_current_weather </a:t>
            </a:r>
            <a:r>
              <a:rPr lang="zh-CN" altLang="en-US" sz="1400" b="1"/>
              <a:t>的描述与意图高度吻合。</a:t>
            </a:r>
            <a:endParaRPr lang="zh-CN" altLang="en-US" sz="1400" b="1"/>
          </a:p>
          <a:p>
            <a:endParaRPr lang="en-US" altLang="zh-CN" sz="1400" b="1"/>
          </a:p>
          <a:p>
            <a:r>
              <a:rPr lang="zh-CN" altLang="en-US" sz="1400" b="1"/>
              <a:t>模型从用户的语句中提取出实体</a:t>
            </a:r>
            <a:r>
              <a:rPr lang="en-US" altLang="zh-CN" sz="1400" b="1"/>
              <a:t>“</a:t>
            </a:r>
            <a:r>
              <a:rPr lang="zh-CN" altLang="en-US" sz="1400" b="1"/>
              <a:t>东京</a:t>
            </a:r>
            <a:r>
              <a:rPr lang="en-US" altLang="zh-CN" sz="1400" b="1"/>
              <a:t>”</a:t>
            </a:r>
            <a:r>
              <a:rPr lang="zh-CN" altLang="en-US" sz="1400" b="1"/>
              <a:t>。</a:t>
            </a:r>
            <a:endParaRPr lang="zh-CN" altLang="en-US" sz="1400" b="1"/>
          </a:p>
          <a:p>
            <a:endParaRPr lang="en-US" altLang="zh-CN" sz="1400" b="1"/>
          </a:p>
          <a:p>
            <a:r>
              <a:rPr lang="zh-CN" altLang="en-US" sz="1400" b="1"/>
              <a:t>随后，</a:t>
            </a:r>
            <a:r>
              <a:rPr lang="en-US" altLang="zh-CN" sz="1400" b="1"/>
              <a:t>LLM </a:t>
            </a:r>
            <a:r>
              <a:rPr lang="zh-CN" altLang="en-US" sz="1400" b="1"/>
              <a:t>会生成一段标准化的</a:t>
            </a:r>
            <a:r>
              <a:rPr lang="en-US" altLang="zh-CN" sz="1400" b="1"/>
              <a:t> JSON </a:t>
            </a:r>
            <a:r>
              <a:rPr lang="zh-CN" altLang="en-US" sz="1400" b="1"/>
              <a:t>字符串作为回答（而不是普通的聊天文本）：</a:t>
            </a:r>
            <a:endParaRPr lang="zh-CN" altLang="en-US" sz="1400" b="1"/>
          </a:p>
        </p:txBody>
      </p:sp>
      <p:pic>
        <p:nvPicPr>
          <p:cNvPr id="4" name="图片 3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606675" y="4671060"/>
            <a:ext cx="5949315" cy="1811655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0"/>
    </mc:Choice>
    <mc:Fallback>
      <p:transition/>
    </mc:Fallback>
  </mc:AlternateContent>
</p:sld>
</file>

<file path=ppt/slides/slide5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grpSp>
        <p:nvGrpSpPr>
          <p:cNvPr id="2" name="组合 1"/>
          <p:cNvGrpSpPr/>
          <p:nvPr/>
        </p:nvGrpSpPr>
        <p:grpSpPr>
          <a:xfrm>
            <a:off x="-1386840" y="62865"/>
            <a:ext cx="8120380" cy="1326515"/>
            <a:chOff x="-2184" y="-721"/>
            <a:chExt cx="12788" cy="2089"/>
          </a:xfrm>
        </p:grpSpPr>
        <p:sp>
          <p:nvSpPr>
            <p:cNvPr id="3" name="TextBox 8"/>
            <p:cNvSpPr txBox="1"/>
            <p:nvPr/>
          </p:nvSpPr>
          <p:spPr>
            <a:xfrm>
              <a:off x="-2184" y="-721"/>
              <a:ext cx="12788" cy="1598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p>
              <a:pPr algn="ctr"/>
              <a:r>
                <a:rPr lang="en-US" sz="6000" b="1" spc="600" dirty="0" smtClean="0">
                  <a:solidFill>
                    <a:schemeClr val="bg1">
                      <a:lumMod val="95000"/>
                    </a:schemeClr>
                  </a:solidFill>
                  <a:latin typeface="庞门正道标题体" panose="02010600030101010101" charset="-122"/>
                  <a:ea typeface="庞门正道标题体" panose="02010600030101010101" charset="-122"/>
                  <a:cs typeface="Montserrat" panose="00000500000000000000" pitchFamily="50" charset="0"/>
                </a:rPr>
                <a:t>MINIMALIST</a:t>
              </a:r>
              <a:endParaRPr lang="en-US" sz="6000" b="1" spc="600" dirty="0" smtClean="0">
                <a:solidFill>
                  <a:schemeClr val="bg1">
                    <a:lumMod val="95000"/>
                  </a:schemeClr>
                </a:solidFill>
                <a:latin typeface="庞门正道标题体" panose="02010600030101010101" charset="-122"/>
                <a:ea typeface="庞门正道标题体" panose="02010600030101010101" charset="-122"/>
                <a:cs typeface="Montserrat" panose="00000500000000000000" pitchFamily="50" charset="0"/>
              </a:endParaRPr>
            </a:p>
          </p:txBody>
        </p:sp>
        <p:sp>
          <p:nvSpPr>
            <p:cNvPr id="24" name="TextBox 9"/>
            <p:cNvSpPr txBox="1"/>
            <p:nvPr/>
          </p:nvSpPr>
          <p:spPr>
            <a:xfrm>
              <a:off x="-1247" y="-166"/>
              <a:ext cx="10932" cy="130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p>
              <a:pPr algn="ctr"/>
              <a:r>
                <a:rPr lang="zh-CN" altLang="en-US" sz="4800" b="1" spc="600" dirty="0" smtClean="0">
                  <a:solidFill>
                    <a:schemeClr val="tx1"/>
                  </a:solidFill>
                  <a:latin typeface="方正明尚简体" panose="02000000000000000000" charset="-122"/>
                  <a:ea typeface="方正明尚简体" panose="02000000000000000000" charset="-122"/>
                  <a:cs typeface="Montserrat" panose="00000500000000000000" pitchFamily="50" charset="0"/>
                </a:rPr>
                <a:t>三大设计</a:t>
              </a:r>
              <a:r>
                <a:rPr lang="zh-CN" altLang="en-US" sz="4800" b="1" spc="600" dirty="0" smtClean="0">
                  <a:solidFill>
                    <a:schemeClr val="tx1"/>
                  </a:solidFill>
                  <a:latin typeface="方正明尚简体" panose="02000000000000000000" charset="-122"/>
                  <a:ea typeface="方正明尚简体" panose="02000000000000000000" charset="-122"/>
                  <a:cs typeface="Montserrat" panose="00000500000000000000" pitchFamily="50" charset="0"/>
                </a:rPr>
                <a:t>模式</a:t>
              </a:r>
              <a:endParaRPr lang="zh-CN" altLang="en-US" sz="4800" b="1" spc="600" dirty="0" smtClean="0">
                <a:solidFill>
                  <a:schemeClr val="tx1"/>
                </a:solidFill>
                <a:latin typeface="方正明尚简体" panose="02000000000000000000" charset="-122"/>
                <a:ea typeface="方正明尚简体" panose="02000000000000000000" charset="-122"/>
                <a:cs typeface="Montserrat" panose="00000500000000000000" pitchFamily="50" charset="0"/>
              </a:endParaRPr>
            </a:p>
          </p:txBody>
        </p:sp>
        <p:sp>
          <p:nvSpPr>
            <p:cNvPr id="25" name="TextBox 12"/>
            <p:cNvSpPr txBox="1"/>
            <p:nvPr/>
          </p:nvSpPr>
          <p:spPr>
            <a:xfrm>
              <a:off x="291" y="799"/>
              <a:ext cx="7856" cy="56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p>
              <a:pPr algn="ctr">
                <a:lnSpc>
                  <a:spcPct val="150000"/>
                </a:lnSpc>
              </a:pPr>
              <a:r>
                <a:rPr lang="en-US" baseline="-25000" dirty="0" smtClean="0">
                  <a:latin typeface="Dotum" panose="020B0600000101010101" charset="-127"/>
                  <a:ea typeface="Dotum" panose="020B0600000101010101" charset="-127"/>
                  <a:cs typeface="+mj-lt"/>
                </a:rPr>
                <a:t>minimal presentation template</a:t>
              </a:r>
              <a:endParaRPr lang="en-US" baseline="-25000" dirty="0" smtClean="0">
                <a:latin typeface="Dotum" panose="020B0600000101010101" charset="-127"/>
                <a:ea typeface="Dotum" panose="020B0600000101010101" charset="-127"/>
                <a:cs typeface="+mj-lt"/>
              </a:endParaRPr>
            </a:p>
          </p:txBody>
        </p:sp>
      </p:grpSp>
      <p:sp>
        <p:nvSpPr>
          <p:cNvPr id="14" name="文本框 13"/>
          <p:cNvSpPr txBox="1"/>
          <p:nvPr/>
        </p:nvSpPr>
        <p:spPr>
          <a:xfrm>
            <a:off x="547370" y="1695450"/>
            <a:ext cx="532066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b="1">
                <a:solidFill>
                  <a:schemeClr val="tx1"/>
                </a:solidFill>
                <a:sym typeface="+mn-ea"/>
              </a:rPr>
              <a:t>2. </a:t>
            </a:r>
            <a:r>
              <a:rPr lang="zh-CN" altLang="en-US" b="1">
                <a:solidFill>
                  <a:schemeClr val="tx1"/>
                </a:solidFill>
                <a:sym typeface="+mn-ea"/>
              </a:rPr>
              <a:t>基于描述的动态选择模式</a:t>
            </a:r>
            <a:r>
              <a:rPr lang="zh-CN" altLang="en-US" b="1">
                <a:solidFill>
                  <a:srgbClr val="FF0000"/>
                </a:solidFill>
                <a:sym typeface="+mn-ea"/>
              </a:rPr>
              <a:t>实现原理</a:t>
            </a:r>
            <a:endParaRPr lang="zh-CN" altLang="en-US" b="1">
              <a:solidFill>
                <a:srgbClr val="FF0000"/>
              </a:solidFill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1042670" y="2205990"/>
            <a:ext cx="10106660" cy="255333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1600" b="1"/>
              <a:t>4. </a:t>
            </a:r>
            <a:r>
              <a:rPr lang="zh-CN" altLang="en-US" sz="1600" b="1"/>
              <a:t>框架解析与沙箱执行</a:t>
            </a:r>
            <a:r>
              <a:rPr lang="en-US" altLang="zh-CN" sz="1600" b="1"/>
              <a:t> (Execution)</a:t>
            </a:r>
            <a:endParaRPr lang="en-US" altLang="zh-CN" sz="1600" b="1"/>
          </a:p>
          <a:p>
            <a:r>
              <a:rPr lang="zh-CN" altLang="en-US" sz="1600" b="1"/>
              <a:t>最后，</a:t>
            </a:r>
            <a:r>
              <a:rPr lang="en-US" altLang="zh-CN" sz="1600" b="1"/>
              <a:t>Agent </a:t>
            </a:r>
            <a:r>
              <a:rPr lang="zh-CN" altLang="en-US" sz="1600" b="1"/>
              <a:t>框架接管工作。框架用正则表达式或</a:t>
            </a:r>
            <a:r>
              <a:rPr lang="en-US" altLang="zh-CN" sz="1600" b="1"/>
              <a:t> JSON </a:t>
            </a:r>
            <a:r>
              <a:rPr lang="zh-CN" altLang="en-US" sz="1600" b="1"/>
              <a:t>解析器截获了</a:t>
            </a:r>
            <a:r>
              <a:rPr lang="en-US" altLang="zh-CN" sz="1600" b="1"/>
              <a:t> LLM </a:t>
            </a:r>
            <a:r>
              <a:rPr lang="zh-CN" altLang="en-US" sz="1600" b="1"/>
              <a:t>输出的这段</a:t>
            </a:r>
            <a:r>
              <a:rPr lang="en-US" altLang="zh-CN" sz="1600" b="1"/>
              <a:t> JSON</a:t>
            </a:r>
            <a:r>
              <a:rPr lang="zh-CN" altLang="en-US" sz="1600" b="1"/>
              <a:t>。</a:t>
            </a:r>
            <a:endParaRPr lang="zh-CN" altLang="en-US" sz="1600" b="1"/>
          </a:p>
          <a:p>
            <a:endParaRPr lang="en-US" altLang="zh-CN" sz="1600" b="1"/>
          </a:p>
          <a:p>
            <a:r>
              <a:rPr lang="zh-CN" altLang="en-US" sz="1600" b="1"/>
              <a:t>框架看到</a:t>
            </a:r>
            <a:r>
              <a:rPr lang="en-US" altLang="zh-CN" sz="1600" b="1"/>
              <a:t> tool_name </a:t>
            </a:r>
            <a:r>
              <a:rPr lang="zh-CN" altLang="en-US" sz="1600" b="1"/>
              <a:t>是</a:t>
            </a:r>
            <a:r>
              <a:rPr lang="en-US" altLang="zh-CN" sz="1600" b="1"/>
              <a:t> get_current_weather</a:t>
            </a:r>
            <a:r>
              <a:rPr lang="zh-CN" altLang="en-US" sz="1600" b="1"/>
              <a:t>，于是通过反射机制（</a:t>
            </a:r>
            <a:r>
              <a:rPr lang="en-US" altLang="zh-CN" sz="1600" b="1"/>
              <a:t>Reflection</a:t>
            </a:r>
            <a:r>
              <a:rPr lang="zh-CN" altLang="en-US" sz="1600" b="1"/>
              <a:t>）或映射表，在本地代码中找到了对应的</a:t>
            </a:r>
            <a:r>
              <a:rPr lang="en-US" altLang="zh-CN" sz="1600" b="1"/>
              <a:t> Python </a:t>
            </a:r>
            <a:r>
              <a:rPr lang="zh-CN" altLang="en-US" sz="1600" b="1"/>
              <a:t>函数。</a:t>
            </a:r>
            <a:endParaRPr lang="zh-CN" altLang="en-US" sz="1600" b="1"/>
          </a:p>
          <a:p>
            <a:endParaRPr lang="en-US" altLang="zh-CN" sz="1600" b="1"/>
          </a:p>
          <a:p>
            <a:r>
              <a:rPr lang="zh-CN" altLang="en-US" sz="1600" b="1"/>
              <a:t>框架将</a:t>
            </a:r>
            <a:r>
              <a:rPr lang="en-US" altLang="zh-CN" sz="1600" b="1"/>
              <a:t> {"location": "</a:t>
            </a:r>
            <a:r>
              <a:rPr lang="zh-CN" altLang="en-US" sz="1600" b="1"/>
              <a:t>东京</a:t>
            </a:r>
            <a:r>
              <a:rPr lang="en-US" altLang="zh-CN" sz="1600" b="1"/>
              <a:t>"} </a:t>
            </a:r>
            <a:r>
              <a:rPr lang="zh-CN" altLang="en-US" sz="1600" b="1"/>
              <a:t>作为参数传入该函数并执行。</a:t>
            </a:r>
            <a:endParaRPr lang="zh-CN" altLang="en-US" sz="1600" b="1"/>
          </a:p>
          <a:p>
            <a:endParaRPr lang="en-US" altLang="zh-CN" sz="1600" b="1"/>
          </a:p>
          <a:p>
            <a:r>
              <a:rPr lang="zh-CN" altLang="en-US" sz="1600" b="1"/>
              <a:t>函数执行完毕，返回结果（例如：</a:t>
            </a:r>
            <a:r>
              <a:rPr lang="en-US" altLang="zh-CN" sz="1600" b="1"/>
              <a:t>"</a:t>
            </a:r>
            <a:r>
              <a:rPr lang="zh-CN" altLang="en-US" sz="1600" b="1"/>
              <a:t>温度</a:t>
            </a:r>
            <a:r>
              <a:rPr lang="en-US" altLang="zh-CN" sz="1600" b="1"/>
              <a:t>15</a:t>
            </a:r>
            <a:r>
              <a:rPr lang="zh-CN" altLang="en-US" sz="1600" b="1"/>
              <a:t>度，有阵雨</a:t>
            </a:r>
            <a:r>
              <a:rPr lang="en-US" altLang="zh-CN" sz="1600" b="1"/>
              <a:t>"</a:t>
            </a:r>
            <a:r>
              <a:rPr lang="zh-CN" altLang="en-US" sz="1600" b="1"/>
              <a:t>）。框架会将这个结果再次塞回给</a:t>
            </a:r>
            <a:r>
              <a:rPr lang="en-US" altLang="zh-CN" sz="1600" b="1"/>
              <a:t> LLM</a:t>
            </a:r>
            <a:r>
              <a:rPr lang="zh-CN" altLang="en-US" sz="1600" b="1"/>
              <a:t>，让</a:t>
            </a:r>
            <a:r>
              <a:rPr lang="en-US" altLang="zh-CN" sz="1600" b="1"/>
              <a:t> LLM </a:t>
            </a:r>
            <a:r>
              <a:rPr lang="zh-CN" altLang="en-US" sz="1600" b="1"/>
              <a:t>总结出最终的人类自然语言回答。</a:t>
            </a:r>
            <a:endParaRPr lang="zh-CN" altLang="en-US" sz="1600" b="1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0"/>
    </mc:Choice>
    <mc:Fallback>
      <p:transition/>
    </mc:Fallback>
  </mc:AlternateContent>
</p:sld>
</file>

<file path=ppt/slides/slide5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grpSp>
        <p:nvGrpSpPr>
          <p:cNvPr id="2" name="组合 1"/>
          <p:cNvGrpSpPr/>
          <p:nvPr/>
        </p:nvGrpSpPr>
        <p:grpSpPr>
          <a:xfrm>
            <a:off x="-1386840" y="62865"/>
            <a:ext cx="8120380" cy="1326515"/>
            <a:chOff x="-2184" y="-721"/>
            <a:chExt cx="12788" cy="2089"/>
          </a:xfrm>
        </p:grpSpPr>
        <p:sp>
          <p:nvSpPr>
            <p:cNvPr id="3" name="TextBox 8"/>
            <p:cNvSpPr txBox="1"/>
            <p:nvPr/>
          </p:nvSpPr>
          <p:spPr>
            <a:xfrm>
              <a:off x="-2184" y="-721"/>
              <a:ext cx="12788" cy="1598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p>
              <a:pPr algn="ctr"/>
              <a:r>
                <a:rPr lang="en-US" sz="6000" b="1" spc="600" dirty="0" smtClean="0">
                  <a:solidFill>
                    <a:schemeClr val="bg1">
                      <a:lumMod val="95000"/>
                    </a:schemeClr>
                  </a:solidFill>
                  <a:latin typeface="庞门正道标题体" panose="02010600030101010101" charset="-122"/>
                  <a:ea typeface="庞门正道标题体" panose="02010600030101010101" charset="-122"/>
                  <a:cs typeface="Montserrat" panose="00000500000000000000" pitchFamily="50" charset="0"/>
                </a:rPr>
                <a:t>MINIMALIST</a:t>
              </a:r>
              <a:endParaRPr lang="en-US" sz="6000" b="1" spc="600" dirty="0" smtClean="0">
                <a:solidFill>
                  <a:schemeClr val="bg1">
                    <a:lumMod val="95000"/>
                  </a:schemeClr>
                </a:solidFill>
                <a:latin typeface="庞门正道标题体" panose="02010600030101010101" charset="-122"/>
                <a:ea typeface="庞门正道标题体" panose="02010600030101010101" charset="-122"/>
                <a:cs typeface="Montserrat" panose="00000500000000000000" pitchFamily="50" charset="0"/>
              </a:endParaRPr>
            </a:p>
          </p:txBody>
        </p:sp>
        <p:sp>
          <p:nvSpPr>
            <p:cNvPr id="24" name="TextBox 9"/>
            <p:cNvSpPr txBox="1"/>
            <p:nvPr/>
          </p:nvSpPr>
          <p:spPr>
            <a:xfrm>
              <a:off x="-1247" y="-166"/>
              <a:ext cx="10932" cy="130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p>
              <a:pPr algn="ctr"/>
              <a:r>
                <a:rPr lang="zh-CN" altLang="en-US" sz="4800" b="1" spc="600" dirty="0" smtClean="0">
                  <a:solidFill>
                    <a:schemeClr val="tx1"/>
                  </a:solidFill>
                  <a:latin typeface="方正明尚简体" panose="02000000000000000000" charset="-122"/>
                  <a:ea typeface="方正明尚简体" panose="02000000000000000000" charset="-122"/>
                  <a:cs typeface="Montserrat" panose="00000500000000000000" pitchFamily="50" charset="0"/>
                </a:rPr>
                <a:t>三大设计</a:t>
              </a:r>
              <a:r>
                <a:rPr lang="zh-CN" altLang="en-US" sz="4800" b="1" spc="600" dirty="0" smtClean="0">
                  <a:solidFill>
                    <a:schemeClr val="tx1"/>
                  </a:solidFill>
                  <a:latin typeface="方正明尚简体" panose="02000000000000000000" charset="-122"/>
                  <a:ea typeface="方正明尚简体" panose="02000000000000000000" charset="-122"/>
                  <a:cs typeface="Montserrat" panose="00000500000000000000" pitchFamily="50" charset="0"/>
                </a:rPr>
                <a:t>模式</a:t>
              </a:r>
              <a:endParaRPr lang="zh-CN" altLang="en-US" sz="4800" b="1" spc="600" dirty="0" smtClean="0">
                <a:solidFill>
                  <a:schemeClr val="tx1"/>
                </a:solidFill>
                <a:latin typeface="方正明尚简体" panose="02000000000000000000" charset="-122"/>
                <a:ea typeface="方正明尚简体" panose="02000000000000000000" charset="-122"/>
                <a:cs typeface="Montserrat" panose="00000500000000000000" pitchFamily="50" charset="0"/>
              </a:endParaRPr>
            </a:p>
          </p:txBody>
        </p:sp>
        <p:sp>
          <p:nvSpPr>
            <p:cNvPr id="25" name="TextBox 12"/>
            <p:cNvSpPr txBox="1"/>
            <p:nvPr/>
          </p:nvSpPr>
          <p:spPr>
            <a:xfrm>
              <a:off x="291" y="799"/>
              <a:ext cx="7856" cy="56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p>
              <a:pPr algn="ctr">
                <a:lnSpc>
                  <a:spcPct val="150000"/>
                </a:lnSpc>
              </a:pPr>
              <a:r>
                <a:rPr lang="en-US" baseline="-25000" dirty="0" smtClean="0">
                  <a:latin typeface="Dotum" panose="020B0600000101010101" charset="-127"/>
                  <a:ea typeface="Dotum" panose="020B0600000101010101" charset="-127"/>
                  <a:cs typeface="+mj-lt"/>
                </a:rPr>
                <a:t>minimal presentation template</a:t>
              </a:r>
              <a:endParaRPr lang="en-US" baseline="-25000" dirty="0" smtClean="0">
                <a:latin typeface="Dotum" panose="020B0600000101010101" charset="-127"/>
                <a:ea typeface="Dotum" panose="020B0600000101010101" charset="-127"/>
                <a:cs typeface="+mj-lt"/>
              </a:endParaRPr>
            </a:p>
          </p:txBody>
        </p:sp>
      </p:grpSp>
      <p:sp>
        <p:nvSpPr>
          <p:cNvPr id="14" name="文本框 13"/>
          <p:cNvSpPr txBox="1"/>
          <p:nvPr/>
        </p:nvSpPr>
        <p:spPr>
          <a:xfrm>
            <a:off x="547370" y="1695450"/>
            <a:ext cx="532066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b="1">
                <a:solidFill>
                  <a:schemeClr val="tx1"/>
                </a:solidFill>
                <a:sym typeface="+mn-ea"/>
              </a:rPr>
              <a:t>2. </a:t>
            </a:r>
            <a:r>
              <a:rPr lang="zh-CN" altLang="en-US" b="1">
                <a:solidFill>
                  <a:schemeClr val="tx1"/>
                </a:solidFill>
                <a:sym typeface="+mn-ea"/>
              </a:rPr>
              <a:t>基于描述的动态选择模式</a:t>
            </a:r>
            <a:r>
              <a:rPr lang="zh-CN" altLang="en-US" b="1">
                <a:solidFill>
                  <a:srgbClr val="FF0000"/>
                </a:solidFill>
                <a:sym typeface="+mn-ea"/>
              </a:rPr>
              <a:t>应用</a:t>
            </a:r>
            <a:endParaRPr lang="zh-CN" altLang="en-US" b="1">
              <a:solidFill>
                <a:srgbClr val="FF0000"/>
              </a:solidFill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1266190" y="3238500"/>
            <a:ext cx="9923145" cy="230695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pPr indent="0">
              <a:buFont typeface="Arial" panose="020B0604020202020204" pitchFamily="34" charset="0"/>
              <a:buNone/>
            </a:pPr>
            <a:r>
              <a:rPr lang="zh-CN" altLang="en-US" b="1"/>
              <a:t>引入了一个协作系统，该系统由一个</a:t>
            </a:r>
            <a:r>
              <a:rPr lang="en-US" altLang="zh-CN" b="1"/>
              <a:t>LLM</a:t>
            </a:r>
            <a:r>
              <a:rPr lang="zh-CN" altLang="en-US" b="1"/>
              <a:t>作为控制器，以及多个专家模型（来自</a:t>
            </a:r>
            <a:r>
              <a:rPr lang="en-US" altLang="zh-CN" b="1"/>
              <a:t>HuggingFace Hub</a:t>
            </a:r>
            <a:r>
              <a:rPr lang="zh-CN" altLang="en-US" b="1"/>
              <a:t>）作为协作执行器。我们系统的工作流程包含四个阶段：</a:t>
            </a:r>
            <a:endParaRPr lang="zh-CN" altLang="en-US" b="1"/>
          </a:p>
          <a:p>
            <a:pPr indent="0">
              <a:buFont typeface="Arial" panose="020B0604020202020204" pitchFamily="34" charset="0"/>
              <a:buNone/>
            </a:pPr>
            <a:endParaRPr lang="zh-CN" altLang="en-US" b="1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zh-CN" altLang="en-US" b="1"/>
              <a:t>任务规划：使用</a:t>
            </a:r>
            <a:r>
              <a:rPr lang="en-US" altLang="zh-CN" b="1"/>
              <a:t> ChatGPT </a:t>
            </a:r>
            <a:r>
              <a:rPr lang="zh-CN" altLang="en-US" b="1"/>
              <a:t>分析用户的请求，了解他们的意图，并将这些请求分解为可能可解决的任务。</a:t>
            </a:r>
            <a:endParaRPr lang="zh-CN" altLang="en-US" b="1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zh-CN" altLang="en-US" b="1"/>
              <a:t>模型选择：为了解决计划的任务，</a:t>
            </a:r>
            <a:r>
              <a:rPr lang="en-US" altLang="zh-CN" b="1"/>
              <a:t>ChatGPT </a:t>
            </a:r>
            <a:r>
              <a:rPr lang="zh-CN" altLang="en-US" b="1"/>
              <a:t>根据描述选择托管在</a:t>
            </a:r>
            <a:r>
              <a:rPr lang="en-US" altLang="zh-CN" b="1"/>
              <a:t> Hugging Face </a:t>
            </a:r>
            <a:r>
              <a:rPr lang="zh-CN" altLang="en-US" b="1"/>
              <a:t>上的专家模型。</a:t>
            </a:r>
            <a:endParaRPr lang="zh-CN" altLang="en-US" b="1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zh-CN" altLang="en-US" b="1"/>
              <a:t>任务执行：调用并执行每个选定的模型，并将结果返回给</a:t>
            </a:r>
            <a:r>
              <a:rPr lang="en-US" altLang="zh-CN" b="1"/>
              <a:t> ChatGPT</a:t>
            </a:r>
            <a:r>
              <a:rPr lang="zh-CN" altLang="en-US" b="1"/>
              <a:t>。</a:t>
            </a:r>
            <a:endParaRPr lang="zh-CN" altLang="en-US" b="1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zh-CN" altLang="en-US" b="1"/>
              <a:t>响应生成：最后，使用</a:t>
            </a:r>
            <a:r>
              <a:rPr lang="en-US" altLang="zh-CN" b="1"/>
              <a:t> ChatGPT </a:t>
            </a:r>
            <a:r>
              <a:rPr lang="zh-CN" altLang="en-US" b="1"/>
              <a:t>整合所有模型的预测结果，并生成响应。</a:t>
            </a:r>
            <a:endParaRPr lang="zh-CN" altLang="en-US" b="1"/>
          </a:p>
        </p:txBody>
      </p:sp>
      <p:sp>
        <p:nvSpPr>
          <p:cNvPr id="5" name="文本框 4"/>
          <p:cNvSpPr txBox="1"/>
          <p:nvPr/>
        </p:nvSpPr>
        <p:spPr>
          <a:xfrm>
            <a:off x="1203960" y="2137410"/>
            <a:ext cx="7919720" cy="95313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zh-CN" altLang="en-US" sz="1400"/>
              <a:t>论文：</a:t>
            </a:r>
            <a:r>
              <a:rPr lang="en-US" altLang="zh-CN" sz="1400"/>
              <a:t>HuggingGPT: Solving AI Tasks with ChatGPT and its Friends in Hugging Face</a:t>
            </a:r>
            <a:endParaRPr lang="en-US" altLang="zh-CN" sz="1400"/>
          </a:p>
          <a:p>
            <a:endParaRPr lang="en-US" altLang="zh-CN" sz="1400"/>
          </a:p>
          <a:p>
            <a:r>
              <a:rPr lang="zh-CN" altLang="en-US" sz="1400" b="1"/>
              <a:t>如何让只能处理单一文本模态的大语言模型（</a:t>
            </a:r>
            <a:r>
              <a:rPr lang="en-US" altLang="zh-CN" sz="1400" b="1"/>
              <a:t>LLM</a:t>
            </a:r>
            <a:r>
              <a:rPr lang="zh-CN" altLang="en-US" sz="1400" b="1"/>
              <a:t>）突破感官限制，去处理复杂的、包含图文音视频的跨模态综合性任务。</a:t>
            </a:r>
            <a:endParaRPr lang="zh-CN" altLang="en-US" sz="1400" b="1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0"/>
    </mc:Choice>
    <mc:Fallback>
      <p:transition/>
    </mc:Fallback>
  </mc:AlternateContent>
</p:sld>
</file>

<file path=ppt/slides/slide5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grpSp>
        <p:nvGrpSpPr>
          <p:cNvPr id="2" name="组合 1"/>
          <p:cNvGrpSpPr/>
          <p:nvPr/>
        </p:nvGrpSpPr>
        <p:grpSpPr>
          <a:xfrm>
            <a:off x="-1386840" y="62865"/>
            <a:ext cx="8120380" cy="1326515"/>
            <a:chOff x="-2184" y="-721"/>
            <a:chExt cx="12788" cy="2089"/>
          </a:xfrm>
        </p:grpSpPr>
        <p:sp>
          <p:nvSpPr>
            <p:cNvPr id="3" name="TextBox 8"/>
            <p:cNvSpPr txBox="1"/>
            <p:nvPr/>
          </p:nvSpPr>
          <p:spPr>
            <a:xfrm>
              <a:off x="-2184" y="-721"/>
              <a:ext cx="12788" cy="1598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p>
              <a:pPr algn="ctr"/>
              <a:r>
                <a:rPr lang="en-US" sz="6000" b="1" spc="600" dirty="0" smtClean="0">
                  <a:solidFill>
                    <a:schemeClr val="bg1">
                      <a:lumMod val="95000"/>
                    </a:schemeClr>
                  </a:solidFill>
                  <a:latin typeface="庞门正道标题体" panose="02010600030101010101" charset="-122"/>
                  <a:ea typeface="庞门正道标题体" panose="02010600030101010101" charset="-122"/>
                  <a:cs typeface="Montserrat" panose="00000500000000000000" pitchFamily="50" charset="0"/>
                </a:rPr>
                <a:t>MINIMALIST</a:t>
              </a:r>
              <a:endParaRPr lang="en-US" sz="6000" b="1" spc="600" dirty="0" smtClean="0">
                <a:solidFill>
                  <a:schemeClr val="bg1">
                    <a:lumMod val="95000"/>
                  </a:schemeClr>
                </a:solidFill>
                <a:latin typeface="庞门正道标题体" panose="02010600030101010101" charset="-122"/>
                <a:ea typeface="庞门正道标题体" panose="02010600030101010101" charset="-122"/>
                <a:cs typeface="Montserrat" panose="00000500000000000000" pitchFamily="50" charset="0"/>
              </a:endParaRPr>
            </a:p>
          </p:txBody>
        </p:sp>
        <p:sp>
          <p:nvSpPr>
            <p:cNvPr id="24" name="TextBox 9"/>
            <p:cNvSpPr txBox="1"/>
            <p:nvPr/>
          </p:nvSpPr>
          <p:spPr>
            <a:xfrm>
              <a:off x="-1247" y="-166"/>
              <a:ext cx="10932" cy="130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p>
              <a:pPr algn="ctr"/>
              <a:r>
                <a:rPr lang="zh-CN" altLang="en-US" sz="4800" b="1" spc="600" dirty="0" smtClean="0">
                  <a:solidFill>
                    <a:schemeClr val="tx1"/>
                  </a:solidFill>
                  <a:latin typeface="方正明尚简体" panose="02000000000000000000" charset="-122"/>
                  <a:ea typeface="方正明尚简体" panose="02000000000000000000" charset="-122"/>
                  <a:cs typeface="Montserrat" panose="00000500000000000000" pitchFamily="50" charset="0"/>
                </a:rPr>
                <a:t>三大设计</a:t>
              </a:r>
              <a:r>
                <a:rPr lang="zh-CN" altLang="en-US" sz="4800" b="1" spc="600" dirty="0" smtClean="0">
                  <a:solidFill>
                    <a:schemeClr val="tx1"/>
                  </a:solidFill>
                  <a:latin typeface="方正明尚简体" panose="02000000000000000000" charset="-122"/>
                  <a:ea typeface="方正明尚简体" panose="02000000000000000000" charset="-122"/>
                  <a:cs typeface="Montserrat" panose="00000500000000000000" pitchFamily="50" charset="0"/>
                </a:rPr>
                <a:t>模式</a:t>
              </a:r>
              <a:endParaRPr lang="zh-CN" altLang="en-US" sz="4800" b="1" spc="600" dirty="0" smtClean="0">
                <a:solidFill>
                  <a:schemeClr val="tx1"/>
                </a:solidFill>
                <a:latin typeface="方正明尚简体" panose="02000000000000000000" charset="-122"/>
                <a:ea typeface="方正明尚简体" panose="02000000000000000000" charset="-122"/>
                <a:cs typeface="Montserrat" panose="00000500000000000000" pitchFamily="50" charset="0"/>
              </a:endParaRPr>
            </a:p>
          </p:txBody>
        </p:sp>
        <p:sp>
          <p:nvSpPr>
            <p:cNvPr id="25" name="TextBox 12"/>
            <p:cNvSpPr txBox="1"/>
            <p:nvPr/>
          </p:nvSpPr>
          <p:spPr>
            <a:xfrm>
              <a:off x="291" y="799"/>
              <a:ext cx="7856" cy="56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p>
              <a:pPr algn="ctr">
                <a:lnSpc>
                  <a:spcPct val="150000"/>
                </a:lnSpc>
              </a:pPr>
              <a:r>
                <a:rPr lang="en-US" baseline="-25000" dirty="0" smtClean="0">
                  <a:latin typeface="Dotum" panose="020B0600000101010101" charset="-127"/>
                  <a:ea typeface="Dotum" panose="020B0600000101010101" charset="-127"/>
                  <a:cs typeface="+mj-lt"/>
                </a:rPr>
                <a:t>minimal presentation template</a:t>
              </a:r>
              <a:endParaRPr lang="en-US" baseline="-25000" dirty="0" smtClean="0">
                <a:latin typeface="Dotum" panose="020B0600000101010101" charset="-127"/>
                <a:ea typeface="Dotum" panose="020B0600000101010101" charset="-127"/>
                <a:cs typeface="+mj-lt"/>
              </a:endParaRPr>
            </a:p>
          </p:txBody>
        </p:sp>
      </p:grpSp>
      <p:sp>
        <p:nvSpPr>
          <p:cNvPr id="14" name="文本框 13"/>
          <p:cNvSpPr txBox="1"/>
          <p:nvPr/>
        </p:nvSpPr>
        <p:spPr>
          <a:xfrm>
            <a:off x="547370" y="1695450"/>
            <a:ext cx="532066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b="1">
                <a:solidFill>
                  <a:schemeClr val="tx1"/>
                </a:solidFill>
                <a:sym typeface="+mn-ea"/>
              </a:rPr>
              <a:t>2. </a:t>
            </a:r>
            <a:r>
              <a:rPr lang="zh-CN" altLang="en-US" b="1">
                <a:solidFill>
                  <a:schemeClr val="tx1"/>
                </a:solidFill>
                <a:sym typeface="+mn-ea"/>
              </a:rPr>
              <a:t>基于描述的动态选择模式</a:t>
            </a:r>
            <a:r>
              <a:rPr lang="zh-CN" altLang="en-US" b="1">
                <a:solidFill>
                  <a:srgbClr val="FF0000"/>
                </a:solidFill>
                <a:sym typeface="+mn-ea"/>
              </a:rPr>
              <a:t>应用</a:t>
            </a:r>
            <a:endParaRPr lang="zh-CN" altLang="en-US" b="1">
              <a:solidFill>
                <a:srgbClr val="FF0000"/>
              </a:solidFill>
              <a:sym typeface="+mn-ea"/>
            </a:endParaRPr>
          </a:p>
        </p:txBody>
      </p:sp>
      <p:pic>
        <p:nvPicPr>
          <p:cNvPr id="4" name="图片 3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371600" y="2148840"/>
            <a:ext cx="9655175" cy="4278630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0"/>
    </mc:Choice>
    <mc:Fallback>
      <p:transition/>
    </mc:Fallback>
  </mc:AlternateContent>
</p:sld>
</file>

<file path=ppt/slides/slide5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grpSp>
        <p:nvGrpSpPr>
          <p:cNvPr id="2" name="组合 1"/>
          <p:cNvGrpSpPr/>
          <p:nvPr/>
        </p:nvGrpSpPr>
        <p:grpSpPr>
          <a:xfrm>
            <a:off x="-1386840" y="62865"/>
            <a:ext cx="8120380" cy="1326515"/>
            <a:chOff x="-2184" y="-721"/>
            <a:chExt cx="12788" cy="2089"/>
          </a:xfrm>
        </p:grpSpPr>
        <p:sp>
          <p:nvSpPr>
            <p:cNvPr id="3" name="TextBox 8"/>
            <p:cNvSpPr txBox="1"/>
            <p:nvPr/>
          </p:nvSpPr>
          <p:spPr>
            <a:xfrm>
              <a:off x="-2184" y="-721"/>
              <a:ext cx="12788" cy="1598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p>
              <a:pPr algn="ctr"/>
              <a:r>
                <a:rPr lang="en-US" sz="6000" b="1" spc="600" dirty="0" smtClean="0">
                  <a:solidFill>
                    <a:schemeClr val="bg1">
                      <a:lumMod val="95000"/>
                    </a:schemeClr>
                  </a:solidFill>
                  <a:latin typeface="庞门正道标题体" panose="02010600030101010101" charset="-122"/>
                  <a:ea typeface="庞门正道标题体" panose="02010600030101010101" charset="-122"/>
                  <a:cs typeface="Montserrat" panose="00000500000000000000" pitchFamily="50" charset="0"/>
                </a:rPr>
                <a:t>MINIMALIST</a:t>
              </a:r>
              <a:endParaRPr lang="en-US" sz="6000" b="1" spc="600" dirty="0" smtClean="0">
                <a:solidFill>
                  <a:schemeClr val="bg1">
                    <a:lumMod val="95000"/>
                  </a:schemeClr>
                </a:solidFill>
                <a:latin typeface="庞门正道标题体" panose="02010600030101010101" charset="-122"/>
                <a:ea typeface="庞门正道标题体" panose="02010600030101010101" charset="-122"/>
                <a:cs typeface="Montserrat" panose="00000500000000000000" pitchFamily="50" charset="0"/>
              </a:endParaRPr>
            </a:p>
          </p:txBody>
        </p:sp>
        <p:sp>
          <p:nvSpPr>
            <p:cNvPr id="24" name="TextBox 9"/>
            <p:cNvSpPr txBox="1"/>
            <p:nvPr/>
          </p:nvSpPr>
          <p:spPr>
            <a:xfrm>
              <a:off x="-1247" y="-166"/>
              <a:ext cx="10932" cy="130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p>
              <a:pPr algn="ctr"/>
              <a:r>
                <a:rPr lang="zh-CN" altLang="en-US" sz="4800" b="1" spc="600" dirty="0" smtClean="0">
                  <a:solidFill>
                    <a:schemeClr val="tx1"/>
                  </a:solidFill>
                  <a:latin typeface="方正明尚简体" panose="02000000000000000000" charset="-122"/>
                  <a:ea typeface="方正明尚简体" panose="02000000000000000000" charset="-122"/>
                  <a:cs typeface="Montserrat" panose="00000500000000000000" pitchFamily="50" charset="0"/>
                </a:rPr>
                <a:t>三大设计</a:t>
              </a:r>
              <a:r>
                <a:rPr lang="zh-CN" altLang="en-US" sz="4800" b="1" spc="600" dirty="0" smtClean="0">
                  <a:solidFill>
                    <a:schemeClr val="tx1"/>
                  </a:solidFill>
                  <a:latin typeface="方正明尚简体" panose="02000000000000000000" charset="-122"/>
                  <a:ea typeface="方正明尚简体" panose="02000000000000000000" charset="-122"/>
                  <a:cs typeface="Montserrat" panose="00000500000000000000" pitchFamily="50" charset="0"/>
                </a:rPr>
                <a:t>模式</a:t>
              </a:r>
              <a:endParaRPr lang="zh-CN" altLang="en-US" sz="4800" b="1" spc="600" dirty="0" smtClean="0">
                <a:solidFill>
                  <a:schemeClr val="tx1"/>
                </a:solidFill>
                <a:latin typeface="方正明尚简体" panose="02000000000000000000" charset="-122"/>
                <a:ea typeface="方正明尚简体" panose="02000000000000000000" charset="-122"/>
                <a:cs typeface="Montserrat" panose="00000500000000000000" pitchFamily="50" charset="0"/>
              </a:endParaRPr>
            </a:p>
          </p:txBody>
        </p:sp>
        <p:sp>
          <p:nvSpPr>
            <p:cNvPr id="25" name="TextBox 12"/>
            <p:cNvSpPr txBox="1"/>
            <p:nvPr/>
          </p:nvSpPr>
          <p:spPr>
            <a:xfrm>
              <a:off x="291" y="799"/>
              <a:ext cx="7856" cy="56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p>
              <a:pPr algn="ctr">
                <a:lnSpc>
                  <a:spcPct val="150000"/>
                </a:lnSpc>
              </a:pPr>
              <a:r>
                <a:rPr lang="en-US" baseline="-25000" dirty="0" smtClean="0">
                  <a:latin typeface="Dotum" panose="020B0600000101010101" charset="-127"/>
                  <a:ea typeface="Dotum" panose="020B0600000101010101" charset="-127"/>
                  <a:cs typeface="+mj-lt"/>
                </a:rPr>
                <a:t>minimal presentation template</a:t>
              </a:r>
              <a:endParaRPr lang="en-US" baseline="-25000" dirty="0" smtClean="0">
                <a:latin typeface="Dotum" panose="020B0600000101010101" charset="-127"/>
                <a:ea typeface="Dotum" panose="020B0600000101010101" charset="-127"/>
                <a:cs typeface="+mj-lt"/>
              </a:endParaRPr>
            </a:p>
          </p:txBody>
        </p:sp>
      </p:grpSp>
      <p:sp>
        <p:nvSpPr>
          <p:cNvPr id="14" name="文本框 13"/>
          <p:cNvSpPr txBox="1"/>
          <p:nvPr/>
        </p:nvSpPr>
        <p:spPr>
          <a:xfrm>
            <a:off x="547370" y="1695450"/>
            <a:ext cx="532066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b="1">
                <a:solidFill>
                  <a:schemeClr val="tx1"/>
                </a:solidFill>
                <a:sym typeface="+mn-ea"/>
              </a:rPr>
              <a:t>2. </a:t>
            </a:r>
            <a:r>
              <a:rPr lang="zh-CN" altLang="en-US" b="1">
                <a:solidFill>
                  <a:schemeClr val="tx1"/>
                </a:solidFill>
                <a:sym typeface="+mn-ea"/>
              </a:rPr>
              <a:t>基于描述的动态选择模式</a:t>
            </a:r>
            <a:r>
              <a:rPr lang="zh-CN" altLang="en-US" b="1">
                <a:solidFill>
                  <a:srgbClr val="FF0000"/>
                </a:solidFill>
                <a:sym typeface="+mn-ea"/>
              </a:rPr>
              <a:t>应用</a:t>
            </a:r>
            <a:endParaRPr lang="zh-CN" altLang="en-US" b="1">
              <a:solidFill>
                <a:srgbClr val="FF0000"/>
              </a:solidFill>
              <a:sym typeface="+mn-ea"/>
            </a:endParaRPr>
          </a:p>
        </p:txBody>
      </p:sp>
      <p:pic>
        <p:nvPicPr>
          <p:cNvPr id="5" name="图片 4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346700" y="0"/>
            <a:ext cx="6786245" cy="6858000"/>
          </a:xfrm>
          <a:prstGeom prst="rect">
            <a:avLst/>
          </a:prstGeom>
        </p:spPr>
      </p:pic>
      <p:sp>
        <p:nvSpPr>
          <p:cNvPr id="9" name="文本框 8"/>
          <p:cNvSpPr txBox="1"/>
          <p:nvPr/>
        </p:nvSpPr>
        <p:spPr>
          <a:xfrm>
            <a:off x="631190" y="2301240"/>
            <a:ext cx="4627880" cy="286131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pPr marL="285750" indent="-285750">
              <a:buFont typeface="Arial" panose="020B0604020202020204" pitchFamily="34" charset="0"/>
              <a:buChar char="•"/>
            </a:pPr>
            <a:r>
              <a:rPr lang="zh-CN" altLang="en-US" b="1"/>
              <a:t>任务规划：使用</a:t>
            </a:r>
            <a:r>
              <a:rPr lang="en-US" altLang="zh-CN" b="1"/>
              <a:t> ChatGPT </a:t>
            </a:r>
            <a:r>
              <a:rPr lang="zh-CN" altLang="en-US" b="1"/>
              <a:t>分析用户的请求，了解他们的意图，并将这些请求分解为可能可解决的任务。</a:t>
            </a:r>
            <a:endParaRPr lang="zh-CN" altLang="en-US" b="1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zh-CN" altLang="en-US" b="1"/>
              <a:t>模型选择：为了解决计划的任务，</a:t>
            </a:r>
            <a:r>
              <a:rPr lang="en-US" altLang="zh-CN" b="1"/>
              <a:t>ChatGPT </a:t>
            </a:r>
            <a:r>
              <a:rPr lang="zh-CN" altLang="en-US" b="1"/>
              <a:t>根据描述选择托管在</a:t>
            </a:r>
            <a:r>
              <a:rPr lang="en-US" altLang="zh-CN" b="1"/>
              <a:t> Hugging Face </a:t>
            </a:r>
            <a:r>
              <a:rPr lang="zh-CN" altLang="en-US" b="1"/>
              <a:t>上的专家模型。</a:t>
            </a:r>
            <a:endParaRPr lang="zh-CN" altLang="en-US" b="1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zh-CN" altLang="en-US" b="1"/>
              <a:t>任务执行：调用并执行每个选定的模型，并将结果返回给</a:t>
            </a:r>
            <a:r>
              <a:rPr lang="en-US" altLang="zh-CN" b="1"/>
              <a:t> ChatGPT</a:t>
            </a:r>
            <a:r>
              <a:rPr lang="zh-CN" altLang="en-US" b="1"/>
              <a:t>。</a:t>
            </a:r>
            <a:endParaRPr lang="zh-CN" altLang="en-US" b="1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zh-CN" altLang="en-US" b="1"/>
              <a:t>响应生成：最后，使用</a:t>
            </a:r>
            <a:r>
              <a:rPr lang="en-US" altLang="zh-CN" b="1"/>
              <a:t> ChatGPT </a:t>
            </a:r>
            <a:r>
              <a:rPr lang="zh-CN" altLang="en-US" b="1"/>
              <a:t>整合所有模型的预测结果，并生成响应。</a:t>
            </a:r>
            <a:endParaRPr lang="zh-CN" altLang="en-US" b="1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0"/>
    </mc:Choice>
    <mc:Fallback>
      <p:transition/>
    </mc:Fallback>
  </mc:AlternateContent>
</p:sld>
</file>

<file path=ppt/slides/slide5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grpSp>
        <p:nvGrpSpPr>
          <p:cNvPr id="2" name="组合 1"/>
          <p:cNvGrpSpPr/>
          <p:nvPr/>
        </p:nvGrpSpPr>
        <p:grpSpPr>
          <a:xfrm>
            <a:off x="-1386840" y="62865"/>
            <a:ext cx="8120380" cy="1326515"/>
            <a:chOff x="-2184" y="-721"/>
            <a:chExt cx="12788" cy="2089"/>
          </a:xfrm>
        </p:grpSpPr>
        <p:sp>
          <p:nvSpPr>
            <p:cNvPr id="3" name="TextBox 8"/>
            <p:cNvSpPr txBox="1"/>
            <p:nvPr/>
          </p:nvSpPr>
          <p:spPr>
            <a:xfrm>
              <a:off x="-2184" y="-721"/>
              <a:ext cx="12788" cy="1598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p>
              <a:pPr algn="ctr"/>
              <a:r>
                <a:rPr lang="en-US" sz="6000" b="1" spc="600" dirty="0" smtClean="0">
                  <a:solidFill>
                    <a:schemeClr val="bg1">
                      <a:lumMod val="95000"/>
                    </a:schemeClr>
                  </a:solidFill>
                  <a:latin typeface="庞门正道标题体" panose="02010600030101010101" charset="-122"/>
                  <a:ea typeface="庞门正道标题体" panose="02010600030101010101" charset="-122"/>
                  <a:cs typeface="Montserrat" panose="00000500000000000000" pitchFamily="50" charset="0"/>
                </a:rPr>
                <a:t>MINIMALIST</a:t>
              </a:r>
              <a:endParaRPr lang="en-US" sz="6000" b="1" spc="600" dirty="0" smtClean="0">
                <a:solidFill>
                  <a:schemeClr val="bg1">
                    <a:lumMod val="95000"/>
                  </a:schemeClr>
                </a:solidFill>
                <a:latin typeface="庞门正道标题体" panose="02010600030101010101" charset="-122"/>
                <a:ea typeface="庞门正道标题体" panose="02010600030101010101" charset="-122"/>
                <a:cs typeface="Montserrat" panose="00000500000000000000" pitchFamily="50" charset="0"/>
              </a:endParaRPr>
            </a:p>
          </p:txBody>
        </p:sp>
        <p:sp>
          <p:nvSpPr>
            <p:cNvPr id="24" name="TextBox 9"/>
            <p:cNvSpPr txBox="1"/>
            <p:nvPr/>
          </p:nvSpPr>
          <p:spPr>
            <a:xfrm>
              <a:off x="-1247" y="-166"/>
              <a:ext cx="10932" cy="130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p>
              <a:pPr algn="ctr"/>
              <a:r>
                <a:rPr lang="zh-CN" altLang="en-US" sz="4800" b="1" spc="600" dirty="0" smtClean="0">
                  <a:solidFill>
                    <a:schemeClr val="tx1"/>
                  </a:solidFill>
                  <a:latin typeface="方正明尚简体" panose="02000000000000000000" charset="-122"/>
                  <a:ea typeface="方正明尚简体" panose="02000000000000000000" charset="-122"/>
                  <a:cs typeface="Montserrat" panose="00000500000000000000" pitchFamily="50" charset="0"/>
                </a:rPr>
                <a:t>三大设计</a:t>
              </a:r>
              <a:r>
                <a:rPr lang="zh-CN" altLang="en-US" sz="4800" b="1" spc="600" dirty="0" smtClean="0">
                  <a:solidFill>
                    <a:schemeClr val="tx1"/>
                  </a:solidFill>
                  <a:latin typeface="方正明尚简体" panose="02000000000000000000" charset="-122"/>
                  <a:ea typeface="方正明尚简体" panose="02000000000000000000" charset="-122"/>
                  <a:cs typeface="Montserrat" panose="00000500000000000000" pitchFamily="50" charset="0"/>
                </a:rPr>
                <a:t>模式</a:t>
              </a:r>
              <a:endParaRPr lang="zh-CN" altLang="en-US" sz="4800" b="1" spc="600" dirty="0" smtClean="0">
                <a:solidFill>
                  <a:schemeClr val="tx1"/>
                </a:solidFill>
                <a:latin typeface="方正明尚简体" panose="02000000000000000000" charset="-122"/>
                <a:ea typeface="方正明尚简体" panose="02000000000000000000" charset="-122"/>
                <a:cs typeface="Montserrat" panose="00000500000000000000" pitchFamily="50" charset="0"/>
              </a:endParaRPr>
            </a:p>
          </p:txBody>
        </p:sp>
        <p:sp>
          <p:nvSpPr>
            <p:cNvPr id="25" name="TextBox 12"/>
            <p:cNvSpPr txBox="1"/>
            <p:nvPr/>
          </p:nvSpPr>
          <p:spPr>
            <a:xfrm>
              <a:off x="291" y="799"/>
              <a:ext cx="7856" cy="56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p>
              <a:pPr algn="ctr">
                <a:lnSpc>
                  <a:spcPct val="150000"/>
                </a:lnSpc>
              </a:pPr>
              <a:r>
                <a:rPr lang="en-US" baseline="-25000" dirty="0" smtClean="0">
                  <a:latin typeface="Dotum" panose="020B0600000101010101" charset="-127"/>
                  <a:ea typeface="Dotum" panose="020B0600000101010101" charset="-127"/>
                  <a:cs typeface="+mj-lt"/>
                </a:rPr>
                <a:t>minimal presentation template</a:t>
              </a:r>
              <a:endParaRPr lang="en-US" baseline="-25000" dirty="0" smtClean="0">
                <a:latin typeface="Dotum" panose="020B0600000101010101" charset="-127"/>
                <a:ea typeface="Dotum" panose="020B0600000101010101" charset="-127"/>
                <a:cs typeface="+mj-lt"/>
              </a:endParaRPr>
            </a:p>
          </p:txBody>
        </p:sp>
      </p:grpSp>
      <p:sp>
        <p:nvSpPr>
          <p:cNvPr id="14" name="文本框 13"/>
          <p:cNvSpPr txBox="1"/>
          <p:nvPr/>
        </p:nvSpPr>
        <p:spPr>
          <a:xfrm>
            <a:off x="547370" y="1695450"/>
            <a:ext cx="532066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b="1">
                <a:solidFill>
                  <a:schemeClr val="tx1"/>
                </a:solidFill>
                <a:sym typeface="+mn-ea"/>
              </a:rPr>
              <a:t>2. </a:t>
            </a:r>
            <a:r>
              <a:rPr lang="zh-CN" altLang="en-US" b="1">
                <a:solidFill>
                  <a:schemeClr val="tx1"/>
                </a:solidFill>
                <a:sym typeface="+mn-ea"/>
              </a:rPr>
              <a:t>基于描述的动态选择模式</a:t>
            </a:r>
            <a:r>
              <a:rPr lang="zh-CN" altLang="en-US" b="1">
                <a:solidFill>
                  <a:srgbClr val="FF0000"/>
                </a:solidFill>
                <a:sym typeface="+mn-ea"/>
              </a:rPr>
              <a:t>应用</a:t>
            </a:r>
            <a:endParaRPr lang="zh-CN" altLang="en-US" b="1">
              <a:solidFill>
                <a:srgbClr val="FF0000"/>
              </a:solidFill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1042670" y="2205990"/>
            <a:ext cx="10106660" cy="286131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zh-CN" altLang="en-US" b="1"/>
              <a:t>论文：</a:t>
            </a:r>
            <a:r>
              <a:rPr lang="en-US" altLang="zh-CN" b="1"/>
              <a:t>HuggingGPT: Solving AI Tasks with ChatGPT and its Friends in Hugging Face</a:t>
            </a:r>
            <a:endParaRPr lang="en-US" altLang="zh-CN" b="1"/>
          </a:p>
          <a:p>
            <a:endParaRPr lang="en-US" altLang="zh-CN" b="1"/>
          </a:p>
          <a:p>
            <a:r>
              <a:rPr lang="zh-CN" altLang="en-US" b="1"/>
              <a:t>引入了一个协作系统，该系统由一个</a:t>
            </a:r>
            <a:r>
              <a:rPr lang="en-US" altLang="zh-CN" b="1"/>
              <a:t>LLM</a:t>
            </a:r>
            <a:r>
              <a:rPr lang="zh-CN" altLang="en-US" b="1"/>
              <a:t>作为控制器，以及多个专家模型（来自</a:t>
            </a:r>
            <a:r>
              <a:rPr lang="en-US" altLang="zh-CN" b="1"/>
              <a:t>HuggingFace Hub</a:t>
            </a:r>
            <a:r>
              <a:rPr lang="zh-CN" altLang="en-US" b="1"/>
              <a:t>）作为协作执行器。我们系统的工作流程包含四个阶段：</a:t>
            </a:r>
            <a:endParaRPr lang="zh-CN" altLang="en-US" b="1"/>
          </a:p>
          <a:p>
            <a:endParaRPr lang="en-US" altLang="zh-CN" b="1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zh-CN" altLang="en-US" b="1"/>
              <a:t>任务规划：使用</a:t>
            </a:r>
            <a:r>
              <a:rPr lang="en-US" altLang="zh-CN" b="1"/>
              <a:t> ChatGPT </a:t>
            </a:r>
            <a:r>
              <a:rPr lang="zh-CN" altLang="en-US" b="1"/>
              <a:t>分析用户的请求，了解他们的意图，并将这些请求分解为可能可解决的任务。</a:t>
            </a:r>
            <a:endParaRPr lang="zh-CN" altLang="en-US" b="1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zh-CN" altLang="en-US" b="1"/>
              <a:t>模型选择：为了解决计划的任务，</a:t>
            </a:r>
            <a:r>
              <a:rPr lang="en-US" altLang="zh-CN" b="1"/>
              <a:t>ChatGPT </a:t>
            </a:r>
            <a:r>
              <a:rPr lang="zh-CN" altLang="en-US" b="1"/>
              <a:t>根据描述选择托管在</a:t>
            </a:r>
            <a:r>
              <a:rPr lang="en-US" altLang="zh-CN" b="1"/>
              <a:t> Hugging Face </a:t>
            </a:r>
            <a:r>
              <a:rPr lang="zh-CN" altLang="en-US" b="1"/>
              <a:t>上的专家模型。</a:t>
            </a:r>
            <a:endParaRPr lang="zh-CN" altLang="en-US" b="1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zh-CN" altLang="en-US" b="1"/>
              <a:t>任务执行：调用并执行每个选定的模型，并将结果返回给</a:t>
            </a:r>
            <a:r>
              <a:rPr lang="en-US" altLang="zh-CN" b="1"/>
              <a:t> ChatGPT</a:t>
            </a:r>
            <a:r>
              <a:rPr lang="zh-CN" altLang="en-US" b="1"/>
              <a:t>。</a:t>
            </a:r>
            <a:endParaRPr lang="zh-CN" altLang="en-US" b="1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zh-CN" altLang="en-US" b="1"/>
              <a:t>响应生成：最后，使用</a:t>
            </a:r>
            <a:r>
              <a:rPr lang="en-US" altLang="zh-CN" b="1"/>
              <a:t> ChatGPT </a:t>
            </a:r>
            <a:r>
              <a:rPr lang="zh-CN" altLang="en-US" b="1"/>
              <a:t>整合所有模型的预测结果，并生成响应。</a:t>
            </a:r>
            <a:endParaRPr lang="zh-CN" altLang="en-US" b="1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0"/>
    </mc:Choice>
    <mc:Fallback>
      <p:transition/>
    </mc:Fallback>
  </mc:AlternateContent>
</p:sld>
</file>

<file path=ppt/slides/slide5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grpSp>
        <p:nvGrpSpPr>
          <p:cNvPr id="2" name="组合 1"/>
          <p:cNvGrpSpPr/>
          <p:nvPr/>
        </p:nvGrpSpPr>
        <p:grpSpPr>
          <a:xfrm>
            <a:off x="-1386840" y="62865"/>
            <a:ext cx="8120380" cy="1326515"/>
            <a:chOff x="-2184" y="-721"/>
            <a:chExt cx="12788" cy="2089"/>
          </a:xfrm>
        </p:grpSpPr>
        <p:sp>
          <p:nvSpPr>
            <p:cNvPr id="3" name="TextBox 8"/>
            <p:cNvSpPr txBox="1"/>
            <p:nvPr/>
          </p:nvSpPr>
          <p:spPr>
            <a:xfrm>
              <a:off x="-2184" y="-721"/>
              <a:ext cx="12788" cy="1598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p>
              <a:pPr algn="ctr"/>
              <a:r>
                <a:rPr lang="en-US" sz="6000" b="1" spc="600" dirty="0" smtClean="0">
                  <a:solidFill>
                    <a:schemeClr val="bg1">
                      <a:lumMod val="95000"/>
                    </a:schemeClr>
                  </a:solidFill>
                  <a:latin typeface="庞门正道标题体" panose="02010600030101010101" charset="-122"/>
                  <a:ea typeface="庞门正道标题体" panose="02010600030101010101" charset="-122"/>
                  <a:cs typeface="Montserrat" panose="00000500000000000000" pitchFamily="50" charset="0"/>
                </a:rPr>
                <a:t>MINIMALIST</a:t>
              </a:r>
              <a:endParaRPr lang="en-US" sz="6000" b="1" spc="600" dirty="0" smtClean="0">
                <a:solidFill>
                  <a:schemeClr val="bg1">
                    <a:lumMod val="95000"/>
                  </a:schemeClr>
                </a:solidFill>
                <a:latin typeface="庞门正道标题体" panose="02010600030101010101" charset="-122"/>
                <a:ea typeface="庞门正道标题体" panose="02010600030101010101" charset="-122"/>
                <a:cs typeface="Montserrat" panose="00000500000000000000" pitchFamily="50" charset="0"/>
              </a:endParaRPr>
            </a:p>
          </p:txBody>
        </p:sp>
        <p:sp>
          <p:nvSpPr>
            <p:cNvPr id="24" name="TextBox 9"/>
            <p:cNvSpPr txBox="1"/>
            <p:nvPr/>
          </p:nvSpPr>
          <p:spPr>
            <a:xfrm>
              <a:off x="-1247" y="-166"/>
              <a:ext cx="10932" cy="130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p>
              <a:pPr algn="ctr"/>
              <a:r>
                <a:rPr lang="zh-CN" altLang="en-US" sz="4800" b="1" spc="600" dirty="0" smtClean="0">
                  <a:solidFill>
                    <a:schemeClr val="tx1"/>
                  </a:solidFill>
                  <a:latin typeface="方正明尚简体" panose="02000000000000000000" charset="-122"/>
                  <a:ea typeface="方正明尚简体" panose="02000000000000000000" charset="-122"/>
                  <a:cs typeface="Montserrat" panose="00000500000000000000" pitchFamily="50" charset="0"/>
                </a:rPr>
                <a:t>工程构建</a:t>
              </a:r>
              <a:r>
                <a:rPr lang="zh-CN" altLang="en-US" sz="4800" b="1" spc="600" dirty="0" smtClean="0">
                  <a:solidFill>
                    <a:schemeClr val="tx1"/>
                  </a:solidFill>
                  <a:latin typeface="方正明尚简体" panose="02000000000000000000" charset="-122"/>
                  <a:ea typeface="方正明尚简体" panose="02000000000000000000" charset="-122"/>
                  <a:cs typeface="Montserrat" panose="00000500000000000000" pitchFamily="50" charset="0"/>
                </a:rPr>
                <a:t>规范</a:t>
              </a:r>
              <a:endParaRPr lang="zh-CN" altLang="en-US" sz="4800" b="1" spc="600" dirty="0" smtClean="0">
                <a:solidFill>
                  <a:schemeClr val="tx1"/>
                </a:solidFill>
                <a:latin typeface="方正明尚简体" panose="02000000000000000000" charset="-122"/>
                <a:ea typeface="方正明尚简体" panose="02000000000000000000" charset="-122"/>
                <a:cs typeface="Montserrat" panose="00000500000000000000" pitchFamily="50" charset="0"/>
              </a:endParaRPr>
            </a:p>
          </p:txBody>
        </p:sp>
        <p:sp>
          <p:nvSpPr>
            <p:cNvPr id="25" name="TextBox 12"/>
            <p:cNvSpPr txBox="1"/>
            <p:nvPr/>
          </p:nvSpPr>
          <p:spPr>
            <a:xfrm>
              <a:off x="291" y="799"/>
              <a:ext cx="7856" cy="56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p>
              <a:pPr algn="ctr">
                <a:lnSpc>
                  <a:spcPct val="150000"/>
                </a:lnSpc>
              </a:pPr>
              <a:r>
                <a:rPr lang="en-US" baseline="-25000" dirty="0" smtClean="0">
                  <a:latin typeface="Dotum" panose="020B0600000101010101" charset="-127"/>
                  <a:ea typeface="Dotum" panose="020B0600000101010101" charset="-127"/>
                  <a:cs typeface="+mj-lt"/>
                </a:rPr>
                <a:t>minimal presentation template</a:t>
              </a:r>
              <a:endParaRPr lang="en-US" baseline="-25000" dirty="0" smtClean="0">
                <a:latin typeface="Dotum" panose="020B0600000101010101" charset="-127"/>
                <a:ea typeface="Dotum" panose="020B0600000101010101" charset="-127"/>
                <a:cs typeface="+mj-lt"/>
              </a:endParaRPr>
            </a:p>
          </p:txBody>
        </p:sp>
      </p:grpSp>
      <p:sp>
        <p:nvSpPr>
          <p:cNvPr id="5" name="文本框 4"/>
          <p:cNvSpPr txBox="1"/>
          <p:nvPr/>
        </p:nvSpPr>
        <p:spPr>
          <a:xfrm>
            <a:off x="1012190" y="1998345"/>
            <a:ext cx="10167620" cy="369252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pPr marL="285750" indent="-285750">
              <a:buFont typeface="Arial" panose="020B0604020202020204" pitchFamily="34" charset="0"/>
              <a:buChar char="•"/>
            </a:pPr>
            <a:r>
              <a:rPr lang="zh-CN" altLang="en-US" b="1"/>
              <a:t>极度精确的描述文档</a:t>
            </a:r>
            <a:r>
              <a:rPr lang="en-US" altLang="zh-CN" b="1"/>
              <a:t> (Description Engineering)</a:t>
            </a:r>
            <a:r>
              <a:rPr lang="zh-CN" altLang="en-US" b="1"/>
              <a:t>：</a:t>
            </a:r>
            <a:endParaRPr lang="zh-CN" altLang="en-US" b="1"/>
          </a:p>
          <a:p>
            <a:r>
              <a:rPr lang="zh-CN" altLang="en-US"/>
              <a:t>文章强调，给</a:t>
            </a:r>
            <a:r>
              <a:rPr lang="en-US" altLang="zh-CN"/>
              <a:t> LLM </a:t>
            </a:r>
            <a:r>
              <a:rPr lang="zh-CN" altLang="en-US"/>
              <a:t>看的工具描述，比给人类看的</a:t>
            </a:r>
            <a:r>
              <a:rPr lang="en-US" altLang="zh-CN"/>
              <a:t> API </a:t>
            </a:r>
            <a:r>
              <a:rPr lang="zh-CN" altLang="en-US"/>
              <a:t>文档要求更高。设计</a:t>
            </a:r>
            <a:r>
              <a:rPr lang="en-US" altLang="zh-CN"/>
              <a:t> Skill </a:t>
            </a:r>
            <a:r>
              <a:rPr lang="zh-CN" altLang="en-US"/>
              <a:t>时，必须用清晰的自然语言定义该</a:t>
            </a:r>
            <a:r>
              <a:rPr lang="en-US" altLang="zh-CN"/>
              <a:t> Skill </a:t>
            </a:r>
            <a:r>
              <a:rPr lang="zh-CN" altLang="en-US"/>
              <a:t>的</a:t>
            </a:r>
            <a:r>
              <a:rPr lang="en-US" altLang="zh-CN"/>
              <a:t>“</a:t>
            </a:r>
            <a:r>
              <a:rPr lang="zh-CN" altLang="en-US"/>
              <a:t>能力边界</a:t>
            </a:r>
            <a:r>
              <a:rPr lang="en-US" altLang="zh-CN"/>
              <a:t>”</a:t>
            </a:r>
            <a:r>
              <a:rPr lang="zh-CN" altLang="en-US"/>
              <a:t>、</a:t>
            </a:r>
            <a:r>
              <a:rPr lang="en-US" altLang="zh-CN"/>
              <a:t>“</a:t>
            </a:r>
            <a:r>
              <a:rPr lang="zh-CN" altLang="en-US"/>
              <a:t>适用场景</a:t>
            </a:r>
            <a:r>
              <a:rPr lang="en-US" altLang="zh-CN"/>
              <a:t>”</a:t>
            </a:r>
            <a:r>
              <a:rPr lang="zh-CN" altLang="en-US"/>
              <a:t>以及</a:t>
            </a:r>
            <a:r>
              <a:rPr lang="en-US" altLang="zh-CN"/>
              <a:t>“</a:t>
            </a:r>
            <a:r>
              <a:rPr lang="zh-CN" altLang="en-US"/>
              <a:t>不适用场景</a:t>
            </a:r>
            <a:r>
              <a:rPr lang="en-US" altLang="zh-CN"/>
              <a:t>”</a:t>
            </a:r>
            <a:r>
              <a:rPr lang="zh-CN" altLang="en-US"/>
              <a:t>，否则模型很容易产生幻觉，乱用工具。</a:t>
            </a:r>
            <a:endParaRPr lang="zh-CN" altLang="en-US"/>
          </a:p>
          <a:p>
            <a:endParaRPr lang="en-US" altLang="zh-CN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zh-CN" altLang="en-US" b="1"/>
              <a:t>标准化的输入输出接口</a:t>
            </a:r>
            <a:r>
              <a:rPr lang="en-US" altLang="zh-CN" b="1"/>
              <a:t> (Standardized I/O)</a:t>
            </a:r>
            <a:r>
              <a:rPr lang="zh-CN" altLang="en-US" b="1"/>
              <a:t>：</a:t>
            </a:r>
            <a:endParaRPr lang="zh-CN" altLang="en-US" b="1"/>
          </a:p>
          <a:p>
            <a:r>
              <a:rPr lang="zh-CN" altLang="en-US"/>
              <a:t>必须通过严格的格式（如</a:t>
            </a:r>
            <a:r>
              <a:rPr lang="en-US" altLang="zh-CN"/>
              <a:t> JSON Schema </a:t>
            </a:r>
            <a:r>
              <a:rPr lang="zh-CN" altLang="en-US"/>
              <a:t>或特定的文本模板）来约束</a:t>
            </a:r>
            <a:r>
              <a:rPr lang="en-US" altLang="zh-CN"/>
              <a:t> LLM </a:t>
            </a:r>
            <a:r>
              <a:rPr lang="zh-CN" altLang="en-US"/>
              <a:t>给出的参数。</a:t>
            </a:r>
            <a:r>
              <a:rPr lang="en-US" altLang="zh-CN"/>
              <a:t>LLM </a:t>
            </a:r>
            <a:r>
              <a:rPr lang="zh-CN" altLang="en-US"/>
              <a:t>生成的内容经常不可控，因此</a:t>
            </a:r>
            <a:r>
              <a:rPr lang="en-US" altLang="zh-CN"/>
              <a:t> Skill </a:t>
            </a:r>
            <a:r>
              <a:rPr lang="zh-CN" altLang="en-US"/>
              <a:t>层的设计必须包含强大的输入校验机制。</a:t>
            </a:r>
            <a:endParaRPr lang="zh-CN" altLang="en-US"/>
          </a:p>
          <a:p>
            <a:endParaRPr lang="en-US" altLang="zh-CN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zh-CN" altLang="en-US" b="1"/>
              <a:t>上下文反馈闭环</a:t>
            </a:r>
            <a:r>
              <a:rPr lang="en-US" altLang="zh-CN" b="1"/>
              <a:t> (Feedback Loop)</a:t>
            </a:r>
            <a:r>
              <a:rPr lang="zh-CN" altLang="en-US" b="1"/>
              <a:t>：</a:t>
            </a:r>
            <a:endParaRPr lang="zh-CN" altLang="en-US" b="1"/>
          </a:p>
          <a:p>
            <a:r>
              <a:rPr lang="zh-CN" altLang="en-US"/>
              <a:t>设计</a:t>
            </a:r>
            <a:r>
              <a:rPr lang="en-US" altLang="zh-CN"/>
              <a:t> Skill </a:t>
            </a:r>
            <a:r>
              <a:rPr lang="zh-CN" altLang="en-US"/>
              <a:t>时，不能只考虑成功的情况。文章在规划（</a:t>
            </a:r>
            <a:r>
              <a:rPr lang="en-US" altLang="zh-CN"/>
              <a:t>Planning</a:t>
            </a:r>
            <a:r>
              <a:rPr lang="zh-CN" altLang="en-US"/>
              <a:t>）和工具（</a:t>
            </a:r>
            <a:r>
              <a:rPr lang="en-US" altLang="zh-CN"/>
              <a:t>Tool</a:t>
            </a:r>
            <a:r>
              <a:rPr lang="zh-CN" altLang="en-US"/>
              <a:t>）的结合点上暗示，当</a:t>
            </a:r>
            <a:r>
              <a:rPr lang="en-US" altLang="zh-CN"/>
              <a:t> Skill </a:t>
            </a:r>
            <a:r>
              <a:rPr lang="zh-CN" altLang="en-US"/>
              <a:t>执行报错（如</a:t>
            </a:r>
            <a:r>
              <a:rPr lang="en-US" altLang="zh-CN"/>
              <a:t> API </a:t>
            </a:r>
            <a:r>
              <a:rPr lang="zh-CN" altLang="en-US"/>
              <a:t>拒绝访问或参数错误）时，系统需要能够将具体的错误信息作为文本反馈给</a:t>
            </a:r>
            <a:r>
              <a:rPr lang="en-US" altLang="zh-CN"/>
              <a:t> LLM</a:t>
            </a:r>
            <a:r>
              <a:rPr lang="zh-CN" altLang="en-US"/>
              <a:t>，让</a:t>
            </a:r>
            <a:r>
              <a:rPr lang="en-US" altLang="zh-CN"/>
              <a:t> LLM </a:t>
            </a:r>
            <a:r>
              <a:rPr lang="zh-CN" altLang="en-US"/>
              <a:t>进行</a:t>
            </a:r>
            <a:r>
              <a:rPr lang="en-US" altLang="zh-CN"/>
              <a:t>“</a:t>
            </a:r>
            <a:r>
              <a:rPr lang="zh-CN" altLang="en-US"/>
              <a:t>反思</a:t>
            </a:r>
            <a:r>
              <a:rPr lang="en-US" altLang="zh-CN"/>
              <a:t> (Reflection)”</a:t>
            </a:r>
            <a:r>
              <a:rPr lang="zh-CN" altLang="en-US"/>
              <a:t>并尝试修正参数后重新调用。</a:t>
            </a:r>
            <a:endParaRPr lang="zh-CN" altLang="en-US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0"/>
    </mc:Choice>
    <mc:Fallback>
      <p:transition/>
    </mc:Fallback>
  </mc:AlternateContent>
</p:sld>
</file>

<file path=ppt/slides/slide5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grpSp>
        <p:nvGrpSpPr>
          <p:cNvPr id="2" name="组合 1"/>
          <p:cNvGrpSpPr/>
          <p:nvPr/>
        </p:nvGrpSpPr>
        <p:grpSpPr>
          <a:xfrm>
            <a:off x="-1386840" y="62865"/>
            <a:ext cx="8120380" cy="1326515"/>
            <a:chOff x="-2184" y="-721"/>
            <a:chExt cx="12788" cy="2089"/>
          </a:xfrm>
        </p:grpSpPr>
        <p:sp>
          <p:nvSpPr>
            <p:cNvPr id="3" name="TextBox 8"/>
            <p:cNvSpPr txBox="1"/>
            <p:nvPr/>
          </p:nvSpPr>
          <p:spPr>
            <a:xfrm>
              <a:off x="-2184" y="-721"/>
              <a:ext cx="12788" cy="1598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p>
              <a:pPr algn="ctr"/>
              <a:r>
                <a:rPr lang="en-US" sz="6000" b="1" spc="600" dirty="0" smtClean="0">
                  <a:solidFill>
                    <a:schemeClr val="bg1">
                      <a:lumMod val="95000"/>
                    </a:schemeClr>
                  </a:solidFill>
                  <a:latin typeface="庞门正道标题体" panose="02010600030101010101" charset="-122"/>
                  <a:ea typeface="庞门正道标题体" panose="02010600030101010101" charset="-122"/>
                  <a:cs typeface="Montserrat" panose="00000500000000000000" pitchFamily="50" charset="0"/>
                </a:rPr>
                <a:t>MINIMALIST</a:t>
              </a:r>
              <a:endParaRPr lang="en-US" sz="6000" b="1" spc="600" dirty="0" smtClean="0">
                <a:solidFill>
                  <a:schemeClr val="bg1">
                    <a:lumMod val="95000"/>
                  </a:schemeClr>
                </a:solidFill>
                <a:latin typeface="庞门正道标题体" panose="02010600030101010101" charset="-122"/>
                <a:ea typeface="庞门正道标题体" panose="02010600030101010101" charset="-122"/>
                <a:cs typeface="Montserrat" panose="00000500000000000000" pitchFamily="50" charset="0"/>
              </a:endParaRPr>
            </a:p>
          </p:txBody>
        </p:sp>
        <p:sp>
          <p:nvSpPr>
            <p:cNvPr id="24" name="TextBox 9"/>
            <p:cNvSpPr txBox="1"/>
            <p:nvPr/>
          </p:nvSpPr>
          <p:spPr>
            <a:xfrm>
              <a:off x="-1247" y="-166"/>
              <a:ext cx="10932" cy="130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p>
              <a:pPr algn="ctr"/>
              <a:r>
                <a:rPr lang="zh-CN" altLang="en-US" sz="4800" b="1" spc="600" dirty="0" smtClean="0">
                  <a:solidFill>
                    <a:schemeClr val="tx1"/>
                  </a:solidFill>
                  <a:latin typeface="方正明尚简体" panose="02000000000000000000" charset="-122"/>
                  <a:ea typeface="方正明尚简体" panose="02000000000000000000" charset="-122"/>
                  <a:cs typeface="Montserrat" panose="00000500000000000000" pitchFamily="50" charset="0"/>
                </a:rPr>
                <a:t>工程构建</a:t>
              </a:r>
              <a:r>
                <a:rPr lang="zh-CN" altLang="en-US" sz="4800" b="1" spc="600" dirty="0" smtClean="0">
                  <a:solidFill>
                    <a:schemeClr val="tx1"/>
                  </a:solidFill>
                  <a:latin typeface="方正明尚简体" panose="02000000000000000000" charset="-122"/>
                  <a:ea typeface="方正明尚简体" panose="02000000000000000000" charset="-122"/>
                  <a:cs typeface="Montserrat" panose="00000500000000000000" pitchFamily="50" charset="0"/>
                </a:rPr>
                <a:t>规范</a:t>
              </a:r>
              <a:endParaRPr lang="zh-CN" altLang="en-US" sz="4800" b="1" spc="600" dirty="0" smtClean="0">
                <a:solidFill>
                  <a:schemeClr val="tx1"/>
                </a:solidFill>
                <a:latin typeface="方正明尚简体" panose="02000000000000000000" charset="-122"/>
                <a:ea typeface="方正明尚简体" panose="02000000000000000000" charset="-122"/>
                <a:cs typeface="Montserrat" panose="00000500000000000000" pitchFamily="50" charset="0"/>
              </a:endParaRPr>
            </a:p>
          </p:txBody>
        </p:sp>
        <p:sp>
          <p:nvSpPr>
            <p:cNvPr id="25" name="TextBox 12"/>
            <p:cNvSpPr txBox="1"/>
            <p:nvPr/>
          </p:nvSpPr>
          <p:spPr>
            <a:xfrm>
              <a:off x="291" y="799"/>
              <a:ext cx="7856" cy="56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p>
              <a:pPr algn="ctr">
                <a:lnSpc>
                  <a:spcPct val="150000"/>
                </a:lnSpc>
              </a:pPr>
              <a:r>
                <a:rPr lang="en-US" baseline="-25000" dirty="0" smtClean="0">
                  <a:latin typeface="Dotum" panose="020B0600000101010101" charset="-127"/>
                  <a:ea typeface="Dotum" panose="020B0600000101010101" charset="-127"/>
                  <a:cs typeface="+mj-lt"/>
                </a:rPr>
                <a:t>minimal presentation template</a:t>
              </a:r>
              <a:endParaRPr lang="en-US" baseline="-25000" dirty="0" smtClean="0">
                <a:latin typeface="Dotum" panose="020B0600000101010101" charset="-127"/>
                <a:ea typeface="Dotum" panose="020B0600000101010101" charset="-127"/>
                <a:cs typeface="+mj-lt"/>
              </a:endParaRPr>
            </a:p>
          </p:txBody>
        </p:sp>
      </p:grpSp>
      <p:sp>
        <p:nvSpPr>
          <p:cNvPr id="5" name="文本框 4"/>
          <p:cNvSpPr txBox="1"/>
          <p:nvPr/>
        </p:nvSpPr>
        <p:spPr>
          <a:xfrm>
            <a:off x="1012190" y="1998345"/>
            <a:ext cx="10167620" cy="64516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zh-CN" altLang="en-US"/>
              <a:t>给</a:t>
            </a:r>
            <a:r>
              <a:rPr lang="en-US" altLang="zh-CN"/>
              <a:t> LLM </a:t>
            </a:r>
            <a:r>
              <a:rPr lang="zh-CN" altLang="en-US"/>
              <a:t>看的工具描述，比给人类看的</a:t>
            </a:r>
            <a:r>
              <a:rPr lang="en-US" altLang="zh-CN"/>
              <a:t> API </a:t>
            </a:r>
            <a:r>
              <a:rPr lang="zh-CN" altLang="en-US"/>
              <a:t>文档要求更高。设计</a:t>
            </a:r>
            <a:r>
              <a:rPr lang="en-US" altLang="zh-CN"/>
              <a:t> Skill </a:t>
            </a:r>
            <a:r>
              <a:rPr lang="zh-CN" altLang="en-US"/>
              <a:t>时，必须用清晰的自然语言定义该</a:t>
            </a:r>
            <a:r>
              <a:rPr lang="en-US" altLang="zh-CN"/>
              <a:t> Skill </a:t>
            </a:r>
            <a:r>
              <a:rPr lang="zh-CN" altLang="en-US"/>
              <a:t>的</a:t>
            </a:r>
            <a:r>
              <a:rPr lang="en-US" altLang="zh-CN"/>
              <a:t>“</a:t>
            </a:r>
            <a:r>
              <a:rPr lang="zh-CN" altLang="en-US"/>
              <a:t>能力边界</a:t>
            </a:r>
            <a:r>
              <a:rPr lang="en-US" altLang="zh-CN"/>
              <a:t>”</a:t>
            </a:r>
            <a:r>
              <a:rPr lang="zh-CN" altLang="en-US"/>
              <a:t>、</a:t>
            </a:r>
            <a:r>
              <a:rPr lang="en-US" altLang="zh-CN"/>
              <a:t>“</a:t>
            </a:r>
            <a:r>
              <a:rPr lang="zh-CN" altLang="en-US"/>
              <a:t>适用场景</a:t>
            </a:r>
            <a:r>
              <a:rPr lang="en-US" altLang="zh-CN"/>
              <a:t>”</a:t>
            </a:r>
            <a:r>
              <a:rPr lang="zh-CN" altLang="en-US"/>
              <a:t>以及</a:t>
            </a:r>
            <a:r>
              <a:rPr lang="en-US" altLang="zh-CN"/>
              <a:t>“</a:t>
            </a:r>
            <a:r>
              <a:rPr lang="zh-CN" altLang="en-US"/>
              <a:t>不适用场景</a:t>
            </a:r>
            <a:r>
              <a:rPr lang="en-US" altLang="zh-CN"/>
              <a:t>”</a:t>
            </a:r>
            <a:r>
              <a:rPr lang="zh-CN" altLang="en-US"/>
              <a:t>，否则模型很容易产生幻觉，乱用工具。</a:t>
            </a:r>
            <a:endParaRPr lang="zh-CN" altLang="en-US"/>
          </a:p>
        </p:txBody>
      </p:sp>
      <p:sp>
        <p:nvSpPr>
          <p:cNvPr id="4" name="文本框 3"/>
          <p:cNvSpPr txBox="1"/>
          <p:nvPr/>
        </p:nvSpPr>
        <p:spPr>
          <a:xfrm>
            <a:off x="582295" y="1520190"/>
            <a:ext cx="6326505" cy="64516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zh-CN" altLang="en-US" b="1">
                <a:sym typeface="+mn-ea"/>
              </a:rPr>
              <a:t>极度精确的描述文档</a:t>
            </a:r>
            <a:r>
              <a:rPr lang="en-US" altLang="zh-CN" b="1">
                <a:sym typeface="+mn-ea"/>
              </a:rPr>
              <a:t> (Description Engineering)</a:t>
            </a:r>
            <a:r>
              <a:rPr lang="zh-CN" altLang="en-US" b="1">
                <a:sym typeface="+mn-ea"/>
              </a:rPr>
              <a:t>：</a:t>
            </a:r>
            <a:endParaRPr lang="zh-CN" altLang="en-US" b="1"/>
          </a:p>
          <a:p>
            <a:endParaRPr lang="zh-CN" altLang="en-US" b="1"/>
          </a:p>
        </p:txBody>
      </p:sp>
      <p:sp>
        <p:nvSpPr>
          <p:cNvPr id="7" name="文本框 6"/>
          <p:cNvSpPr txBox="1"/>
          <p:nvPr/>
        </p:nvSpPr>
        <p:spPr>
          <a:xfrm>
            <a:off x="1141730" y="2846070"/>
            <a:ext cx="10038080" cy="258445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zh-CN" altLang="en-US" b="1"/>
              <a:t>一、</a:t>
            </a:r>
            <a:r>
              <a:rPr lang="en-US" altLang="zh-CN" b="1"/>
              <a:t> </a:t>
            </a:r>
            <a:r>
              <a:rPr lang="zh-CN" altLang="en-US" b="1"/>
              <a:t>划定绝对的</a:t>
            </a:r>
            <a:r>
              <a:rPr lang="en-US" altLang="zh-CN" b="1"/>
              <a:t>“</a:t>
            </a:r>
            <a:r>
              <a:rPr lang="zh-CN" altLang="en-US" b="1"/>
              <a:t>能力边界</a:t>
            </a:r>
            <a:r>
              <a:rPr lang="en-US" altLang="zh-CN" b="1"/>
              <a:t>”</a:t>
            </a:r>
            <a:r>
              <a:rPr lang="zh-CN" altLang="en-US" b="1"/>
              <a:t>与</a:t>
            </a:r>
            <a:r>
              <a:rPr lang="en-US" altLang="zh-CN" b="1"/>
              <a:t>“</a:t>
            </a:r>
            <a:r>
              <a:rPr lang="zh-CN" altLang="en-US" b="1"/>
              <a:t>负面清单</a:t>
            </a:r>
            <a:r>
              <a:rPr lang="en-US" altLang="zh-CN" b="1"/>
              <a:t>”</a:t>
            </a:r>
            <a:endParaRPr lang="en-US" altLang="zh-CN" b="1"/>
          </a:p>
          <a:p>
            <a:r>
              <a:rPr lang="zh-CN" altLang="en-US"/>
              <a:t>好的描述不仅要告诉模型</a:t>
            </a:r>
            <a:r>
              <a:rPr lang="en-US" altLang="zh-CN"/>
              <a:t>“</a:t>
            </a:r>
            <a:r>
              <a:rPr lang="zh-CN" altLang="en-US"/>
              <a:t>这个</a:t>
            </a:r>
            <a:r>
              <a:rPr lang="en-US" altLang="zh-CN"/>
              <a:t> Skill </a:t>
            </a:r>
            <a:r>
              <a:rPr lang="zh-CN" altLang="en-US"/>
              <a:t>能做什么</a:t>
            </a:r>
            <a:r>
              <a:rPr lang="en-US" altLang="zh-CN"/>
              <a:t>”</a:t>
            </a:r>
            <a:r>
              <a:rPr lang="zh-CN" altLang="en-US"/>
              <a:t>，更要大声警告它</a:t>
            </a:r>
            <a:r>
              <a:rPr lang="en-US" altLang="zh-CN" b="1"/>
              <a:t>“</a:t>
            </a:r>
            <a:r>
              <a:rPr lang="zh-CN" altLang="en-US" b="1"/>
              <a:t>绝对不能用它做什么</a:t>
            </a:r>
            <a:r>
              <a:rPr lang="en-US" altLang="zh-CN" b="1"/>
              <a:t>”</a:t>
            </a:r>
            <a:r>
              <a:rPr lang="zh-CN" altLang="en-US"/>
              <a:t>。大模型有一种</a:t>
            </a:r>
            <a:r>
              <a:rPr lang="en-US" altLang="zh-CN"/>
              <a:t>“</a:t>
            </a:r>
            <a:r>
              <a:rPr lang="zh-CN" altLang="en-US"/>
              <a:t>过度使用工具</a:t>
            </a:r>
            <a:r>
              <a:rPr lang="en-US" altLang="zh-CN"/>
              <a:t>”</a:t>
            </a:r>
            <a:r>
              <a:rPr lang="zh-CN" altLang="en-US"/>
              <a:t>的倾向（即工具幻觉），如果不加限制，它会尝试用天气</a:t>
            </a:r>
            <a:r>
              <a:rPr lang="en-US" altLang="zh-CN"/>
              <a:t> API </a:t>
            </a:r>
            <a:r>
              <a:rPr lang="zh-CN" altLang="en-US"/>
              <a:t>去查历史气候。</a:t>
            </a:r>
            <a:endParaRPr lang="zh-CN" altLang="en-US"/>
          </a:p>
          <a:p>
            <a:endParaRPr lang="en-US" altLang="zh-CN"/>
          </a:p>
          <a:p>
            <a:r>
              <a:rPr lang="zh-CN" altLang="en-US"/>
              <a:t>常规描述：</a:t>
            </a:r>
            <a:r>
              <a:rPr lang="en-US" altLang="zh-CN"/>
              <a:t> </a:t>
            </a:r>
            <a:r>
              <a:rPr lang="zh-CN" altLang="en-US"/>
              <a:t>用于查询指定服务器的运行日志。</a:t>
            </a:r>
            <a:endParaRPr lang="zh-CN" altLang="en-US"/>
          </a:p>
          <a:p>
            <a:endParaRPr lang="en-US" altLang="zh-CN"/>
          </a:p>
          <a:p>
            <a:r>
              <a:rPr lang="zh-CN" altLang="en-US"/>
              <a:t>极度精确：</a:t>
            </a:r>
            <a:r>
              <a:rPr lang="en-US" altLang="zh-CN"/>
              <a:t> </a:t>
            </a:r>
            <a:r>
              <a:rPr lang="zh-CN" altLang="en-US"/>
              <a:t>用于查询指定服务器在过去</a:t>
            </a:r>
            <a:r>
              <a:rPr lang="en-US" altLang="zh-CN"/>
              <a:t> 24 </a:t>
            </a:r>
            <a:r>
              <a:rPr lang="zh-CN" altLang="en-US"/>
              <a:t>小时内的运行日志。绝对不要使用此工具查询超过</a:t>
            </a:r>
            <a:r>
              <a:rPr lang="en-US" altLang="zh-CN"/>
              <a:t> 24 </a:t>
            </a:r>
            <a:r>
              <a:rPr lang="zh-CN" altLang="en-US"/>
              <a:t>小时的历史数据，也绝对不要使用此工具尝试修改或删除日志。如果你需要获取系统配置信息，请查阅知识库而不是使用此工具。</a:t>
            </a:r>
            <a:endParaRPr lang="zh-CN" altLang="en-US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0"/>
    </mc:Choice>
    <mc:Fallback>
      <p:transition/>
    </mc:Fallback>
  </mc:AlternateContent>
</p:sld>
</file>

<file path=ppt/slides/slide5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grpSp>
        <p:nvGrpSpPr>
          <p:cNvPr id="2" name="组合 1"/>
          <p:cNvGrpSpPr/>
          <p:nvPr/>
        </p:nvGrpSpPr>
        <p:grpSpPr>
          <a:xfrm>
            <a:off x="-1386840" y="62865"/>
            <a:ext cx="8120380" cy="1326515"/>
            <a:chOff x="-2184" y="-721"/>
            <a:chExt cx="12788" cy="2089"/>
          </a:xfrm>
        </p:grpSpPr>
        <p:sp>
          <p:nvSpPr>
            <p:cNvPr id="3" name="TextBox 8"/>
            <p:cNvSpPr txBox="1"/>
            <p:nvPr/>
          </p:nvSpPr>
          <p:spPr>
            <a:xfrm>
              <a:off x="-2184" y="-721"/>
              <a:ext cx="12788" cy="1598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p>
              <a:pPr algn="ctr"/>
              <a:r>
                <a:rPr lang="en-US" sz="6000" b="1" spc="600" dirty="0" smtClean="0">
                  <a:solidFill>
                    <a:schemeClr val="bg1">
                      <a:lumMod val="95000"/>
                    </a:schemeClr>
                  </a:solidFill>
                  <a:latin typeface="庞门正道标题体" panose="02010600030101010101" charset="-122"/>
                  <a:ea typeface="庞门正道标题体" panose="02010600030101010101" charset="-122"/>
                  <a:cs typeface="Montserrat" panose="00000500000000000000" pitchFamily="50" charset="0"/>
                </a:rPr>
                <a:t>MINIMALIST</a:t>
              </a:r>
              <a:endParaRPr lang="en-US" sz="6000" b="1" spc="600" dirty="0" smtClean="0">
                <a:solidFill>
                  <a:schemeClr val="bg1">
                    <a:lumMod val="95000"/>
                  </a:schemeClr>
                </a:solidFill>
                <a:latin typeface="庞门正道标题体" panose="02010600030101010101" charset="-122"/>
                <a:ea typeface="庞门正道标题体" panose="02010600030101010101" charset="-122"/>
                <a:cs typeface="Montserrat" panose="00000500000000000000" pitchFamily="50" charset="0"/>
              </a:endParaRPr>
            </a:p>
          </p:txBody>
        </p:sp>
        <p:sp>
          <p:nvSpPr>
            <p:cNvPr id="24" name="TextBox 9"/>
            <p:cNvSpPr txBox="1"/>
            <p:nvPr/>
          </p:nvSpPr>
          <p:spPr>
            <a:xfrm>
              <a:off x="-1247" y="-166"/>
              <a:ext cx="10932" cy="130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p>
              <a:pPr algn="ctr"/>
              <a:r>
                <a:rPr lang="zh-CN" altLang="en-US" sz="4800" b="1" spc="600" dirty="0" smtClean="0">
                  <a:solidFill>
                    <a:schemeClr val="tx1"/>
                  </a:solidFill>
                  <a:latin typeface="方正明尚简体" panose="02000000000000000000" charset="-122"/>
                  <a:ea typeface="方正明尚简体" panose="02000000000000000000" charset="-122"/>
                  <a:cs typeface="Montserrat" panose="00000500000000000000" pitchFamily="50" charset="0"/>
                </a:rPr>
                <a:t>工程构建</a:t>
              </a:r>
              <a:r>
                <a:rPr lang="zh-CN" altLang="en-US" sz="4800" b="1" spc="600" dirty="0" smtClean="0">
                  <a:solidFill>
                    <a:schemeClr val="tx1"/>
                  </a:solidFill>
                  <a:latin typeface="方正明尚简体" panose="02000000000000000000" charset="-122"/>
                  <a:ea typeface="方正明尚简体" panose="02000000000000000000" charset="-122"/>
                  <a:cs typeface="Montserrat" panose="00000500000000000000" pitchFamily="50" charset="0"/>
                </a:rPr>
                <a:t>规范</a:t>
              </a:r>
              <a:endParaRPr lang="zh-CN" altLang="en-US" sz="4800" b="1" spc="600" dirty="0" smtClean="0">
                <a:solidFill>
                  <a:schemeClr val="tx1"/>
                </a:solidFill>
                <a:latin typeface="方正明尚简体" panose="02000000000000000000" charset="-122"/>
                <a:ea typeface="方正明尚简体" panose="02000000000000000000" charset="-122"/>
                <a:cs typeface="Montserrat" panose="00000500000000000000" pitchFamily="50" charset="0"/>
              </a:endParaRPr>
            </a:p>
          </p:txBody>
        </p:sp>
        <p:sp>
          <p:nvSpPr>
            <p:cNvPr id="25" name="TextBox 12"/>
            <p:cNvSpPr txBox="1"/>
            <p:nvPr/>
          </p:nvSpPr>
          <p:spPr>
            <a:xfrm>
              <a:off x="291" y="799"/>
              <a:ext cx="7856" cy="56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p>
              <a:pPr algn="ctr">
                <a:lnSpc>
                  <a:spcPct val="150000"/>
                </a:lnSpc>
              </a:pPr>
              <a:r>
                <a:rPr lang="en-US" baseline="-25000" dirty="0" smtClean="0">
                  <a:latin typeface="Dotum" panose="020B0600000101010101" charset="-127"/>
                  <a:ea typeface="Dotum" panose="020B0600000101010101" charset="-127"/>
                  <a:cs typeface="+mj-lt"/>
                </a:rPr>
                <a:t>minimal presentation template</a:t>
              </a:r>
              <a:endParaRPr lang="en-US" baseline="-25000" dirty="0" smtClean="0">
                <a:latin typeface="Dotum" panose="020B0600000101010101" charset="-127"/>
                <a:ea typeface="Dotum" panose="020B0600000101010101" charset="-127"/>
                <a:cs typeface="+mj-lt"/>
              </a:endParaRPr>
            </a:p>
          </p:txBody>
        </p:sp>
      </p:grpSp>
      <p:sp>
        <p:nvSpPr>
          <p:cNvPr id="5" name="文本框 4"/>
          <p:cNvSpPr txBox="1"/>
          <p:nvPr/>
        </p:nvSpPr>
        <p:spPr>
          <a:xfrm>
            <a:off x="1012190" y="1998345"/>
            <a:ext cx="10167620" cy="64516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zh-CN" altLang="en-US"/>
              <a:t>给</a:t>
            </a:r>
            <a:r>
              <a:rPr lang="en-US" altLang="zh-CN"/>
              <a:t> LLM </a:t>
            </a:r>
            <a:r>
              <a:rPr lang="zh-CN" altLang="en-US"/>
              <a:t>看的工具描述，比给人类看的</a:t>
            </a:r>
            <a:r>
              <a:rPr lang="en-US" altLang="zh-CN"/>
              <a:t> API </a:t>
            </a:r>
            <a:r>
              <a:rPr lang="zh-CN" altLang="en-US"/>
              <a:t>文档要求更高。设计</a:t>
            </a:r>
            <a:r>
              <a:rPr lang="en-US" altLang="zh-CN"/>
              <a:t> Skill </a:t>
            </a:r>
            <a:r>
              <a:rPr lang="zh-CN" altLang="en-US"/>
              <a:t>时，必须用清晰的自然语言定义该</a:t>
            </a:r>
            <a:r>
              <a:rPr lang="en-US" altLang="zh-CN"/>
              <a:t> Skill </a:t>
            </a:r>
            <a:r>
              <a:rPr lang="zh-CN" altLang="en-US"/>
              <a:t>的</a:t>
            </a:r>
            <a:r>
              <a:rPr lang="en-US" altLang="zh-CN"/>
              <a:t>“</a:t>
            </a:r>
            <a:r>
              <a:rPr lang="zh-CN" altLang="en-US"/>
              <a:t>能力边界</a:t>
            </a:r>
            <a:r>
              <a:rPr lang="en-US" altLang="zh-CN"/>
              <a:t>”</a:t>
            </a:r>
            <a:r>
              <a:rPr lang="zh-CN" altLang="en-US"/>
              <a:t>、</a:t>
            </a:r>
            <a:r>
              <a:rPr lang="en-US" altLang="zh-CN"/>
              <a:t>“</a:t>
            </a:r>
            <a:r>
              <a:rPr lang="zh-CN" altLang="en-US"/>
              <a:t>适用场景</a:t>
            </a:r>
            <a:r>
              <a:rPr lang="en-US" altLang="zh-CN"/>
              <a:t>”</a:t>
            </a:r>
            <a:r>
              <a:rPr lang="zh-CN" altLang="en-US"/>
              <a:t>以及</a:t>
            </a:r>
            <a:r>
              <a:rPr lang="en-US" altLang="zh-CN"/>
              <a:t>“</a:t>
            </a:r>
            <a:r>
              <a:rPr lang="zh-CN" altLang="en-US"/>
              <a:t>不适用场景</a:t>
            </a:r>
            <a:r>
              <a:rPr lang="en-US" altLang="zh-CN"/>
              <a:t>”</a:t>
            </a:r>
            <a:r>
              <a:rPr lang="zh-CN" altLang="en-US"/>
              <a:t>，否则模型很容易产生幻觉，乱用工具。</a:t>
            </a:r>
            <a:endParaRPr lang="zh-CN" altLang="en-US"/>
          </a:p>
        </p:txBody>
      </p:sp>
      <p:sp>
        <p:nvSpPr>
          <p:cNvPr id="4" name="文本框 3"/>
          <p:cNvSpPr txBox="1"/>
          <p:nvPr/>
        </p:nvSpPr>
        <p:spPr>
          <a:xfrm>
            <a:off x="582295" y="1520190"/>
            <a:ext cx="6326505" cy="64516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zh-CN" altLang="en-US" b="1">
                <a:sym typeface="+mn-ea"/>
              </a:rPr>
              <a:t>极度精确的描述文档</a:t>
            </a:r>
            <a:r>
              <a:rPr lang="en-US" altLang="zh-CN" b="1">
                <a:sym typeface="+mn-ea"/>
              </a:rPr>
              <a:t> (Description Engineering)</a:t>
            </a:r>
            <a:r>
              <a:rPr lang="zh-CN" altLang="en-US" b="1">
                <a:sym typeface="+mn-ea"/>
              </a:rPr>
              <a:t>：</a:t>
            </a:r>
            <a:endParaRPr lang="zh-CN" altLang="en-US" b="1"/>
          </a:p>
          <a:p>
            <a:endParaRPr lang="zh-CN" altLang="en-US" b="1"/>
          </a:p>
        </p:txBody>
      </p:sp>
      <p:sp>
        <p:nvSpPr>
          <p:cNvPr id="7" name="文本框 6"/>
          <p:cNvSpPr txBox="1"/>
          <p:nvPr/>
        </p:nvSpPr>
        <p:spPr>
          <a:xfrm>
            <a:off x="1141730" y="2846070"/>
            <a:ext cx="10038080" cy="258445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zh-CN" altLang="en-US" b="1"/>
              <a:t>二、</a:t>
            </a:r>
            <a:r>
              <a:rPr lang="en-US" altLang="zh-CN" b="1"/>
              <a:t> </a:t>
            </a:r>
            <a:r>
              <a:rPr lang="zh-CN" altLang="en-US" b="1"/>
              <a:t>参数语义的深度解释（而非仅仅声明类型）</a:t>
            </a:r>
            <a:endParaRPr lang="zh-CN" altLang="en-US" b="1"/>
          </a:p>
          <a:p>
            <a:r>
              <a:rPr lang="zh-CN" altLang="en-US"/>
              <a:t>传统的</a:t>
            </a:r>
            <a:r>
              <a:rPr lang="en-US" altLang="zh-CN"/>
              <a:t> API </a:t>
            </a:r>
            <a:r>
              <a:rPr lang="zh-CN" altLang="en-US"/>
              <a:t>定义只需要说明参数是</a:t>
            </a:r>
            <a:r>
              <a:rPr lang="en-US" altLang="zh-CN"/>
              <a:t> String </a:t>
            </a:r>
            <a:r>
              <a:rPr lang="zh-CN" altLang="en-US"/>
              <a:t>还是</a:t>
            </a:r>
            <a:r>
              <a:rPr lang="en-US" altLang="zh-CN"/>
              <a:t> Integer</a:t>
            </a:r>
            <a:r>
              <a:rPr lang="zh-CN" altLang="en-US"/>
              <a:t>。但大模型需要知道这个参数在业务逻辑中的具体语义和取值规则。</a:t>
            </a:r>
            <a:endParaRPr lang="zh-CN" altLang="en-US"/>
          </a:p>
          <a:p>
            <a:endParaRPr lang="en-US" altLang="zh-CN"/>
          </a:p>
          <a:p>
            <a:r>
              <a:rPr lang="zh-CN" altLang="en-US"/>
              <a:t>常规参数描述：</a:t>
            </a:r>
            <a:r>
              <a:rPr lang="en-US" altLang="zh-CN"/>
              <a:t> "environment": </a:t>
            </a:r>
            <a:r>
              <a:rPr lang="zh-CN" altLang="en-US"/>
              <a:t>字符串类型，代表测试环境。</a:t>
            </a:r>
            <a:endParaRPr lang="zh-CN" altLang="en-US"/>
          </a:p>
          <a:p>
            <a:endParaRPr lang="en-US" altLang="zh-CN"/>
          </a:p>
          <a:p>
            <a:r>
              <a:rPr lang="zh-CN" altLang="en-US"/>
              <a:t>极度精确：</a:t>
            </a:r>
            <a:r>
              <a:rPr lang="en-US" altLang="zh-CN"/>
              <a:t> "environment": </a:t>
            </a:r>
            <a:r>
              <a:rPr lang="zh-CN" altLang="en-US"/>
              <a:t>字符串类型。代表需要执行测试的目标集群环境。必须且只能从以下三个枚举值中选择：</a:t>
            </a:r>
            <a:r>
              <a:rPr lang="en-US" altLang="zh-CN"/>
              <a:t>"dev"</a:t>
            </a:r>
            <a:r>
              <a:rPr lang="zh-CN" altLang="en-US"/>
              <a:t>（开发环境）、</a:t>
            </a:r>
            <a:r>
              <a:rPr lang="en-US" altLang="zh-CN"/>
              <a:t>"staging"</a:t>
            </a:r>
            <a:r>
              <a:rPr lang="zh-CN" altLang="en-US"/>
              <a:t>（预发布环境）、</a:t>
            </a:r>
            <a:r>
              <a:rPr lang="en-US" altLang="zh-CN"/>
              <a:t>"prod"</a:t>
            </a:r>
            <a:r>
              <a:rPr lang="zh-CN" altLang="en-US"/>
              <a:t>（生产环境）。如果你从用户的提问中无法明确推断出环境，请默认传入</a:t>
            </a:r>
            <a:r>
              <a:rPr lang="en-US" altLang="zh-CN"/>
              <a:t> "dev"</a:t>
            </a:r>
            <a:r>
              <a:rPr lang="zh-CN" altLang="en-US"/>
              <a:t>。</a:t>
            </a:r>
            <a:endParaRPr lang="zh-CN" altLang="en-US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0"/>
    </mc:Choice>
    <mc:Fallback>
      <p:transition/>
    </mc:Fallback>
  </mc:AlternateContent>
</p:sld>
</file>

<file path=ppt/slides/slide6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grpSp>
        <p:nvGrpSpPr>
          <p:cNvPr id="2" name="组合 1"/>
          <p:cNvGrpSpPr/>
          <p:nvPr/>
        </p:nvGrpSpPr>
        <p:grpSpPr>
          <a:xfrm>
            <a:off x="-1386840" y="62865"/>
            <a:ext cx="8120380" cy="1326515"/>
            <a:chOff x="-2184" y="-721"/>
            <a:chExt cx="12788" cy="2089"/>
          </a:xfrm>
        </p:grpSpPr>
        <p:sp>
          <p:nvSpPr>
            <p:cNvPr id="3" name="TextBox 8"/>
            <p:cNvSpPr txBox="1"/>
            <p:nvPr/>
          </p:nvSpPr>
          <p:spPr>
            <a:xfrm>
              <a:off x="-2184" y="-721"/>
              <a:ext cx="12788" cy="1598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p>
              <a:pPr algn="ctr"/>
              <a:r>
                <a:rPr lang="en-US" sz="6000" b="1" spc="600" dirty="0" smtClean="0">
                  <a:solidFill>
                    <a:schemeClr val="bg1">
                      <a:lumMod val="95000"/>
                    </a:schemeClr>
                  </a:solidFill>
                  <a:latin typeface="庞门正道标题体" panose="02010600030101010101" charset="-122"/>
                  <a:ea typeface="庞门正道标题体" panose="02010600030101010101" charset="-122"/>
                  <a:cs typeface="Montserrat" panose="00000500000000000000" pitchFamily="50" charset="0"/>
                </a:rPr>
                <a:t>MINIMALIST</a:t>
              </a:r>
              <a:endParaRPr lang="en-US" sz="6000" b="1" spc="600" dirty="0" smtClean="0">
                <a:solidFill>
                  <a:schemeClr val="bg1">
                    <a:lumMod val="95000"/>
                  </a:schemeClr>
                </a:solidFill>
                <a:latin typeface="庞门正道标题体" panose="02010600030101010101" charset="-122"/>
                <a:ea typeface="庞门正道标题体" panose="02010600030101010101" charset="-122"/>
                <a:cs typeface="Montserrat" panose="00000500000000000000" pitchFamily="50" charset="0"/>
              </a:endParaRPr>
            </a:p>
          </p:txBody>
        </p:sp>
        <p:sp>
          <p:nvSpPr>
            <p:cNvPr id="24" name="TextBox 9"/>
            <p:cNvSpPr txBox="1"/>
            <p:nvPr/>
          </p:nvSpPr>
          <p:spPr>
            <a:xfrm>
              <a:off x="-1247" y="-166"/>
              <a:ext cx="10932" cy="130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p>
              <a:pPr algn="ctr"/>
              <a:r>
                <a:rPr lang="zh-CN" altLang="en-US" sz="4800" b="1" spc="600" dirty="0" smtClean="0">
                  <a:solidFill>
                    <a:schemeClr val="tx1"/>
                  </a:solidFill>
                  <a:latin typeface="方正明尚简体" panose="02000000000000000000" charset="-122"/>
                  <a:ea typeface="方正明尚简体" panose="02000000000000000000" charset="-122"/>
                  <a:cs typeface="Montserrat" panose="00000500000000000000" pitchFamily="50" charset="0"/>
                </a:rPr>
                <a:t>工程构建</a:t>
              </a:r>
              <a:r>
                <a:rPr lang="zh-CN" altLang="en-US" sz="4800" b="1" spc="600" dirty="0" smtClean="0">
                  <a:solidFill>
                    <a:schemeClr val="tx1"/>
                  </a:solidFill>
                  <a:latin typeface="方正明尚简体" panose="02000000000000000000" charset="-122"/>
                  <a:ea typeface="方正明尚简体" panose="02000000000000000000" charset="-122"/>
                  <a:cs typeface="Montserrat" panose="00000500000000000000" pitchFamily="50" charset="0"/>
                </a:rPr>
                <a:t>规范</a:t>
              </a:r>
              <a:endParaRPr lang="zh-CN" altLang="en-US" sz="4800" b="1" spc="600" dirty="0" smtClean="0">
                <a:solidFill>
                  <a:schemeClr val="tx1"/>
                </a:solidFill>
                <a:latin typeface="方正明尚简体" panose="02000000000000000000" charset="-122"/>
                <a:ea typeface="方正明尚简体" panose="02000000000000000000" charset="-122"/>
                <a:cs typeface="Montserrat" panose="00000500000000000000" pitchFamily="50" charset="0"/>
              </a:endParaRPr>
            </a:p>
          </p:txBody>
        </p:sp>
        <p:sp>
          <p:nvSpPr>
            <p:cNvPr id="25" name="TextBox 12"/>
            <p:cNvSpPr txBox="1"/>
            <p:nvPr/>
          </p:nvSpPr>
          <p:spPr>
            <a:xfrm>
              <a:off x="291" y="799"/>
              <a:ext cx="7856" cy="56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p>
              <a:pPr algn="ctr">
                <a:lnSpc>
                  <a:spcPct val="150000"/>
                </a:lnSpc>
              </a:pPr>
              <a:r>
                <a:rPr lang="en-US" baseline="-25000" dirty="0" smtClean="0">
                  <a:latin typeface="Dotum" panose="020B0600000101010101" charset="-127"/>
                  <a:ea typeface="Dotum" panose="020B0600000101010101" charset="-127"/>
                  <a:cs typeface="+mj-lt"/>
                </a:rPr>
                <a:t>minimal presentation template</a:t>
              </a:r>
              <a:endParaRPr lang="en-US" baseline="-25000" dirty="0" smtClean="0">
                <a:latin typeface="Dotum" panose="020B0600000101010101" charset="-127"/>
                <a:ea typeface="Dotum" panose="020B0600000101010101" charset="-127"/>
                <a:cs typeface="+mj-lt"/>
              </a:endParaRPr>
            </a:p>
          </p:txBody>
        </p:sp>
      </p:grpSp>
      <p:sp>
        <p:nvSpPr>
          <p:cNvPr id="5" name="文本框 4"/>
          <p:cNvSpPr txBox="1"/>
          <p:nvPr/>
        </p:nvSpPr>
        <p:spPr>
          <a:xfrm>
            <a:off x="1012190" y="1998345"/>
            <a:ext cx="10167620" cy="64516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zh-CN" altLang="en-US"/>
              <a:t>给</a:t>
            </a:r>
            <a:r>
              <a:rPr lang="en-US" altLang="zh-CN"/>
              <a:t> LLM </a:t>
            </a:r>
            <a:r>
              <a:rPr lang="zh-CN" altLang="en-US"/>
              <a:t>看的工具描述，比给人类看的</a:t>
            </a:r>
            <a:r>
              <a:rPr lang="en-US" altLang="zh-CN"/>
              <a:t> API </a:t>
            </a:r>
            <a:r>
              <a:rPr lang="zh-CN" altLang="en-US"/>
              <a:t>文档要求更高。设计</a:t>
            </a:r>
            <a:r>
              <a:rPr lang="en-US" altLang="zh-CN"/>
              <a:t> Skill </a:t>
            </a:r>
            <a:r>
              <a:rPr lang="zh-CN" altLang="en-US"/>
              <a:t>时，必须用清晰的自然语言定义该</a:t>
            </a:r>
            <a:r>
              <a:rPr lang="en-US" altLang="zh-CN"/>
              <a:t> Skill </a:t>
            </a:r>
            <a:r>
              <a:rPr lang="zh-CN" altLang="en-US"/>
              <a:t>的</a:t>
            </a:r>
            <a:r>
              <a:rPr lang="en-US" altLang="zh-CN"/>
              <a:t>“</a:t>
            </a:r>
            <a:r>
              <a:rPr lang="zh-CN" altLang="en-US"/>
              <a:t>能力边界</a:t>
            </a:r>
            <a:r>
              <a:rPr lang="en-US" altLang="zh-CN"/>
              <a:t>”</a:t>
            </a:r>
            <a:r>
              <a:rPr lang="zh-CN" altLang="en-US"/>
              <a:t>、</a:t>
            </a:r>
            <a:r>
              <a:rPr lang="en-US" altLang="zh-CN"/>
              <a:t>“</a:t>
            </a:r>
            <a:r>
              <a:rPr lang="zh-CN" altLang="en-US"/>
              <a:t>适用场景</a:t>
            </a:r>
            <a:r>
              <a:rPr lang="en-US" altLang="zh-CN"/>
              <a:t>”</a:t>
            </a:r>
            <a:r>
              <a:rPr lang="zh-CN" altLang="en-US"/>
              <a:t>以及</a:t>
            </a:r>
            <a:r>
              <a:rPr lang="en-US" altLang="zh-CN"/>
              <a:t>“</a:t>
            </a:r>
            <a:r>
              <a:rPr lang="zh-CN" altLang="en-US"/>
              <a:t>不适用场景</a:t>
            </a:r>
            <a:r>
              <a:rPr lang="en-US" altLang="zh-CN"/>
              <a:t>”</a:t>
            </a:r>
            <a:r>
              <a:rPr lang="zh-CN" altLang="en-US"/>
              <a:t>，否则模型很容易产生幻觉，乱用工具。</a:t>
            </a:r>
            <a:endParaRPr lang="zh-CN" altLang="en-US"/>
          </a:p>
        </p:txBody>
      </p:sp>
      <p:sp>
        <p:nvSpPr>
          <p:cNvPr id="4" name="文本框 3"/>
          <p:cNvSpPr txBox="1"/>
          <p:nvPr/>
        </p:nvSpPr>
        <p:spPr>
          <a:xfrm>
            <a:off x="582295" y="1520190"/>
            <a:ext cx="6326505" cy="64516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zh-CN" altLang="en-US" b="1">
                <a:sym typeface="+mn-ea"/>
              </a:rPr>
              <a:t>极度精确的描述文档</a:t>
            </a:r>
            <a:r>
              <a:rPr lang="en-US" altLang="zh-CN" b="1">
                <a:sym typeface="+mn-ea"/>
              </a:rPr>
              <a:t> (Description Engineering)</a:t>
            </a:r>
            <a:r>
              <a:rPr lang="zh-CN" altLang="en-US" b="1">
                <a:sym typeface="+mn-ea"/>
              </a:rPr>
              <a:t>：</a:t>
            </a:r>
            <a:endParaRPr lang="zh-CN" altLang="en-US" b="1"/>
          </a:p>
          <a:p>
            <a:endParaRPr lang="zh-CN" altLang="en-US" b="1"/>
          </a:p>
        </p:txBody>
      </p:sp>
      <p:sp>
        <p:nvSpPr>
          <p:cNvPr id="7" name="文本框 6"/>
          <p:cNvSpPr txBox="1"/>
          <p:nvPr/>
        </p:nvSpPr>
        <p:spPr>
          <a:xfrm>
            <a:off x="1141730" y="2846070"/>
            <a:ext cx="10038080" cy="258445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zh-CN" altLang="en-US" b="1"/>
              <a:t>三、</a:t>
            </a:r>
            <a:r>
              <a:rPr lang="en-US" altLang="zh-CN" b="1"/>
              <a:t> </a:t>
            </a:r>
            <a:r>
              <a:rPr lang="zh-CN" altLang="en-US" b="1"/>
              <a:t>清晰的路由排他性（解决工具冲突）</a:t>
            </a:r>
            <a:endParaRPr lang="zh-CN" altLang="en-US" b="1"/>
          </a:p>
          <a:p>
            <a:r>
              <a:rPr lang="zh-CN" altLang="en-US"/>
              <a:t>在复杂的</a:t>
            </a:r>
            <a:r>
              <a:rPr lang="en-US" altLang="zh-CN"/>
              <a:t> Agent </a:t>
            </a:r>
            <a:r>
              <a:rPr lang="zh-CN" altLang="en-US"/>
              <a:t>编排中，往往会有功能相似的</a:t>
            </a:r>
            <a:r>
              <a:rPr lang="en-US" altLang="zh-CN"/>
              <a:t> Skill</a:t>
            </a:r>
            <a:r>
              <a:rPr lang="zh-CN" altLang="en-US"/>
              <a:t>（例如：通用网页搜索</a:t>
            </a:r>
            <a:r>
              <a:rPr lang="en-US" altLang="zh-CN"/>
              <a:t> vs </a:t>
            </a:r>
            <a:r>
              <a:rPr lang="zh-CN" altLang="en-US"/>
              <a:t>内部文档检索）。极度精确的文档必须在描述中充当</a:t>
            </a:r>
            <a:r>
              <a:rPr lang="en-US" altLang="zh-CN"/>
              <a:t>“</a:t>
            </a:r>
            <a:r>
              <a:rPr lang="zh-CN" altLang="en-US"/>
              <a:t>流量路由器</a:t>
            </a:r>
            <a:r>
              <a:rPr lang="en-US" altLang="zh-CN"/>
              <a:t>”</a:t>
            </a:r>
            <a:r>
              <a:rPr lang="zh-CN" altLang="en-US"/>
              <a:t>，教模型如何二选一。</a:t>
            </a:r>
            <a:endParaRPr lang="zh-CN" altLang="en-US"/>
          </a:p>
          <a:p>
            <a:endParaRPr lang="en-US" altLang="zh-CN"/>
          </a:p>
          <a:p>
            <a:r>
              <a:rPr lang="zh-CN" altLang="en-US"/>
              <a:t>常规描述：</a:t>
            </a:r>
            <a:r>
              <a:rPr lang="en-US" altLang="zh-CN"/>
              <a:t> </a:t>
            </a:r>
            <a:r>
              <a:rPr lang="zh-CN" altLang="en-US"/>
              <a:t>用于搜索相关技术文档。</a:t>
            </a:r>
            <a:endParaRPr lang="zh-CN" altLang="en-US"/>
          </a:p>
          <a:p>
            <a:endParaRPr lang="en-US" altLang="zh-CN"/>
          </a:p>
          <a:p>
            <a:r>
              <a:rPr lang="zh-CN" altLang="en-US"/>
              <a:t>极度精确：</a:t>
            </a:r>
            <a:r>
              <a:rPr lang="en-US" altLang="zh-CN"/>
              <a:t> </a:t>
            </a:r>
            <a:r>
              <a:rPr lang="zh-CN" altLang="en-US"/>
              <a:t>专门用于在公司内部</a:t>
            </a:r>
            <a:r>
              <a:rPr lang="en-US" altLang="zh-CN"/>
              <a:t> Git </a:t>
            </a:r>
            <a:r>
              <a:rPr lang="zh-CN" altLang="en-US"/>
              <a:t>仓库和</a:t>
            </a:r>
            <a:r>
              <a:rPr lang="en-US" altLang="zh-CN"/>
              <a:t> Wiki </a:t>
            </a:r>
            <a:r>
              <a:rPr lang="zh-CN" altLang="en-US"/>
              <a:t>中检索报错堆栈和环境配置文档。注意：如果你遇到的是关于开源框架（如</a:t>
            </a:r>
            <a:r>
              <a:rPr lang="en-US" altLang="zh-CN"/>
              <a:t> vLLM </a:t>
            </a:r>
            <a:r>
              <a:rPr lang="zh-CN" altLang="en-US"/>
              <a:t>或</a:t>
            </a:r>
            <a:r>
              <a:rPr lang="en-US" altLang="zh-CN"/>
              <a:t> MindSpore</a:t>
            </a:r>
            <a:r>
              <a:rPr lang="zh-CN" altLang="en-US"/>
              <a:t>）的通用语法问题，请优先使用</a:t>
            </a:r>
            <a:r>
              <a:rPr lang="en-US" altLang="zh-CN"/>
              <a:t> "Web_Search" </a:t>
            </a:r>
            <a:r>
              <a:rPr lang="zh-CN" altLang="en-US"/>
              <a:t>工具，而不要使用本工具。</a:t>
            </a:r>
            <a:endParaRPr lang="zh-CN" altLang="en-US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0"/>
    </mc:Choice>
    <mc:Fallback>
      <p:transition/>
    </mc:Fallback>
  </mc:AlternateContent>
</p:sld>
</file>

<file path=ppt/slides/slide6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grpSp>
        <p:nvGrpSpPr>
          <p:cNvPr id="2" name="组合 1"/>
          <p:cNvGrpSpPr/>
          <p:nvPr/>
        </p:nvGrpSpPr>
        <p:grpSpPr>
          <a:xfrm>
            <a:off x="-1386840" y="62865"/>
            <a:ext cx="8120380" cy="1326515"/>
            <a:chOff x="-2184" y="-721"/>
            <a:chExt cx="12788" cy="2089"/>
          </a:xfrm>
        </p:grpSpPr>
        <p:sp>
          <p:nvSpPr>
            <p:cNvPr id="3" name="TextBox 8"/>
            <p:cNvSpPr txBox="1"/>
            <p:nvPr/>
          </p:nvSpPr>
          <p:spPr>
            <a:xfrm>
              <a:off x="-2184" y="-721"/>
              <a:ext cx="12788" cy="1598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p>
              <a:pPr algn="ctr"/>
              <a:r>
                <a:rPr lang="en-US" sz="6000" b="1" spc="600" dirty="0" smtClean="0">
                  <a:solidFill>
                    <a:schemeClr val="bg1">
                      <a:lumMod val="95000"/>
                    </a:schemeClr>
                  </a:solidFill>
                  <a:latin typeface="庞门正道标题体" panose="02010600030101010101" charset="-122"/>
                  <a:ea typeface="庞门正道标题体" panose="02010600030101010101" charset="-122"/>
                  <a:cs typeface="Montserrat" panose="00000500000000000000" pitchFamily="50" charset="0"/>
                </a:rPr>
                <a:t>MINIMALIST</a:t>
              </a:r>
              <a:endParaRPr lang="en-US" sz="6000" b="1" spc="600" dirty="0" smtClean="0">
                <a:solidFill>
                  <a:schemeClr val="bg1">
                    <a:lumMod val="95000"/>
                  </a:schemeClr>
                </a:solidFill>
                <a:latin typeface="庞门正道标题体" panose="02010600030101010101" charset="-122"/>
                <a:ea typeface="庞门正道标题体" panose="02010600030101010101" charset="-122"/>
                <a:cs typeface="Montserrat" panose="00000500000000000000" pitchFamily="50" charset="0"/>
              </a:endParaRPr>
            </a:p>
          </p:txBody>
        </p:sp>
        <p:sp>
          <p:nvSpPr>
            <p:cNvPr id="24" name="TextBox 9"/>
            <p:cNvSpPr txBox="1"/>
            <p:nvPr/>
          </p:nvSpPr>
          <p:spPr>
            <a:xfrm>
              <a:off x="-1247" y="-166"/>
              <a:ext cx="10932" cy="130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p>
              <a:pPr algn="ctr"/>
              <a:r>
                <a:rPr lang="zh-CN" altLang="en-US" sz="4800" b="1" spc="600" dirty="0" smtClean="0">
                  <a:solidFill>
                    <a:schemeClr val="tx1"/>
                  </a:solidFill>
                  <a:latin typeface="方正明尚简体" panose="02000000000000000000" charset="-122"/>
                  <a:ea typeface="方正明尚简体" panose="02000000000000000000" charset="-122"/>
                  <a:cs typeface="Montserrat" panose="00000500000000000000" pitchFamily="50" charset="0"/>
                </a:rPr>
                <a:t>工程构建</a:t>
              </a:r>
              <a:r>
                <a:rPr lang="zh-CN" altLang="en-US" sz="4800" b="1" spc="600" dirty="0" smtClean="0">
                  <a:solidFill>
                    <a:schemeClr val="tx1"/>
                  </a:solidFill>
                  <a:latin typeface="方正明尚简体" panose="02000000000000000000" charset="-122"/>
                  <a:ea typeface="方正明尚简体" panose="02000000000000000000" charset="-122"/>
                  <a:cs typeface="Montserrat" panose="00000500000000000000" pitchFamily="50" charset="0"/>
                </a:rPr>
                <a:t>规范</a:t>
              </a:r>
              <a:endParaRPr lang="zh-CN" altLang="en-US" sz="4800" b="1" spc="600" dirty="0" smtClean="0">
                <a:solidFill>
                  <a:schemeClr val="tx1"/>
                </a:solidFill>
                <a:latin typeface="方正明尚简体" panose="02000000000000000000" charset="-122"/>
                <a:ea typeface="方正明尚简体" panose="02000000000000000000" charset="-122"/>
                <a:cs typeface="Montserrat" panose="00000500000000000000" pitchFamily="50" charset="0"/>
              </a:endParaRPr>
            </a:p>
          </p:txBody>
        </p:sp>
        <p:sp>
          <p:nvSpPr>
            <p:cNvPr id="25" name="TextBox 12"/>
            <p:cNvSpPr txBox="1"/>
            <p:nvPr/>
          </p:nvSpPr>
          <p:spPr>
            <a:xfrm>
              <a:off x="291" y="799"/>
              <a:ext cx="7856" cy="56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p>
              <a:pPr algn="ctr">
                <a:lnSpc>
                  <a:spcPct val="150000"/>
                </a:lnSpc>
              </a:pPr>
              <a:r>
                <a:rPr lang="en-US" baseline="-25000" dirty="0" smtClean="0">
                  <a:latin typeface="Dotum" panose="020B0600000101010101" charset="-127"/>
                  <a:ea typeface="Dotum" panose="020B0600000101010101" charset="-127"/>
                  <a:cs typeface="+mj-lt"/>
                </a:rPr>
                <a:t>minimal presentation template</a:t>
              </a:r>
              <a:endParaRPr lang="en-US" baseline="-25000" dirty="0" smtClean="0">
                <a:latin typeface="Dotum" panose="020B0600000101010101" charset="-127"/>
                <a:ea typeface="Dotum" panose="020B0600000101010101" charset="-127"/>
                <a:cs typeface="+mj-lt"/>
              </a:endParaRPr>
            </a:p>
          </p:txBody>
        </p:sp>
      </p:grpSp>
      <p:sp>
        <p:nvSpPr>
          <p:cNvPr id="5" name="文本框 4"/>
          <p:cNvSpPr txBox="1"/>
          <p:nvPr/>
        </p:nvSpPr>
        <p:spPr>
          <a:xfrm>
            <a:off x="1012190" y="1998345"/>
            <a:ext cx="10167620" cy="64516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zh-CN" altLang="en-US"/>
              <a:t>给</a:t>
            </a:r>
            <a:r>
              <a:rPr lang="en-US" altLang="zh-CN"/>
              <a:t> LLM </a:t>
            </a:r>
            <a:r>
              <a:rPr lang="zh-CN" altLang="en-US"/>
              <a:t>看的工具描述，比给人类看的</a:t>
            </a:r>
            <a:r>
              <a:rPr lang="en-US" altLang="zh-CN"/>
              <a:t> API </a:t>
            </a:r>
            <a:r>
              <a:rPr lang="zh-CN" altLang="en-US"/>
              <a:t>文档要求更高。设计</a:t>
            </a:r>
            <a:r>
              <a:rPr lang="en-US" altLang="zh-CN"/>
              <a:t> Skill </a:t>
            </a:r>
            <a:r>
              <a:rPr lang="zh-CN" altLang="en-US"/>
              <a:t>时，必须用清晰的自然语言定义该</a:t>
            </a:r>
            <a:r>
              <a:rPr lang="en-US" altLang="zh-CN"/>
              <a:t> Skill </a:t>
            </a:r>
            <a:r>
              <a:rPr lang="zh-CN" altLang="en-US"/>
              <a:t>的</a:t>
            </a:r>
            <a:r>
              <a:rPr lang="en-US" altLang="zh-CN"/>
              <a:t>“</a:t>
            </a:r>
            <a:r>
              <a:rPr lang="zh-CN" altLang="en-US"/>
              <a:t>能力边界</a:t>
            </a:r>
            <a:r>
              <a:rPr lang="en-US" altLang="zh-CN"/>
              <a:t>”</a:t>
            </a:r>
            <a:r>
              <a:rPr lang="zh-CN" altLang="en-US"/>
              <a:t>、</a:t>
            </a:r>
            <a:r>
              <a:rPr lang="en-US" altLang="zh-CN"/>
              <a:t>“</a:t>
            </a:r>
            <a:r>
              <a:rPr lang="zh-CN" altLang="en-US"/>
              <a:t>适用场景</a:t>
            </a:r>
            <a:r>
              <a:rPr lang="en-US" altLang="zh-CN"/>
              <a:t>”</a:t>
            </a:r>
            <a:r>
              <a:rPr lang="zh-CN" altLang="en-US"/>
              <a:t>以及</a:t>
            </a:r>
            <a:r>
              <a:rPr lang="en-US" altLang="zh-CN"/>
              <a:t>“</a:t>
            </a:r>
            <a:r>
              <a:rPr lang="zh-CN" altLang="en-US"/>
              <a:t>不适用场景</a:t>
            </a:r>
            <a:r>
              <a:rPr lang="en-US" altLang="zh-CN"/>
              <a:t>”</a:t>
            </a:r>
            <a:r>
              <a:rPr lang="zh-CN" altLang="en-US"/>
              <a:t>，否则模型很容易产生幻觉，乱用工具。</a:t>
            </a:r>
            <a:endParaRPr lang="zh-CN" altLang="en-US"/>
          </a:p>
        </p:txBody>
      </p:sp>
      <p:sp>
        <p:nvSpPr>
          <p:cNvPr id="4" name="文本框 3"/>
          <p:cNvSpPr txBox="1"/>
          <p:nvPr/>
        </p:nvSpPr>
        <p:spPr>
          <a:xfrm>
            <a:off x="582295" y="1520190"/>
            <a:ext cx="6326505" cy="64516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zh-CN" altLang="en-US" b="1">
                <a:sym typeface="+mn-ea"/>
              </a:rPr>
              <a:t>极度精确的描述文档</a:t>
            </a:r>
            <a:r>
              <a:rPr lang="en-US" altLang="zh-CN" b="1">
                <a:sym typeface="+mn-ea"/>
              </a:rPr>
              <a:t> (Description Engineering)</a:t>
            </a:r>
            <a:r>
              <a:rPr lang="zh-CN" altLang="en-US" b="1">
                <a:sym typeface="+mn-ea"/>
              </a:rPr>
              <a:t>：</a:t>
            </a:r>
            <a:endParaRPr lang="zh-CN" altLang="en-US" b="1"/>
          </a:p>
          <a:p>
            <a:endParaRPr lang="zh-CN" altLang="en-US" b="1"/>
          </a:p>
        </p:txBody>
      </p:sp>
      <p:sp>
        <p:nvSpPr>
          <p:cNvPr id="7" name="文本框 6"/>
          <p:cNvSpPr txBox="1"/>
          <p:nvPr/>
        </p:nvSpPr>
        <p:spPr>
          <a:xfrm>
            <a:off x="1141730" y="2846070"/>
            <a:ext cx="10038080" cy="258445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zh-CN" altLang="en-US" b="1"/>
              <a:t>四、</a:t>
            </a:r>
            <a:r>
              <a:rPr lang="en-US" altLang="zh-CN" b="1"/>
              <a:t> </a:t>
            </a:r>
            <a:r>
              <a:rPr lang="zh-CN" altLang="en-US" b="1"/>
              <a:t>异常预期与重试指引</a:t>
            </a:r>
            <a:endParaRPr lang="zh-CN" altLang="en-US" b="1"/>
          </a:p>
          <a:p>
            <a:r>
              <a:rPr lang="zh-CN" altLang="en-US"/>
              <a:t>当你在设计用于自动化测试或执行底层脚本的</a:t>
            </a:r>
            <a:r>
              <a:rPr lang="en-US" altLang="zh-CN"/>
              <a:t> Skill </a:t>
            </a:r>
            <a:r>
              <a:rPr lang="zh-CN" altLang="en-US"/>
              <a:t>时，执行失败是常态。好的描述文档会提前给模型打</a:t>
            </a:r>
            <a:r>
              <a:rPr lang="en-US" altLang="zh-CN"/>
              <a:t>“</a:t>
            </a:r>
            <a:r>
              <a:rPr lang="zh-CN" altLang="en-US"/>
              <a:t>预防针</a:t>
            </a:r>
            <a:r>
              <a:rPr lang="en-US" altLang="zh-CN"/>
              <a:t>”</a:t>
            </a:r>
            <a:r>
              <a:rPr lang="zh-CN" altLang="en-US"/>
              <a:t>，告诉它如果返回了某种错误，下一步该怎么思考。</a:t>
            </a:r>
            <a:endParaRPr lang="zh-CN" altLang="en-US"/>
          </a:p>
          <a:p>
            <a:endParaRPr lang="en-US" altLang="zh-CN"/>
          </a:p>
          <a:p>
            <a:r>
              <a:rPr lang="zh-CN" altLang="en-US"/>
              <a:t>常规描述：</a:t>
            </a:r>
            <a:r>
              <a:rPr lang="en-US" altLang="zh-CN"/>
              <a:t> </a:t>
            </a:r>
            <a:r>
              <a:rPr lang="zh-CN" altLang="en-US"/>
              <a:t>运行给定的</a:t>
            </a:r>
            <a:r>
              <a:rPr lang="en-US" altLang="zh-CN"/>
              <a:t> Python </a:t>
            </a:r>
            <a:r>
              <a:rPr lang="zh-CN" altLang="en-US"/>
              <a:t>测试脚本。</a:t>
            </a:r>
            <a:endParaRPr lang="zh-CN" altLang="en-US"/>
          </a:p>
          <a:p>
            <a:endParaRPr lang="en-US" altLang="zh-CN"/>
          </a:p>
          <a:p>
            <a:r>
              <a:rPr lang="zh-CN" altLang="en-US"/>
              <a:t>极度精确：</a:t>
            </a:r>
            <a:r>
              <a:rPr lang="en-US" altLang="zh-CN"/>
              <a:t> </a:t>
            </a:r>
            <a:r>
              <a:rPr lang="zh-CN" altLang="en-US"/>
              <a:t>在沙箱中执行给定的</a:t>
            </a:r>
            <a:r>
              <a:rPr lang="en-US" altLang="zh-CN"/>
              <a:t> Python </a:t>
            </a:r>
            <a:r>
              <a:rPr lang="zh-CN" altLang="en-US"/>
              <a:t>测试脚本并返回标准输出。如果返回结果中包含</a:t>
            </a:r>
            <a:r>
              <a:rPr lang="en-US" altLang="zh-CN"/>
              <a:t> "TimeoutError"</a:t>
            </a:r>
            <a:r>
              <a:rPr lang="zh-CN" altLang="en-US"/>
              <a:t>，这意味着集群资源排队，请你等待</a:t>
            </a:r>
            <a:r>
              <a:rPr lang="en-US" altLang="zh-CN"/>
              <a:t> 5 </a:t>
            </a:r>
            <a:r>
              <a:rPr lang="zh-CN" altLang="en-US"/>
              <a:t>秒后再次调用本工具重试。如果返回</a:t>
            </a:r>
            <a:r>
              <a:rPr lang="en-US" altLang="zh-CN"/>
              <a:t> "SyntaxError"</a:t>
            </a:r>
            <a:r>
              <a:rPr lang="zh-CN" altLang="en-US"/>
              <a:t>，请提取错误堆栈信息，自行修改你的</a:t>
            </a:r>
            <a:r>
              <a:rPr lang="en-US" altLang="zh-CN"/>
              <a:t> Python </a:t>
            </a:r>
            <a:r>
              <a:rPr lang="zh-CN" altLang="en-US"/>
              <a:t>脚本代码，然后重新调用本工具。</a:t>
            </a:r>
            <a:endParaRPr lang="zh-CN" altLang="en-US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0"/>
    </mc:Choice>
    <mc:Fallback>
      <p:transition/>
    </mc:Fallback>
  </mc:AlternateContent>
</p:sld>
</file>

<file path=ppt/slides/slide6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grpSp>
        <p:nvGrpSpPr>
          <p:cNvPr id="2" name="组合 1"/>
          <p:cNvGrpSpPr/>
          <p:nvPr/>
        </p:nvGrpSpPr>
        <p:grpSpPr>
          <a:xfrm>
            <a:off x="-1386840" y="62865"/>
            <a:ext cx="8120380" cy="1326515"/>
            <a:chOff x="-2184" y="-721"/>
            <a:chExt cx="12788" cy="2089"/>
          </a:xfrm>
        </p:grpSpPr>
        <p:sp>
          <p:nvSpPr>
            <p:cNvPr id="3" name="TextBox 8"/>
            <p:cNvSpPr txBox="1"/>
            <p:nvPr/>
          </p:nvSpPr>
          <p:spPr>
            <a:xfrm>
              <a:off x="-2184" y="-721"/>
              <a:ext cx="12788" cy="1598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p>
              <a:pPr algn="ctr"/>
              <a:r>
                <a:rPr lang="en-US" sz="6000" b="1" spc="600" dirty="0" smtClean="0">
                  <a:solidFill>
                    <a:schemeClr val="bg1">
                      <a:lumMod val="95000"/>
                    </a:schemeClr>
                  </a:solidFill>
                  <a:latin typeface="庞门正道标题体" panose="02010600030101010101" charset="-122"/>
                  <a:ea typeface="庞门正道标题体" panose="02010600030101010101" charset="-122"/>
                  <a:cs typeface="Montserrat" panose="00000500000000000000" pitchFamily="50" charset="0"/>
                </a:rPr>
                <a:t>MINIMALIST</a:t>
              </a:r>
              <a:endParaRPr lang="en-US" sz="6000" b="1" spc="600" dirty="0" smtClean="0">
                <a:solidFill>
                  <a:schemeClr val="bg1">
                    <a:lumMod val="95000"/>
                  </a:schemeClr>
                </a:solidFill>
                <a:latin typeface="庞门正道标题体" panose="02010600030101010101" charset="-122"/>
                <a:ea typeface="庞门正道标题体" panose="02010600030101010101" charset="-122"/>
                <a:cs typeface="Montserrat" panose="00000500000000000000" pitchFamily="50" charset="0"/>
              </a:endParaRPr>
            </a:p>
          </p:txBody>
        </p:sp>
        <p:sp>
          <p:nvSpPr>
            <p:cNvPr id="24" name="TextBox 9"/>
            <p:cNvSpPr txBox="1"/>
            <p:nvPr/>
          </p:nvSpPr>
          <p:spPr>
            <a:xfrm>
              <a:off x="-1247" y="-166"/>
              <a:ext cx="10932" cy="130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p>
              <a:pPr algn="ctr"/>
              <a:r>
                <a:rPr lang="zh-CN" altLang="en-US" sz="4800" b="1" spc="600" dirty="0" smtClean="0">
                  <a:solidFill>
                    <a:schemeClr val="tx1"/>
                  </a:solidFill>
                  <a:latin typeface="方正明尚简体" panose="02000000000000000000" charset="-122"/>
                  <a:ea typeface="方正明尚简体" panose="02000000000000000000" charset="-122"/>
                  <a:cs typeface="Montserrat" panose="00000500000000000000" pitchFamily="50" charset="0"/>
                </a:rPr>
                <a:t>工程构建</a:t>
              </a:r>
              <a:r>
                <a:rPr lang="zh-CN" altLang="en-US" sz="4800" b="1" spc="600" dirty="0" smtClean="0">
                  <a:solidFill>
                    <a:schemeClr val="tx1"/>
                  </a:solidFill>
                  <a:latin typeface="方正明尚简体" panose="02000000000000000000" charset="-122"/>
                  <a:ea typeface="方正明尚简体" panose="02000000000000000000" charset="-122"/>
                  <a:cs typeface="Montserrat" panose="00000500000000000000" pitchFamily="50" charset="0"/>
                </a:rPr>
                <a:t>规范</a:t>
              </a:r>
              <a:endParaRPr lang="zh-CN" altLang="en-US" sz="4800" b="1" spc="600" dirty="0" smtClean="0">
                <a:solidFill>
                  <a:schemeClr val="tx1"/>
                </a:solidFill>
                <a:latin typeface="方正明尚简体" panose="02000000000000000000" charset="-122"/>
                <a:ea typeface="方正明尚简体" panose="02000000000000000000" charset="-122"/>
                <a:cs typeface="Montserrat" panose="00000500000000000000" pitchFamily="50" charset="0"/>
              </a:endParaRPr>
            </a:p>
          </p:txBody>
        </p:sp>
        <p:sp>
          <p:nvSpPr>
            <p:cNvPr id="25" name="TextBox 12"/>
            <p:cNvSpPr txBox="1"/>
            <p:nvPr/>
          </p:nvSpPr>
          <p:spPr>
            <a:xfrm>
              <a:off x="291" y="799"/>
              <a:ext cx="7856" cy="56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p>
              <a:pPr algn="ctr">
                <a:lnSpc>
                  <a:spcPct val="150000"/>
                </a:lnSpc>
              </a:pPr>
              <a:r>
                <a:rPr lang="en-US" baseline="-25000" dirty="0" smtClean="0">
                  <a:latin typeface="Dotum" panose="020B0600000101010101" charset="-127"/>
                  <a:ea typeface="Dotum" panose="020B0600000101010101" charset="-127"/>
                  <a:cs typeface="+mj-lt"/>
                </a:rPr>
                <a:t>minimal presentation template</a:t>
              </a:r>
              <a:endParaRPr lang="en-US" baseline="-25000" dirty="0" smtClean="0">
                <a:latin typeface="Dotum" panose="020B0600000101010101" charset="-127"/>
                <a:ea typeface="Dotum" panose="020B0600000101010101" charset="-127"/>
                <a:cs typeface="+mj-lt"/>
              </a:endParaRPr>
            </a:p>
          </p:txBody>
        </p:sp>
      </p:grpSp>
      <p:sp>
        <p:nvSpPr>
          <p:cNvPr id="5" name="文本框 4"/>
          <p:cNvSpPr txBox="1"/>
          <p:nvPr/>
        </p:nvSpPr>
        <p:spPr>
          <a:xfrm>
            <a:off x="1012190" y="1998345"/>
            <a:ext cx="10167620" cy="64516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zh-CN" altLang="en-US">
                <a:sym typeface="+mn-ea"/>
              </a:rPr>
              <a:t>必须通过严格的格式（如</a:t>
            </a:r>
            <a:r>
              <a:rPr lang="en-US" altLang="zh-CN">
                <a:sym typeface="+mn-ea"/>
              </a:rPr>
              <a:t> JSON Schema </a:t>
            </a:r>
            <a:r>
              <a:rPr lang="zh-CN" altLang="en-US">
                <a:sym typeface="+mn-ea"/>
              </a:rPr>
              <a:t>或特定的文本模板）来约束</a:t>
            </a:r>
            <a:r>
              <a:rPr lang="en-US" altLang="zh-CN">
                <a:sym typeface="+mn-ea"/>
              </a:rPr>
              <a:t> LLM </a:t>
            </a:r>
            <a:r>
              <a:rPr lang="zh-CN" altLang="en-US">
                <a:sym typeface="+mn-ea"/>
              </a:rPr>
              <a:t>给出的参数。</a:t>
            </a:r>
            <a:r>
              <a:rPr lang="en-US" altLang="zh-CN">
                <a:sym typeface="+mn-ea"/>
              </a:rPr>
              <a:t>LLM </a:t>
            </a:r>
            <a:r>
              <a:rPr lang="zh-CN" altLang="en-US">
                <a:sym typeface="+mn-ea"/>
              </a:rPr>
              <a:t>生成的内容经常不可控，因此</a:t>
            </a:r>
            <a:r>
              <a:rPr lang="en-US" altLang="zh-CN">
                <a:sym typeface="+mn-ea"/>
              </a:rPr>
              <a:t> Skill </a:t>
            </a:r>
            <a:r>
              <a:rPr lang="zh-CN" altLang="en-US">
                <a:sym typeface="+mn-ea"/>
              </a:rPr>
              <a:t>层的设计必须包含强大的输入校验机制。</a:t>
            </a:r>
            <a:endParaRPr lang="zh-CN" altLang="en-US"/>
          </a:p>
        </p:txBody>
      </p:sp>
      <p:sp>
        <p:nvSpPr>
          <p:cNvPr id="4" name="文本框 3"/>
          <p:cNvSpPr txBox="1"/>
          <p:nvPr/>
        </p:nvSpPr>
        <p:spPr>
          <a:xfrm>
            <a:off x="582295" y="1520190"/>
            <a:ext cx="6326505" cy="64516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zh-CN" altLang="en-US" b="1">
                <a:sym typeface="+mn-ea"/>
              </a:rPr>
              <a:t>标准化的输入输出接口</a:t>
            </a:r>
            <a:r>
              <a:rPr lang="en-US" altLang="zh-CN" b="1">
                <a:sym typeface="+mn-ea"/>
              </a:rPr>
              <a:t> (Standardized I/O)</a:t>
            </a:r>
            <a:r>
              <a:rPr lang="zh-CN" altLang="en-US" b="1">
                <a:sym typeface="+mn-ea"/>
              </a:rPr>
              <a:t>：</a:t>
            </a:r>
            <a:endParaRPr lang="zh-CN" altLang="en-US" b="1"/>
          </a:p>
          <a:p>
            <a:endParaRPr lang="zh-CN" altLang="en-US" b="1"/>
          </a:p>
        </p:txBody>
      </p:sp>
      <p:sp>
        <p:nvSpPr>
          <p:cNvPr id="6" name="文本框 5"/>
          <p:cNvSpPr txBox="1"/>
          <p:nvPr/>
        </p:nvSpPr>
        <p:spPr>
          <a:xfrm>
            <a:off x="1012190" y="2701290"/>
            <a:ext cx="11042650" cy="396938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zh-CN" altLang="en-US" b="1"/>
              <a:t>一、</a:t>
            </a:r>
            <a:r>
              <a:rPr lang="en-US" altLang="zh-CN" b="1"/>
              <a:t> </a:t>
            </a:r>
            <a:r>
              <a:rPr lang="zh-CN" altLang="en-US" b="1"/>
              <a:t>标准化输入（</a:t>
            </a:r>
            <a:r>
              <a:rPr lang="en-US" altLang="zh-CN" b="1"/>
              <a:t>Input</a:t>
            </a:r>
            <a:r>
              <a:rPr lang="zh-CN" altLang="en-US" b="1"/>
              <a:t>）：把自然语言关进</a:t>
            </a:r>
            <a:r>
              <a:rPr lang="en-US" altLang="zh-CN" b="1"/>
              <a:t> JSON </a:t>
            </a:r>
            <a:r>
              <a:rPr lang="zh-CN" altLang="en-US" b="1"/>
              <a:t>的笼子</a:t>
            </a:r>
            <a:endParaRPr lang="zh-CN" altLang="en-US" b="1"/>
          </a:p>
          <a:p>
            <a:r>
              <a:rPr lang="zh-CN" altLang="en-US"/>
              <a:t>在</a:t>
            </a:r>
            <a:r>
              <a:rPr lang="en-US" altLang="zh-CN"/>
              <a:t> Skill </a:t>
            </a:r>
            <a:r>
              <a:rPr lang="zh-CN" altLang="en-US"/>
              <a:t>工程中，输入标准化通常是通过</a:t>
            </a:r>
            <a:r>
              <a:rPr lang="en-US" altLang="zh-CN"/>
              <a:t> JSON Schema </a:t>
            </a:r>
            <a:r>
              <a:rPr lang="zh-CN" altLang="en-US"/>
              <a:t>或类似的强类型校验框架（如</a:t>
            </a:r>
            <a:r>
              <a:rPr lang="en-US" altLang="zh-CN"/>
              <a:t> Python </a:t>
            </a:r>
            <a:r>
              <a:rPr lang="zh-CN" altLang="en-US"/>
              <a:t>中的</a:t>
            </a:r>
            <a:r>
              <a:rPr lang="en-US" altLang="zh-CN"/>
              <a:t> Pydantic</a:t>
            </a:r>
            <a:r>
              <a:rPr lang="zh-CN" altLang="en-US"/>
              <a:t>）来实现的。它的规范要求极度严格：</a:t>
            </a:r>
            <a:endParaRPr lang="zh-CN" altLang="en-US"/>
          </a:p>
          <a:p>
            <a:endParaRPr lang="en-US" altLang="zh-CN"/>
          </a:p>
          <a:p>
            <a:r>
              <a:rPr lang="zh-CN" altLang="en-US"/>
              <a:t>强制类型约束（</a:t>
            </a:r>
            <a:r>
              <a:rPr lang="en-US" altLang="zh-CN"/>
              <a:t>Type Hinting</a:t>
            </a:r>
            <a:r>
              <a:rPr lang="zh-CN" altLang="en-US"/>
              <a:t>）：</a:t>
            </a:r>
            <a:r>
              <a:rPr lang="en-US" altLang="zh-CN"/>
              <a:t> </a:t>
            </a:r>
            <a:r>
              <a:rPr lang="zh-CN" altLang="en-US"/>
              <a:t>不能让模型随便猜。如果参数是年龄，接口必须强行规定它只能是</a:t>
            </a:r>
            <a:r>
              <a:rPr lang="en-US" altLang="zh-CN"/>
              <a:t> Integer</a:t>
            </a:r>
            <a:r>
              <a:rPr lang="zh-CN" altLang="en-US"/>
              <a:t>。如果传入了</a:t>
            </a:r>
            <a:r>
              <a:rPr lang="en-US" altLang="zh-CN"/>
              <a:t> "</a:t>
            </a:r>
            <a:r>
              <a:rPr lang="zh-CN" altLang="en-US"/>
              <a:t>二十岁</a:t>
            </a:r>
            <a:r>
              <a:rPr lang="en-US" altLang="zh-CN"/>
              <a:t>" </a:t>
            </a:r>
            <a:r>
              <a:rPr lang="zh-CN" altLang="en-US"/>
              <a:t>这个字符串，标准化接口在执行代码前就会将其拦截。</a:t>
            </a:r>
            <a:endParaRPr lang="zh-CN" altLang="en-US"/>
          </a:p>
          <a:p>
            <a:endParaRPr lang="en-US" altLang="zh-CN"/>
          </a:p>
          <a:p>
            <a:r>
              <a:rPr lang="zh-CN" altLang="en-US"/>
              <a:t>必填项校验（</a:t>
            </a:r>
            <a:r>
              <a:rPr lang="en-US" altLang="zh-CN"/>
              <a:t>Required Fields</a:t>
            </a:r>
            <a:r>
              <a:rPr lang="zh-CN" altLang="en-US"/>
              <a:t>）：</a:t>
            </a:r>
            <a:r>
              <a:rPr lang="en-US" altLang="zh-CN"/>
              <a:t> </a:t>
            </a:r>
            <a:r>
              <a:rPr lang="zh-CN" altLang="en-US"/>
              <a:t>比如</a:t>
            </a:r>
            <a:r>
              <a:rPr lang="en-US" altLang="zh-CN"/>
              <a:t>“</a:t>
            </a:r>
            <a:r>
              <a:rPr lang="zh-CN" altLang="en-US"/>
              <a:t>发送邮件</a:t>
            </a:r>
            <a:r>
              <a:rPr lang="en-US" altLang="zh-CN"/>
              <a:t>”</a:t>
            </a:r>
            <a:r>
              <a:rPr lang="zh-CN" altLang="en-US"/>
              <a:t>技能，</a:t>
            </a:r>
            <a:r>
              <a:rPr lang="en-US" altLang="zh-CN"/>
              <a:t>to_email </a:t>
            </a:r>
            <a:r>
              <a:rPr lang="zh-CN" altLang="en-US"/>
              <a:t>和</a:t>
            </a:r>
            <a:r>
              <a:rPr lang="en-US" altLang="zh-CN"/>
              <a:t> subject </a:t>
            </a:r>
            <a:r>
              <a:rPr lang="zh-CN" altLang="en-US"/>
              <a:t>必须是</a:t>
            </a:r>
            <a:r>
              <a:rPr lang="en-US" altLang="zh-CN"/>
              <a:t> Required</a:t>
            </a:r>
            <a:r>
              <a:rPr lang="zh-CN" altLang="en-US"/>
              <a:t>。如果模型在推理时忘记生成收件人，接口会拒绝执行。</a:t>
            </a:r>
            <a:endParaRPr lang="zh-CN" altLang="en-US"/>
          </a:p>
          <a:p>
            <a:endParaRPr lang="en-US" altLang="zh-CN"/>
          </a:p>
          <a:p>
            <a:r>
              <a:rPr lang="zh-CN" altLang="en-US"/>
              <a:t>枚举值限定（</a:t>
            </a:r>
            <a:r>
              <a:rPr lang="en-US" altLang="zh-CN"/>
              <a:t>Enums</a:t>
            </a:r>
            <a:r>
              <a:rPr lang="zh-CN" altLang="en-US"/>
              <a:t>）：</a:t>
            </a:r>
            <a:r>
              <a:rPr lang="en-US" altLang="zh-CN"/>
              <a:t> </a:t>
            </a:r>
            <a:r>
              <a:rPr lang="zh-CN" altLang="en-US"/>
              <a:t>这是防止</a:t>
            </a:r>
            <a:r>
              <a:rPr lang="en-US" altLang="zh-CN"/>
              <a:t>“</a:t>
            </a:r>
            <a:r>
              <a:rPr lang="zh-CN" altLang="en-US"/>
              <a:t>参数幻觉</a:t>
            </a:r>
            <a:r>
              <a:rPr lang="en-US" altLang="zh-CN"/>
              <a:t>”</a:t>
            </a:r>
            <a:r>
              <a:rPr lang="zh-CN" altLang="en-US"/>
              <a:t>最有效的手段。比如指定环境的参数，不能让模型自由发挥输出</a:t>
            </a:r>
            <a:r>
              <a:rPr lang="en-US" altLang="zh-CN"/>
              <a:t> "Production", "Online", "Live"</a:t>
            </a:r>
            <a:r>
              <a:rPr lang="zh-CN" altLang="en-US"/>
              <a:t>，必须在接口层面通过</a:t>
            </a:r>
            <a:r>
              <a:rPr lang="en-US" altLang="zh-CN"/>
              <a:t> Enum </a:t>
            </a:r>
            <a:r>
              <a:rPr lang="zh-CN" altLang="en-US"/>
              <a:t>标准化为严格的</a:t>
            </a:r>
            <a:r>
              <a:rPr lang="en-US" altLang="zh-CN"/>
              <a:t> ["prod", "dev", "test"]</a:t>
            </a:r>
            <a:r>
              <a:rPr lang="zh-CN" altLang="en-US"/>
              <a:t>。</a:t>
            </a:r>
            <a:endParaRPr lang="zh-CN" altLang="en-US"/>
          </a:p>
          <a:p>
            <a:endParaRPr lang="en-US" altLang="zh-CN"/>
          </a:p>
          <a:p>
            <a:r>
              <a:rPr lang="zh-CN" altLang="en-US"/>
              <a:t>默认值与默认行为（</a:t>
            </a:r>
            <a:r>
              <a:rPr lang="en-US" altLang="zh-CN"/>
              <a:t>Defaults</a:t>
            </a:r>
            <a:r>
              <a:rPr lang="zh-CN" altLang="en-US"/>
              <a:t>）：</a:t>
            </a:r>
            <a:r>
              <a:rPr lang="en-US" altLang="zh-CN"/>
              <a:t> </a:t>
            </a:r>
            <a:r>
              <a:rPr lang="zh-CN" altLang="en-US"/>
              <a:t>规范的接口应该设定安全的兜底参数，以防大模型忽略了某些非必填细节。</a:t>
            </a:r>
            <a:endParaRPr lang="zh-CN" altLang="en-US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0"/>
    </mc:Choice>
    <mc:Fallback>
      <p:transition/>
    </mc:Fallback>
  </mc:AlternateContent>
</p:sld>
</file>

<file path=ppt/slides/slide6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grpSp>
        <p:nvGrpSpPr>
          <p:cNvPr id="2" name="组合 1"/>
          <p:cNvGrpSpPr/>
          <p:nvPr/>
        </p:nvGrpSpPr>
        <p:grpSpPr>
          <a:xfrm>
            <a:off x="-1386840" y="62865"/>
            <a:ext cx="8120380" cy="1326515"/>
            <a:chOff x="-2184" y="-721"/>
            <a:chExt cx="12788" cy="2089"/>
          </a:xfrm>
        </p:grpSpPr>
        <p:sp>
          <p:nvSpPr>
            <p:cNvPr id="3" name="TextBox 8"/>
            <p:cNvSpPr txBox="1"/>
            <p:nvPr/>
          </p:nvSpPr>
          <p:spPr>
            <a:xfrm>
              <a:off x="-2184" y="-721"/>
              <a:ext cx="12788" cy="1598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p>
              <a:pPr algn="ctr"/>
              <a:r>
                <a:rPr lang="en-US" sz="6000" b="1" spc="600" dirty="0" smtClean="0">
                  <a:solidFill>
                    <a:schemeClr val="bg1">
                      <a:lumMod val="95000"/>
                    </a:schemeClr>
                  </a:solidFill>
                  <a:latin typeface="庞门正道标题体" panose="02010600030101010101" charset="-122"/>
                  <a:ea typeface="庞门正道标题体" panose="02010600030101010101" charset="-122"/>
                  <a:cs typeface="Montserrat" panose="00000500000000000000" pitchFamily="50" charset="0"/>
                </a:rPr>
                <a:t>MINIMALIST</a:t>
              </a:r>
              <a:endParaRPr lang="en-US" sz="6000" b="1" spc="600" dirty="0" smtClean="0">
                <a:solidFill>
                  <a:schemeClr val="bg1">
                    <a:lumMod val="95000"/>
                  </a:schemeClr>
                </a:solidFill>
                <a:latin typeface="庞门正道标题体" panose="02010600030101010101" charset="-122"/>
                <a:ea typeface="庞门正道标题体" panose="02010600030101010101" charset="-122"/>
                <a:cs typeface="Montserrat" panose="00000500000000000000" pitchFamily="50" charset="0"/>
              </a:endParaRPr>
            </a:p>
          </p:txBody>
        </p:sp>
        <p:sp>
          <p:nvSpPr>
            <p:cNvPr id="24" name="TextBox 9"/>
            <p:cNvSpPr txBox="1"/>
            <p:nvPr/>
          </p:nvSpPr>
          <p:spPr>
            <a:xfrm>
              <a:off x="-1247" y="-166"/>
              <a:ext cx="10932" cy="130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p>
              <a:pPr algn="ctr"/>
              <a:r>
                <a:rPr lang="zh-CN" altLang="en-US" sz="4800" b="1" spc="600" dirty="0" smtClean="0">
                  <a:solidFill>
                    <a:schemeClr val="tx1"/>
                  </a:solidFill>
                  <a:latin typeface="方正明尚简体" panose="02000000000000000000" charset="-122"/>
                  <a:ea typeface="方正明尚简体" panose="02000000000000000000" charset="-122"/>
                  <a:cs typeface="Montserrat" panose="00000500000000000000" pitchFamily="50" charset="0"/>
                </a:rPr>
                <a:t>工程构建</a:t>
              </a:r>
              <a:r>
                <a:rPr lang="zh-CN" altLang="en-US" sz="4800" b="1" spc="600" dirty="0" smtClean="0">
                  <a:solidFill>
                    <a:schemeClr val="tx1"/>
                  </a:solidFill>
                  <a:latin typeface="方正明尚简体" panose="02000000000000000000" charset="-122"/>
                  <a:ea typeface="方正明尚简体" panose="02000000000000000000" charset="-122"/>
                  <a:cs typeface="Montserrat" panose="00000500000000000000" pitchFamily="50" charset="0"/>
                </a:rPr>
                <a:t>规范</a:t>
              </a:r>
              <a:endParaRPr lang="zh-CN" altLang="en-US" sz="4800" b="1" spc="600" dirty="0" smtClean="0">
                <a:solidFill>
                  <a:schemeClr val="tx1"/>
                </a:solidFill>
                <a:latin typeface="方正明尚简体" panose="02000000000000000000" charset="-122"/>
                <a:ea typeface="方正明尚简体" panose="02000000000000000000" charset="-122"/>
                <a:cs typeface="Montserrat" panose="00000500000000000000" pitchFamily="50" charset="0"/>
              </a:endParaRPr>
            </a:p>
          </p:txBody>
        </p:sp>
        <p:sp>
          <p:nvSpPr>
            <p:cNvPr id="25" name="TextBox 12"/>
            <p:cNvSpPr txBox="1"/>
            <p:nvPr/>
          </p:nvSpPr>
          <p:spPr>
            <a:xfrm>
              <a:off x="291" y="799"/>
              <a:ext cx="7856" cy="56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p>
              <a:pPr algn="ctr">
                <a:lnSpc>
                  <a:spcPct val="150000"/>
                </a:lnSpc>
              </a:pPr>
              <a:r>
                <a:rPr lang="en-US" baseline="-25000" dirty="0" smtClean="0">
                  <a:latin typeface="Dotum" panose="020B0600000101010101" charset="-127"/>
                  <a:ea typeface="Dotum" panose="020B0600000101010101" charset="-127"/>
                  <a:cs typeface="+mj-lt"/>
                </a:rPr>
                <a:t>minimal presentation template</a:t>
              </a:r>
              <a:endParaRPr lang="en-US" baseline="-25000" dirty="0" smtClean="0">
                <a:latin typeface="Dotum" panose="020B0600000101010101" charset="-127"/>
                <a:ea typeface="Dotum" panose="020B0600000101010101" charset="-127"/>
                <a:cs typeface="+mj-lt"/>
              </a:endParaRPr>
            </a:p>
          </p:txBody>
        </p:sp>
      </p:grpSp>
      <p:sp>
        <p:nvSpPr>
          <p:cNvPr id="5" name="文本框 4"/>
          <p:cNvSpPr txBox="1"/>
          <p:nvPr/>
        </p:nvSpPr>
        <p:spPr>
          <a:xfrm>
            <a:off x="1012190" y="1998345"/>
            <a:ext cx="10167620" cy="64516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zh-CN" altLang="en-US">
                <a:sym typeface="+mn-ea"/>
              </a:rPr>
              <a:t>必须通过严格的格式（如</a:t>
            </a:r>
            <a:r>
              <a:rPr lang="en-US" altLang="zh-CN">
                <a:sym typeface="+mn-ea"/>
              </a:rPr>
              <a:t> JSON Schema </a:t>
            </a:r>
            <a:r>
              <a:rPr lang="zh-CN" altLang="en-US">
                <a:sym typeface="+mn-ea"/>
              </a:rPr>
              <a:t>或特定的文本模板）来约束</a:t>
            </a:r>
            <a:r>
              <a:rPr lang="en-US" altLang="zh-CN">
                <a:sym typeface="+mn-ea"/>
              </a:rPr>
              <a:t> LLM </a:t>
            </a:r>
            <a:r>
              <a:rPr lang="zh-CN" altLang="en-US">
                <a:sym typeface="+mn-ea"/>
              </a:rPr>
              <a:t>给出的参数。</a:t>
            </a:r>
            <a:r>
              <a:rPr lang="en-US" altLang="zh-CN">
                <a:sym typeface="+mn-ea"/>
              </a:rPr>
              <a:t>LLM </a:t>
            </a:r>
            <a:r>
              <a:rPr lang="zh-CN" altLang="en-US">
                <a:sym typeface="+mn-ea"/>
              </a:rPr>
              <a:t>生成的内容经常不可控，因此</a:t>
            </a:r>
            <a:r>
              <a:rPr lang="en-US" altLang="zh-CN">
                <a:sym typeface="+mn-ea"/>
              </a:rPr>
              <a:t> Skill </a:t>
            </a:r>
            <a:r>
              <a:rPr lang="zh-CN" altLang="en-US">
                <a:sym typeface="+mn-ea"/>
              </a:rPr>
              <a:t>层的设计必须包含强大的输入校验机制。</a:t>
            </a:r>
            <a:endParaRPr lang="zh-CN" altLang="en-US"/>
          </a:p>
        </p:txBody>
      </p:sp>
      <p:sp>
        <p:nvSpPr>
          <p:cNvPr id="4" name="文本框 3"/>
          <p:cNvSpPr txBox="1"/>
          <p:nvPr/>
        </p:nvSpPr>
        <p:spPr>
          <a:xfrm>
            <a:off x="582295" y="1520190"/>
            <a:ext cx="6326505" cy="64516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zh-CN" altLang="en-US" b="1">
                <a:sym typeface="+mn-ea"/>
              </a:rPr>
              <a:t>标准化的输入输出接口</a:t>
            </a:r>
            <a:r>
              <a:rPr lang="en-US" altLang="zh-CN" b="1">
                <a:sym typeface="+mn-ea"/>
              </a:rPr>
              <a:t> (Standardized I/O)</a:t>
            </a:r>
            <a:r>
              <a:rPr lang="zh-CN" altLang="en-US" b="1">
                <a:sym typeface="+mn-ea"/>
              </a:rPr>
              <a:t>：</a:t>
            </a:r>
            <a:endParaRPr lang="zh-CN" altLang="en-US" b="1"/>
          </a:p>
          <a:p>
            <a:endParaRPr lang="zh-CN" altLang="en-US" b="1"/>
          </a:p>
        </p:txBody>
      </p:sp>
      <p:sp>
        <p:nvSpPr>
          <p:cNvPr id="6" name="文本框 5"/>
          <p:cNvSpPr txBox="1"/>
          <p:nvPr/>
        </p:nvSpPr>
        <p:spPr>
          <a:xfrm>
            <a:off x="1012190" y="2701290"/>
            <a:ext cx="11042650" cy="396938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zh-CN" altLang="en-US" b="1"/>
              <a:t>二、</a:t>
            </a:r>
            <a:r>
              <a:rPr lang="en-US" altLang="zh-CN" b="1"/>
              <a:t> </a:t>
            </a:r>
            <a:r>
              <a:rPr lang="zh-CN" altLang="en-US" b="1"/>
              <a:t>标准化输出（</a:t>
            </a:r>
            <a:r>
              <a:rPr lang="en-US" altLang="zh-CN" b="1"/>
              <a:t>Output</a:t>
            </a:r>
            <a:r>
              <a:rPr lang="zh-CN" altLang="en-US" b="1"/>
              <a:t>）：为大模型提供</a:t>
            </a:r>
            <a:r>
              <a:rPr lang="en-US" altLang="zh-CN" b="1"/>
              <a:t>“</a:t>
            </a:r>
            <a:r>
              <a:rPr lang="zh-CN" altLang="en-US" b="1"/>
              <a:t>反思</a:t>
            </a:r>
            <a:r>
              <a:rPr lang="en-US" altLang="zh-CN" b="1"/>
              <a:t>”</a:t>
            </a:r>
            <a:r>
              <a:rPr lang="zh-CN" altLang="en-US" b="1"/>
              <a:t>的养料</a:t>
            </a:r>
            <a:endParaRPr lang="zh-CN" altLang="en-US" b="1"/>
          </a:p>
          <a:p>
            <a:r>
              <a:rPr lang="zh-CN" altLang="en-US"/>
              <a:t>很多开发者只关注输入，却忽略了输出的标准化。当</a:t>
            </a:r>
            <a:r>
              <a:rPr lang="en-US" altLang="zh-CN"/>
              <a:t> Skill</a:t>
            </a:r>
            <a:r>
              <a:rPr lang="zh-CN" altLang="en-US"/>
              <a:t>（比如一段</a:t>
            </a:r>
            <a:r>
              <a:rPr lang="en-US" altLang="zh-CN"/>
              <a:t> Python </a:t>
            </a:r>
            <a:r>
              <a:rPr lang="zh-CN" altLang="en-US"/>
              <a:t>脚本或一个外部</a:t>
            </a:r>
            <a:r>
              <a:rPr lang="en-US" altLang="zh-CN"/>
              <a:t> HTTP </a:t>
            </a:r>
            <a:r>
              <a:rPr lang="zh-CN" altLang="en-US"/>
              <a:t>请求）执行完毕后，无论成功还是失败，都不能把原始的、杂乱的系统日志直接丢给大模型。</a:t>
            </a:r>
            <a:endParaRPr lang="zh-CN" altLang="en-US"/>
          </a:p>
          <a:p>
            <a:endParaRPr lang="en-US" altLang="zh-CN"/>
          </a:p>
          <a:p>
            <a:r>
              <a:rPr lang="zh-CN" altLang="en-US"/>
              <a:t>成功的标准化返回：</a:t>
            </a:r>
            <a:r>
              <a:rPr lang="en-US" altLang="zh-CN"/>
              <a:t> </a:t>
            </a:r>
            <a:r>
              <a:rPr lang="zh-CN" altLang="en-US"/>
              <a:t>剔除掉无用的</a:t>
            </a:r>
            <a:r>
              <a:rPr lang="en-US" altLang="zh-CN"/>
              <a:t> HTML </a:t>
            </a:r>
            <a:r>
              <a:rPr lang="zh-CN" altLang="en-US"/>
              <a:t>标签、多余的</a:t>
            </a:r>
            <a:r>
              <a:rPr lang="en-US" altLang="zh-CN"/>
              <a:t> HTTP Header </a:t>
            </a:r>
            <a:r>
              <a:rPr lang="zh-CN" altLang="en-US"/>
              <a:t>或长达几万字的冗余数据。只提取核心字段，转化为紧凑的</a:t>
            </a:r>
            <a:r>
              <a:rPr lang="en-US" altLang="zh-CN"/>
              <a:t> JSON </a:t>
            </a:r>
            <a:r>
              <a:rPr lang="zh-CN" altLang="en-US"/>
              <a:t>或结构化文本返回给</a:t>
            </a:r>
            <a:r>
              <a:rPr lang="en-US" altLang="zh-CN"/>
              <a:t> LLM</a:t>
            </a:r>
            <a:r>
              <a:rPr lang="zh-CN" altLang="en-US"/>
              <a:t>，防止撑爆上下文窗口（</a:t>
            </a:r>
            <a:r>
              <a:rPr lang="en-US" altLang="zh-CN"/>
              <a:t>Context Window</a:t>
            </a:r>
            <a:r>
              <a:rPr lang="zh-CN" altLang="en-US"/>
              <a:t>）。</a:t>
            </a:r>
            <a:endParaRPr lang="zh-CN" altLang="en-US"/>
          </a:p>
          <a:p>
            <a:endParaRPr lang="en-US" altLang="zh-CN"/>
          </a:p>
          <a:p>
            <a:r>
              <a:rPr lang="zh-CN" altLang="en-US"/>
              <a:t>失败的标准化返回（极其重要）：</a:t>
            </a:r>
            <a:r>
              <a:rPr lang="en-US" altLang="zh-CN"/>
              <a:t> </a:t>
            </a:r>
            <a:r>
              <a:rPr lang="zh-CN" altLang="en-US"/>
              <a:t>如果</a:t>
            </a:r>
            <a:r>
              <a:rPr lang="en-US" altLang="zh-CN"/>
              <a:t> API </a:t>
            </a:r>
            <a:r>
              <a:rPr lang="zh-CN" altLang="en-US"/>
              <a:t>报错了（比如报了一个</a:t>
            </a:r>
            <a:r>
              <a:rPr lang="en-US" altLang="zh-CN"/>
              <a:t> 500 </a:t>
            </a:r>
            <a:r>
              <a:rPr lang="zh-CN" altLang="en-US"/>
              <a:t>的底层</a:t>
            </a:r>
            <a:r>
              <a:rPr lang="en-US" altLang="zh-CN"/>
              <a:t> Java </a:t>
            </a:r>
            <a:r>
              <a:rPr lang="zh-CN" altLang="en-US"/>
              <a:t>堆栈错误），标准化接口绝对不能直接抛出系统异常导致</a:t>
            </a:r>
            <a:r>
              <a:rPr lang="en-US" altLang="zh-CN"/>
              <a:t> Agent </a:t>
            </a:r>
            <a:r>
              <a:rPr lang="zh-CN" altLang="en-US"/>
              <a:t>崩溃。</a:t>
            </a:r>
            <a:endParaRPr lang="zh-CN" altLang="en-US"/>
          </a:p>
          <a:p>
            <a:endParaRPr lang="en-US" altLang="zh-CN"/>
          </a:p>
          <a:p>
            <a:r>
              <a:rPr lang="zh-CN" altLang="en-US"/>
              <a:t>它应该捕获异常，并转化为大模型能看懂的自然语言错误提示。</a:t>
            </a:r>
            <a:endParaRPr lang="zh-CN" altLang="en-US"/>
          </a:p>
          <a:p>
            <a:endParaRPr lang="en-US" altLang="zh-CN"/>
          </a:p>
          <a:p>
            <a:r>
              <a:rPr lang="zh-CN" altLang="en-US"/>
              <a:t>例如，将底层的</a:t>
            </a:r>
            <a:r>
              <a:rPr lang="en-US" altLang="zh-CN"/>
              <a:t> KeyError: 'city' </a:t>
            </a:r>
            <a:r>
              <a:rPr lang="zh-CN" altLang="en-US"/>
              <a:t>转化为标准输出：</a:t>
            </a:r>
            <a:r>
              <a:rPr lang="en-US" altLang="zh-CN"/>
              <a:t>"</a:t>
            </a:r>
            <a:r>
              <a:rPr lang="zh-CN" altLang="en-US"/>
              <a:t>执行失败：缺少必填参数</a:t>
            </a:r>
            <a:r>
              <a:rPr lang="en-US" altLang="zh-CN"/>
              <a:t> 'city'</a:t>
            </a:r>
            <a:r>
              <a:rPr lang="zh-CN" altLang="en-US"/>
              <a:t>，请检查你的输入并重试。</a:t>
            </a:r>
            <a:r>
              <a:rPr lang="en-US" altLang="zh-CN"/>
              <a:t>" </a:t>
            </a:r>
            <a:r>
              <a:rPr lang="zh-CN" altLang="en-US"/>
              <a:t>这样，大模型就能基于这个标准化反馈进行自我反思（</a:t>
            </a:r>
            <a:r>
              <a:rPr lang="en-US" altLang="zh-CN"/>
              <a:t>Reflection</a:t>
            </a:r>
            <a:r>
              <a:rPr lang="zh-CN" altLang="en-US"/>
              <a:t>）并修正参数。</a:t>
            </a:r>
            <a:endParaRPr lang="zh-CN" altLang="en-US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0"/>
    </mc:Choice>
    <mc:Fallback>
      <p:transition/>
    </mc:Fallback>
  </mc:AlternateContent>
</p:sld>
</file>

<file path=ppt/slides/slide6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1" name="Freeform 1089"/>
          <p:cNvSpPr>
            <a:spLocks noEditPoints="1"/>
          </p:cNvSpPr>
          <p:nvPr/>
        </p:nvSpPr>
        <p:spPr bwMode="auto">
          <a:xfrm>
            <a:off x="1041400" y="2973070"/>
            <a:ext cx="546100" cy="495300"/>
          </a:xfrm>
          <a:custGeom>
            <a:avLst/>
            <a:gdLst>
              <a:gd name="T0" fmla="*/ 144 w 160"/>
              <a:gd name="T1" fmla="*/ 52 h 144"/>
              <a:gd name="T2" fmla="*/ 144 w 160"/>
              <a:gd name="T3" fmla="*/ 144 h 144"/>
              <a:gd name="T4" fmla="*/ 0 w 160"/>
              <a:gd name="T5" fmla="*/ 144 h 144"/>
              <a:gd name="T6" fmla="*/ 0 w 160"/>
              <a:gd name="T7" fmla="*/ 0 h 144"/>
              <a:gd name="T8" fmla="*/ 144 w 160"/>
              <a:gd name="T9" fmla="*/ 0 h 144"/>
              <a:gd name="T10" fmla="*/ 144 w 160"/>
              <a:gd name="T11" fmla="*/ 8 h 144"/>
              <a:gd name="T12" fmla="*/ 141 w 160"/>
              <a:gd name="T13" fmla="*/ 11 h 144"/>
              <a:gd name="T14" fmla="*/ 138 w 160"/>
              <a:gd name="T15" fmla="*/ 8 h 144"/>
              <a:gd name="T16" fmla="*/ 138 w 160"/>
              <a:gd name="T17" fmla="*/ 5 h 144"/>
              <a:gd name="T18" fmla="*/ 5 w 160"/>
              <a:gd name="T19" fmla="*/ 5 h 144"/>
              <a:gd name="T20" fmla="*/ 5 w 160"/>
              <a:gd name="T21" fmla="*/ 138 h 144"/>
              <a:gd name="T22" fmla="*/ 138 w 160"/>
              <a:gd name="T23" fmla="*/ 138 h 144"/>
              <a:gd name="T24" fmla="*/ 138 w 160"/>
              <a:gd name="T25" fmla="*/ 52 h 144"/>
              <a:gd name="T26" fmla="*/ 141 w 160"/>
              <a:gd name="T27" fmla="*/ 49 h 144"/>
              <a:gd name="T28" fmla="*/ 144 w 160"/>
              <a:gd name="T29" fmla="*/ 52 h 144"/>
              <a:gd name="T30" fmla="*/ 159 w 160"/>
              <a:gd name="T31" fmla="*/ 12 h 144"/>
              <a:gd name="T32" fmla="*/ 155 w 160"/>
              <a:gd name="T33" fmla="*/ 12 h 144"/>
              <a:gd name="T34" fmla="*/ 73 w 160"/>
              <a:gd name="T35" fmla="*/ 94 h 144"/>
              <a:gd name="T36" fmla="*/ 38 w 160"/>
              <a:gd name="T37" fmla="*/ 58 h 144"/>
              <a:gd name="T38" fmla="*/ 34 w 160"/>
              <a:gd name="T39" fmla="*/ 58 h 144"/>
              <a:gd name="T40" fmla="*/ 34 w 160"/>
              <a:gd name="T41" fmla="*/ 62 h 144"/>
              <a:gd name="T42" fmla="*/ 71 w 160"/>
              <a:gd name="T43" fmla="*/ 100 h 144"/>
              <a:gd name="T44" fmla="*/ 73 w 160"/>
              <a:gd name="T45" fmla="*/ 100 h 144"/>
              <a:gd name="T46" fmla="*/ 75 w 160"/>
              <a:gd name="T47" fmla="*/ 100 h 144"/>
              <a:gd name="T48" fmla="*/ 159 w 160"/>
              <a:gd name="T49" fmla="*/ 15 h 144"/>
              <a:gd name="T50" fmla="*/ 159 w 160"/>
              <a:gd name="T51" fmla="*/ 12 h 144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</a:cxnLst>
            <a:rect l="0" t="0" r="r" b="b"/>
            <a:pathLst>
              <a:path w="160" h="144">
                <a:moveTo>
                  <a:pt x="144" y="52"/>
                </a:moveTo>
                <a:cubicBezTo>
                  <a:pt x="144" y="144"/>
                  <a:pt x="144" y="144"/>
                  <a:pt x="144" y="144"/>
                </a:cubicBezTo>
                <a:cubicBezTo>
                  <a:pt x="0" y="144"/>
                  <a:pt x="0" y="144"/>
                  <a:pt x="0" y="144"/>
                </a:cubicBezTo>
                <a:cubicBezTo>
                  <a:pt x="0" y="0"/>
                  <a:pt x="0" y="0"/>
                  <a:pt x="0" y="0"/>
                </a:cubicBezTo>
                <a:cubicBezTo>
                  <a:pt x="144" y="0"/>
                  <a:pt x="144" y="0"/>
                  <a:pt x="144" y="0"/>
                </a:cubicBezTo>
                <a:cubicBezTo>
                  <a:pt x="144" y="8"/>
                  <a:pt x="144" y="8"/>
                  <a:pt x="144" y="8"/>
                </a:cubicBezTo>
                <a:cubicBezTo>
                  <a:pt x="144" y="10"/>
                  <a:pt x="143" y="11"/>
                  <a:pt x="141" y="11"/>
                </a:cubicBezTo>
                <a:cubicBezTo>
                  <a:pt x="140" y="11"/>
                  <a:pt x="138" y="10"/>
                  <a:pt x="138" y="8"/>
                </a:cubicBezTo>
                <a:cubicBezTo>
                  <a:pt x="138" y="5"/>
                  <a:pt x="138" y="5"/>
                  <a:pt x="138" y="5"/>
                </a:cubicBezTo>
                <a:cubicBezTo>
                  <a:pt x="5" y="5"/>
                  <a:pt x="5" y="5"/>
                  <a:pt x="5" y="5"/>
                </a:cubicBezTo>
                <a:cubicBezTo>
                  <a:pt x="5" y="138"/>
                  <a:pt x="5" y="138"/>
                  <a:pt x="5" y="138"/>
                </a:cubicBezTo>
                <a:cubicBezTo>
                  <a:pt x="138" y="138"/>
                  <a:pt x="138" y="138"/>
                  <a:pt x="138" y="138"/>
                </a:cubicBezTo>
                <a:cubicBezTo>
                  <a:pt x="138" y="52"/>
                  <a:pt x="138" y="52"/>
                  <a:pt x="138" y="52"/>
                </a:cubicBezTo>
                <a:cubicBezTo>
                  <a:pt x="138" y="50"/>
                  <a:pt x="140" y="49"/>
                  <a:pt x="141" y="49"/>
                </a:cubicBezTo>
                <a:cubicBezTo>
                  <a:pt x="143" y="49"/>
                  <a:pt x="144" y="50"/>
                  <a:pt x="144" y="52"/>
                </a:cubicBezTo>
                <a:close/>
                <a:moveTo>
                  <a:pt x="159" y="12"/>
                </a:moveTo>
                <a:cubicBezTo>
                  <a:pt x="158" y="11"/>
                  <a:pt x="156" y="11"/>
                  <a:pt x="155" y="12"/>
                </a:cubicBezTo>
                <a:cubicBezTo>
                  <a:pt x="73" y="94"/>
                  <a:pt x="73" y="94"/>
                  <a:pt x="73" y="94"/>
                </a:cubicBezTo>
                <a:cubicBezTo>
                  <a:pt x="38" y="58"/>
                  <a:pt x="38" y="58"/>
                  <a:pt x="38" y="58"/>
                </a:cubicBezTo>
                <a:cubicBezTo>
                  <a:pt x="37" y="57"/>
                  <a:pt x="35" y="57"/>
                  <a:pt x="34" y="58"/>
                </a:cubicBezTo>
                <a:cubicBezTo>
                  <a:pt x="33" y="59"/>
                  <a:pt x="33" y="61"/>
                  <a:pt x="34" y="62"/>
                </a:cubicBezTo>
                <a:cubicBezTo>
                  <a:pt x="71" y="100"/>
                  <a:pt x="71" y="100"/>
                  <a:pt x="71" y="100"/>
                </a:cubicBezTo>
                <a:cubicBezTo>
                  <a:pt x="72" y="100"/>
                  <a:pt x="73" y="100"/>
                  <a:pt x="73" y="100"/>
                </a:cubicBezTo>
                <a:cubicBezTo>
                  <a:pt x="74" y="100"/>
                  <a:pt x="75" y="100"/>
                  <a:pt x="75" y="100"/>
                </a:cubicBezTo>
                <a:cubicBezTo>
                  <a:pt x="159" y="15"/>
                  <a:pt x="159" y="15"/>
                  <a:pt x="159" y="15"/>
                </a:cubicBezTo>
                <a:cubicBezTo>
                  <a:pt x="160" y="14"/>
                  <a:pt x="160" y="13"/>
                  <a:pt x="159" y="12"/>
                </a:cubicBezTo>
                <a:close/>
              </a:path>
            </a:pathLst>
          </a:custGeom>
          <a:solidFill>
            <a:srgbClr val="000000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</a14:hiddenLine>
            </a:ext>
          </a:extLst>
        </p:spPr>
        <p:txBody>
          <a:bodyPr vert="horz" wrap="square" lIns="91440" tIns="45720" rIns="91440" bIns="45720" numCol="1" anchor="t" anchorCtr="0" compatLnSpc="1"/>
          <a:p>
            <a:endParaRPr lang="en-US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2" name="TextBox 11"/>
          <p:cNvSpPr txBox="1"/>
          <p:nvPr/>
        </p:nvSpPr>
        <p:spPr>
          <a:xfrm>
            <a:off x="1941830" y="2825115"/>
            <a:ext cx="3786505" cy="1170305"/>
          </a:xfrm>
          <a:prstGeom prst="rect">
            <a:avLst/>
          </a:prstGeom>
          <a:noFill/>
        </p:spPr>
        <p:txBody>
          <a:bodyPr wrap="square" lIns="0" rIns="0" rtlCol="0">
            <a:spAutoFit/>
          </a:bodyPr>
          <a:p>
            <a:pPr>
              <a:lnSpc>
                <a:spcPct val="130000"/>
              </a:lnSpc>
            </a:pPr>
            <a:r>
              <a:rPr lang="en-US" b="1" dirty="0">
                <a:latin typeface="微软雅黑" panose="020B0503020204020204" charset="-122"/>
                <a:ea typeface="微软雅黑" panose="020B0503020204020204" charset="-122"/>
                <a:cs typeface="Open Sans" panose="020B0606030504020204" charset="0"/>
              </a:rPr>
              <a:t>A peep at some distant orb has power to raise and purify our </a:t>
            </a:r>
            <a:r>
              <a:rPr lang="en-US" b="1" dirty="0" smtClean="0">
                <a:latin typeface="微软雅黑" panose="020B0503020204020204" charset="-122"/>
                <a:ea typeface="微软雅黑" panose="020B0503020204020204" charset="-122"/>
                <a:cs typeface="Open Sans" panose="020B0606030504020204" charset="0"/>
              </a:rPr>
              <a:t>thoughts.</a:t>
            </a:r>
            <a:endParaRPr lang="en-US" b="1" dirty="0">
              <a:latin typeface="微软雅黑" panose="020B0503020204020204" charset="-122"/>
              <a:ea typeface="微软雅黑" panose="020B0503020204020204" charset="-122"/>
              <a:cs typeface="Open Sans" panose="020B0606030504020204" charset="0"/>
            </a:endParaRPr>
          </a:p>
        </p:txBody>
      </p:sp>
      <p:sp>
        <p:nvSpPr>
          <p:cNvPr id="13" name="Freeform 1089"/>
          <p:cNvSpPr>
            <a:spLocks noEditPoints="1"/>
          </p:cNvSpPr>
          <p:nvPr/>
        </p:nvSpPr>
        <p:spPr bwMode="auto">
          <a:xfrm>
            <a:off x="1041400" y="4728845"/>
            <a:ext cx="546100" cy="495300"/>
          </a:xfrm>
          <a:custGeom>
            <a:avLst/>
            <a:gdLst>
              <a:gd name="T0" fmla="*/ 144 w 160"/>
              <a:gd name="T1" fmla="*/ 52 h 144"/>
              <a:gd name="T2" fmla="*/ 144 w 160"/>
              <a:gd name="T3" fmla="*/ 144 h 144"/>
              <a:gd name="T4" fmla="*/ 0 w 160"/>
              <a:gd name="T5" fmla="*/ 144 h 144"/>
              <a:gd name="T6" fmla="*/ 0 w 160"/>
              <a:gd name="T7" fmla="*/ 0 h 144"/>
              <a:gd name="T8" fmla="*/ 144 w 160"/>
              <a:gd name="T9" fmla="*/ 0 h 144"/>
              <a:gd name="T10" fmla="*/ 144 w 160"/>
              <a:gd name="T11" fmla="*/ 8 h 144"/>
              <a:gd name="T12" fmla="*/ 141 w 160"/>
              <a:gd name="T13" fmla="*/ 11 h 144"/>
              <a:gd name="T14" fmla="*/ 138 w 160"/>
              <a:gd name="T15" fmla="*/ 8 h 144"/>
              <a:gd name="T16" fmla="*/ 138 w 160"/>
              <a:gd name="T17" fmla="*/ 5 h 144"/>
              <a:gd name="T18" fmla="*/ 5 w 160"/>
              <a:gd name="T19" fmla="*/ 5 h 144"/>
              <a:gd name="T20" fmla="*/ 5 w 160"/>
              <a:gd name="T21" fmla="*/ 138 h 144"/>
              <a:gd name="T22" fmla="*/ 138 w 160"/>
              <a:gd name="T23" fmla="*/ 138 h 144"/>
              <a:gd name="T24" fmla="*/ 138 w 160"/>
              <a:gd name="T25" fmla="*/ 52 h 144"/>
              <a:gd name="T26" fmla="*/ 141 w 160"/>
              <a:gd name="T27" fmla="*/ 49 h 144"/>
              <a:gd name="T28" fmla="*/ 144 w 160"/>
              <a:gd name="T29" fmla="*/ 52 h 144"/>
              <a:gd name="T30" fmla="*/ 159 w 160"/>
              <a:gd name="T31" fmla="*/ 12 h 144"/>
              <a:gd name="T32" fmla="*/ 155 w 160"/>
              <a:gd name="T33" fmla="*/ 12 h 144"/>
              <a:gd name="T34" fmla="*/ 73 w 160"/>
              <a:gd name="T35" fmla="*/ 94 h 144"/>
              <a:gd name="T36" fmla="*/ 38 w 160"/>
              <a:gd name="T37" fmla="*/ 58 h 144"/>
              <a:gd name="T38" fmla="*/ 34 w 160"/>
              <a:gd name="T39" fmla="*/ 58 h 144"/>
              <a:gd name="T40" fmla="*/ 34 w 160"/>
              <a:gd name="T41" fmla="*/ 62 h 144"/>
              <a:gd name="T42" fmla="*/ 71 w 160"/>
              <a:gd name="T43" fmla="*/ 100 h 144"/>
              <a:gd name="T44" fmla="*/ 73 w 160"/>
              <a:gd name="T45" fmla="*/ 100 h 144"/>
              <a:gd name="T46" fmla="*/ 75 w 160"/>
              <a:gd name="T47" fmla="*/ 100 h 144"/>
              <a:gd name="T48" fmla="*/ 159 w 160"/>
              <a:gd name="T49" fmla="*/ 15 h 144"/>
              <a:gd name="T50" fmla="*/ 159 w 160"/>
              <a:gd name="T51" fmla="*/ 12 h 144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</a:cxnLst>
            <a:rect l="0" t="0" r="r" b="b"/>
            <a:pathLst>
              <a:path w="160" h="144">
                <a:moveTo>
                  <a:pt x="144" y="52"/>
                </a:moveTo>
                <a:cubicBezTo>
                  <a:pt x="144" y="144"/>
                  <a:pt x="144" y="144"/>
                  <a:pt x="144" y="144"/>
                </a:cubicBezTo>
                <a:cubicBezTo>
                  <a:pt x="0" y="144"/>
                  <a:pt x="0" y="144"/>
                  <a:pt x="0" y="144"/>
                </a:cubicBezTo>
                <a:cubicBezTo>
                  <a:pt x="0" y="0"/>
                  <a:pt x="0" y="0"/>
                  <a:pt x="0" y="0"/>
                </a:cubicBezTo>
                <a:cubicBezTo>
                  <a:pt x="144" y="0"/>
                  <a:pt x="144" y="0"/>
                  <a:pt x="144" y="0"/>
                </a:cubicBezTo>
                <a:cubicBezTo>
                  <a:pt x="144" y="8"/>
                  <a:pt x="144" y="8"/>
                  <a:pt x="144" y="8"/>
                </a:cubicBezTo>
                <a:cubicBezTo>
                  <a:pt x="144" y="10"/>
                  <a:pt x="143" y="11"/>
                  <a:pt x="141" y="11"/>
                </a:cubicBezTo>
                <a:cubicBezTo>
                  <a:pt x="140" y="11"/>
                  <a:pt x="138" y="10"/>
                  <a:pt x="138" y="8"/>
                </a:cubicBezTo>
                <a:cubicBezTo>
                  <a:pt x="138" y="5"/>
                  <a:pt x="138" y="5"/>
                  <a:pt x="138" y="5"/>
                </a:cubicBezTo>
                <a:cubicBezTo>
                  <a:pt x="5" y="5"/>
                  <a:pt x="5" y="5"/>
                  <a:pt x="5" y="5"/>
                </a:cubicBezTo>
                <a:cubicBezTo>
                  <a:pt x="5" y="138"/>
                  <a:pt x="5" y="138"/>
                  <a:pt x="5" y="138"/>
                </a:cubicBezTo>
                <a:cubicBezTo>
                  <a:pt x="138" y="138"/>
                  <a:pt x="138" y="138"/>
                  <a:pt x="138" y="138"/>
                </a:cubicBezTo>
                <a:cubicBezTo>
                  <a:pt x="138" y="52"/>
                  <a:pt x="138" y="52"/>
                  <a:pt x="138" y="52"/>
                </a:cubicBezTo>
                <a:cubicBezTo>
                  <a:pt x="138" y="50"/>
                  <a:pt x="140" y="49"/>
                  <a:pt x="141" y="49"/>
                </a:cubicBezTo>
                <a:cubicBezTo>
                  <a:pt x="143" y="49"/>
                  <a:pt x="144" y="50"/>
                  <a:pt x="144" y="52"/>
                </a:cubicBezTo>
                <a:close/>
                <a:moveTo>
                  <a:pt x="159" y="12"/>
                </a:moveTo>
                <a:cubicBezTo>
                  <a:pt x="158" y="11"/>
                  <a:pt x="156" y="11"/>
                  <a:pt x="155" y="12"/>
                </a:cubicBezTo>
                <a:cubicBezTo>
                  <a:pt x="73" y="94"/>
                  <a:pt x="73" y="94"/>
                  <a:pt x="73" y="94"/>
                </a:cubicBezTo>
                <a:cubicBezTo>
                  <a:pt x="38" y="58"/>
                  <a:pt x="38" y="58"/>
                  <a:pt x="38" y="58"/>
                </a:cubicBezTo>
                <a:cubicBezTo>
                  <a:pt x="37" y="57"/>
                  <a:pt x="35" y="57"/>
                  <a:pt x="34" y="58"/>
                </a:cubicBezTo>
                <a:cubicBezTo>
                  <a:pt x="33" y="59"/>
                  <a:pt x="33" y="61"/>
                  <a:pt x="34" y="62"/>
                </a:cubicBezTo>
                <a:cubicBezTo>
                  <a:pt x="71" y="100"/>
                  <a:pt x="71" y="100"/>
                  <a:pt x="71" y="100"/>
                </a:cubicBezTo>
                <a:cubicBezTo>
                  <a:pt x="72" y="100"/>
                  <a:pt x="73" y="100"/>
                  <a:pt x="73" y="100"/>
                </a:cubicBezTo>
                <a:cubicBezTo>
                  <a:pt x="74" y="100"/>
                  <a:pt x="75" y="100"/>
                  <a:pt x="75" y="100"/>
                </a:cubicBezTo>
                <a:cubicBezTo>
                  <a:pt x="159" y="15"/>
                  <a:pt x="159" y="15"/>
                  <a:pt x="159" y="15"/>
                </a:cubicBezTo>
                <a:cubicBezTo>
                  <a:pt x="160" y="14"/>
                  <a:pt x="160" y="13"/>
                  <a:pt x="159" y="12"/>
                </a:cubicBezTo>
                <a:close/>
              </a:path>
            </a:pathLst>
          </a:custGeom>
          <a:solidFill>
            <a:srgbClr val="000000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</a14:hiddenLine>
            </a:ext>
          </a:extLst>
        </p:spPr>
        <p:txBody>
          <a:bodyPr vert="horz" wrap="square" lIns="91440" tIns="45720" rIns="91440" bIns="45720" numCol="1" anchor="t" anchorCtr="0" compatLnSpc="1"/>
          <a:p>
            <a:endParaRPr lang="en-US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4" name="TextBox 13"/>
          <p:cNvSpPr txBox="1"/>
          <p:nvPr/>
        </p:nvSpPr>
        <p:spPr>
          <a:xfrm>
            <a:off x="1941830" y="4580890"/>
            <a:ext cx="3786505" cy="810260"/>
          </a:xfrm>
          <a:prstGeom prst="rect">
            <a:avLst/>
          </a:prstGeom>
          <a:noFill/>
        </p:spPr>
        <p:txBody>
          <a:bodyPr wrap="square" lIns="0" rIns="0" rtlCol="0">
            <a:spAutoFit/>
          </a:bodyPr>
          <a:p>
            <a:pPr>
              <a:lnSpc>
                <a:spcPct val="130000"/>
              </a:lnSpc>
            </a:pPr>
            <a:r>
              <a:rPr lang="en-US" b="1" dirty="0">
                <a:latin typeface="微软雅黑" panose="020B0503020204020204" charset="-122"/>
                <a:ea typeface="微软雅黑" panose="020B0503020204020204" charset="-122"/>
                <a:cs typeface="Open Sans" panose="020B0606030504020204" charset="0"/>
              </a:rPr>
              <a:t>All their equipment and instruments are alive.</a:t>
            </a:r>
            <a:endParaRPr lang="en-US" b="1" dirty="0">
              <a:latin typeface="微软雅黑" panose="020B0503020204020204" charset="-122"/>
              <a:ea typeface="微软雅黑" panose="020B0503020204020204" charset="-122"/>
              <a:cs typeface="Open Sans" panose="020B0606030504020204" charset="0"/>
            </a:endParaRPr>
          </a:p>
        </p:txBody>
      </p:sp>
      <p:sp>
        <p:nvSpPr>
          <p:cNvPr id="15" name="Freeform 1089"/>
          <p:cNvSpPr>
            <a:spLocks noEditPoints="1"/>
          </p:cNvSpPr>
          <p:nvPr/>
        </p:nvSpPr>
        <p:spPr bwMode="auto">
          <a:xfrm>
            <a:off x="6527800" y="2968625"/>
            <a:ext cx="546100" cy="495300"/>
          </a:xfrm>
          <a:custGeom>
            <a:avLst/>
            <a:gdLst>
              <a:gd name="T0" fmla="*/ 144 w 160"/>
              <a:gd name="T1" fmla="*/ 52 h 144"/>
              <a:gd name="T2" fmla="*/ 144 w 160"/>
              <a:gd name="T3" fmla="*/ 144 h 144"/>
              <a:gd name="T4" fmla="*/ 0 w 160"/>
              <a:gd name="T5" fmla="*/ 144 h 144"/>
              <a:gd name="T6" fmla="*/ 0 w 160"/>
              <a:gd name="T7" fmla="*/ 0 h 144"/>
              <a:gd name="T8" fmla="*/ 144 w 160"/>
              <a:gd name="T9" fmla="*/ 0 h 144"/>
              <a:gd name="T10" fmla="*/ 144 w 160"/>
              <a:gd name="T11" fmla="*/ 8 h 144"/>
              <a:gd name="T12" fmla="*/ 141 w 160"/>
              <a:gd name="T13" fmla="*/ 11 h 144"/>
              <a:gd name="T14" fmla="*/ 138 w 160"/>
              <a:gd name="T15" fmla="*/ 8 h 144"/>
              <a:gd name="T16" fmla="*/ 138 w 160"/>
              <a:gd name="T17" fmla="*/ 5 h 144"/>
              <a:gd name="T18" fmla="*/ 5 w 160"/>
              <a:gd name="T19" fmla="*/ 5 h 144"/>
              <a:gd name="T20" fmla="*/ 5 w 160"/>
              <a:gd name="T21" fmla="*/ 138 h 144"/>
              <a:gd name="T22" fmla="*/ 138 w 160"/>
              <a:gd name="T23" fmla="*/ 138 h 144"/>
              <a:gd name="T24" fmla="*/ 138 w 160"/>
              <a:gd name="T25" fmla="*/ 52 h 144"/>
              <a:gd name="T26" fmla="*/ 141 w 160"/>
              <a:gd name="T27" fmla="*/ 49 h 144"/>
              <a:gd name="T28" fmla="*/ 144 w 160"/>
              <a:gd name="T29" fmla="*/ 52 h 144"/>
              <a:gd name="T30" fmla="*/ 159 w 160"/>
              <a:gd name="T31" fmla="*/ 12 h 144"/>
              <a:gd name="T32" fmla="*/ 155 w 160"/>
              <a:gd name="T33" fmla="*/ 12 h 144"/>
              <a:gd name="T34" fmla="*/ 73 w 160"/>
              <a:gd name="T35" fmla="*/ 94 h 144"/>
              <a:gd name="T36" fmla="*/ 38 w 160"/>
              <a:gd name="T37" fmla="*/ 58 h 144"/>
              <a:gd name="T38" fmla="*/ 34 w 160"/>
              <a:gd name="T39" fmla="*/ 58 h 144"/>
              <a:gd name="T40" fmla="*/ 34 w 160"/>
              <a:gd name="T41" fmla="*/ 62 h 144"/>
              <a:gd name="T42" fmla="*/ 71 w 160"/>
              <a:gd name="T43" fmla="*/ 100 h 144"/>
              <a:gd name="T44" fmla="*/ 73 w 160"/>
              <a:gd name="T45" fmla="*/ 100 h 144"/>
              <a:gd name="T46" fmla="*/ 75 w 160"/>
              <a:gd name="T47" fmla="*/ 100 h 144"/>
              <a:gd name="T48" fmla="*/ 159 w 160"/>
              <a:gd name="T49" fmla="*/ 15 h 144"/>
              <a:gd name="T50" fmla="*/ 159 w 160"/>
              <a:gd name="T51" fmla="*/ 12 h 144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</a:cxnLst>
            <a:rect l="0" t="0" r="r" b="b"/>
            <a:pathLst>
              <a:path w="160" h="144">
                <a:moveTo>
                  <a:pt x="144" y="52"/>
                </a:moveTo>
                <a:cubicBezTo>
                  <a:pt x="144" y="144"/>
                  <a:pt x="144" y="144"/>
                  <a:pt x="144" y="144"/>
                </a:cubicBezTo>
                <a:cubicBezTo>
                  <a:pt x="0" y="144"/>
                  <a:pt x="0" y="144"/>
                  <a:pt x="0" y="144"/>
                </a:cubicBezTo>
                <a:cubicBezTo>
                  <a:pt x="0" y="0"/>
                  <a:pt x="0" y="0"/>
                  <a:pt x="0" y="0"/>
                </a:cubicBezTo>
                <a:cubicBezTo>
                  <a:pt x="144" y="0"/>
                  <a:pt x="144" y="0"/>
                  <a:pt x="144" y="0"/>
                </a:cubicBezTo>
                <a:cubicBezTo>
                  <a:pt x="144" y="8"/>
                  <a:pt x="144" y="8"/>
                  <a:pt x="144" y="8"/>
                </a:cubicBezTo>
                <a:cubicBezTo>
                  <a:pt x="144" y="10"/>
                  <a:pt x="143" y="11"/>
                  <a:pt x="141" y="11"/>
                </a:cubicBezTo>
                <a:cubicBezTo>
                  <a:pt x="140" y="11"/>
                  <a:pt x="138" y="10"/>
                  <a:pt x="138" y="8"/>
                </a:cubicBezTo>
                <a:cubicBezTo>
                  <a:pt x="138" y="5"/>
                  <a:pt x="138" y="5"/>
                  <a:pt x="138" y="5"/>
                </a:cubicBezTo>
                <a:cubicBezTo>
                  <a:pt x="5" y="5"/>
                  <a:pt x="5" y="5"/>
                  <a:pt x="5" y="5"/>
                </a:cubicBezTo>
                <a:cubicBezTo>
                  <a:pt x="5" y="138"/>
                  <a:pt x="5" y="138"/>
                  <a:pt x="5" y="138"/>
                </a:cubicBezTo>
                <a:cubicBezTo>
                  <a:pt x="138" y="138"/>
                  <a:pt x="138" y="138"/>
                  <a:pt x="138" y="138"/>
                </a:cubicBezTo>
                <a:cubicBezTo>
                  <a:pt x="138" y="52"/>
                  <a:pt x="138" y="52"/>
                  <a:pt x="138" y="52"/>
                </a:cubicBezTo>
                <a:cubicBezTo>
                  <a:pt x="138" y="50"/>
                  <a:pt x="140" y="49"/>
                  <a:pt x="141" y="49"/>
                </a:cubicBezTo>
                <a:cubicBezTo>
                  <a:pt x="143" y="49"/>
                  <a:pt x="144" y="50"/>
                  <a:pt x="144" y="52"/>
                </a:cubicBezTo>
                <a:close/>
                <a:moveTo>
                  <a:pt x="159" y="12"/>
                </a:moveTo>
                <a:cubicBezTo>
                  <a:pt x="158" y="11"/>
                  <a:pt x="156" y="11"/>
                  <a:pt x="155" y="12"/>
                </a:cubicBezTo>
                <a:cubicBezTo>
                  <a:pt x="73" y="94"/>
                  <a:pt x="73" y="94"/>
                  <a:pt x="73" y="94"/>
                </a:cubicBezTo>
                <a:cubicBezTo>
                  <a:pt x="38" y="58"/>
                  <a:pt x="38" y="58"/>
                  <a:pt x="38" y="58"/>
                </a:cubicBezTo>
                <a:cubicBezTo>
                  <a:pt x="37" y="57"/>
                  <a:pt x="35" y="57"/>
                  <a:pt x="34" y="58"/>
                </a:cubicBezTo>
                <a:cubicBezTo>
                  <a:pt x="33" y="59"/>
                  <a:pt x="33" y="61"/>
                  <a:pt x="34" y="62"/>
                </a:cubicBezTo>
                <a:cubicBezTo>
                  <a:pt x="71" y="100"/>
                  <a:pt x="71" y="100"/>
                  <a:pt x="71" y="100"/>
                </a:cubicBezTo>
                <a:cubicBezTo>
                  <a:pt x="72" y="100"/>
                  <a:pt x="73" y="100"/>
                  <a:pt x="73" y="100"/>
                </a:cubicBezTo>
                <a:cubicBezTo>
                  <a:pt x="74" y="100"/>
                  <a:pt x="75" y="100"/>
                  <a:pt x="75" y="100"/>
                </a:cubicBezTo>
                <a:cubicBezTo>
                  <a:pt x="159" y="15"/>
                  <a:pt x="159" y="15"/>
                  <a:pt x="159" y="15"/>
                </a:cubicBezTo>
                <a:cubicBezTo>
                  <a:pt x="160" y="14"/>
                  <a:pt x="160" y="13"/>
                  <a:pt x="159" y="12"/>
                </a:cubicBezTo>
                <a:close/>
              </a:path>
            </a:pathLst>
          </a:custGeom>
          <a:solidFill>
            <a:srgbClr val="000000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</a14:hiddenLine>
            </a:ext>
          </a:extLst>
        </p:spPr>
        <p:txBody>
          <a:bodyPr vert="horz" wrap="square" lIns="91440" tIns="45720" rIns="91440" bIns="45720" numCol="1" anchor="t" anchorCtr="0" compatLnSpc="1"/>
          <a:p>
            <a:endParaRPr lang="en-US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6" name="TextBox 15"/>
          <p:cNvSpPr txBox="1"/>
          <p:nvPr/>
        </p:nvSpPr>
        <p:spPr>
          <a:xfrm>
            <a:off x="7428230" y="2820670"/>
            <a:ext cx="3786505" cy="810260"/>
          </a:xfrm>
          <a:prstGeom prst="rect">
            <a:avLst/>
          </a:prstGeom>
          <a:noFill/>
        </p:spPr>
        <p:txBody>
          <a:bodyPr wrap="square" lIns="0" rIns="0" rtlCol="0">
            <a:spAutoFit/>
          </a:bodyPr>
          <a:p>
            <a:pPr>
              <a:lnSpc>
                <a:spcPct val="130000"/>
              </a:lnSpc>
            </a:pPr>
            <a:r>
              <a:rPr lang="en-US" b="1" dirty="0">
                <a:latin typeface="微软雅黑" panose="020B0503020204020204" charset="-122"/>
                <a:ea typeface="微软雅黑" panose="020B0503020204020204" charset="-122"/>
                <a:cs typeface="Open Sans" panose="020B0606030504020204" charset="0"/>
              </a:rPr>
              <a:t>Almost before we knew it, we had left the ground.</a:t>
            </a:r>
            <a:endParaRPr lang="en-US" b="1" dirty="0">
              <a:latin typeface="微软雅黑" panose="020B0503020204020204" charset="-122"/>
              <a:ea typeface="微软雅黑" panose="020B0503020204020204" charset="-122"/>
              <a:cs typeface="Open Sans" panose="020B0606030504020204" charset="0"/>
            </a:endParaRPr>
          </a:p>
        </p:txBody>
      </p:sp>
      <p:sp>
        <p:nvSpPr>
          <p:cNvPr id="17" name="Freeform 1089"/>
          <p:cNvSpPr>
            <a:spLocks noEditPoints="1"/>
          </p:cNvSpPr>
          <p:nvPr/>
        </p:nvSpPr>
        <p:spPr bwMode="auto">
          <a:xfrm>
            <a:off x="6527800" y="4724400"/>
            <a:ext cx="546100" cy="495300"/>
          </a:xfrm>
          <a:custGeom>
            <a:avLst/>
            <a:gdLst>
              <a:gd name="T0" fmla="*/ 144 w 160"/>
              <a:gd name="T1" fmla="*/ 52 h 144"/>
              <a:gd name="T2" fmla="*/ 144 w 160"/>
              <a:gd name="T3" fmla="*/ 144 h 144"/>
              <a:gd name="T4" fmla="*/ 0 w 160"/>
              <a:gd name="T5" fmla="*/ 144 h 144"/>
              <a:gd name="T6" fmla="*/ 0 w 160"/>
              <a:gd name="T7" fmla="*/ 0 h 144"/>
              <a:gd name="T8" fmla="*/ 144 w 160"/>
              <a:gd name="T9" fmla="*/ 0 h 144"/>
              <a:gd name="T10" fmla="*/ 144 w 160"/>
              <a:gd name="T11" fmla="*/ 8 h 144"/>
              <a:gd name="T12" fmla="*/ 141 w 160"/>
              <a:gd name="T13" fmla="*/ 11 h 144"/>
              <a:gd name="T14" fmla="*/ 138 w 160"/>
              <a:gd name="T15" fmla="*/ 8 h 144"/>
              <a:gd name="T16" fmla="*/ 138 w 160"/>
              <a:gd name="T17" fmla="*/ 5 h 144"/>
              <a:gd name="T18" fmla="*/ 5 w 160"/>
              <a:gd name="T19" fmla="*/ 5 h 144"/>
              <a:gd name="T20" fmla="*/ 5 w 160"/>
              <a:gd name="T21" fmla="*/ 138 h 144"/>
              <a:gd name="T22" fmla="*/ 138 w 160"/>
              <a:gd name="T23" fmla="*/ 138 h 144"/>
              <a:gd name="T24" fmla="*/ 138 w 160"/>
              <a:gd name="T25" fmla="*/ 52 h 144"/>
              <a:gd name="T26" fmla="*/ 141 w 160"/>
              <a:gd name="T27" fmla="*/ 49 h 144"/>
              <a:gd name="T28" fmla="*/ 144 w 160"/>
              <a:gd name="T29" fmla="*/ 52 h 144"/>
              <a:gd name="T30" fmla="*/ 159 w 160"/>
              <a:gd name="T31" fmla="*/ 12 h 144"/>
              <a:gd name="T32" fmla="*/ 155 w 160"/>
              <a:gd name="T33" fmla="*/ 12 h 144"/>
              <a:gd name="T34" fmla="*/ 73 w 160"/>
              <a:gd name="T35" fmla="*/ 94 h 144"/>
              <a:gd name="T36" fmla="*/ 38 w 160"/>
              <a:gd name="T37" fmla="*/ 58 h 144"/>
              <a:gd name="T38" fmla="*/ 34 w 160"/>
              <a:gd name="T39" fmla="*/ 58 h 144"/>
              <a:gd name="T40" fmla="*/ 34 w 160"/>
              <a:gd name="T41" fmla="*/ 62 h 144"/>
              <a:gd name="T42" fmla="*/ 71 w 160"/>
              <a:gd name="T43" fmla="*/ 100 h 144"/>
              <a:gd name="T44" fmla="*/ 73 w 160"/>
              <a:gd name="T45" fmla="*/ 100 h 144"/>
              <a:gd name="T46" fmla="*/ 75 w 160"/>
              <a:gd name="T47" fmla="*/ 100 h 144"/>
              <a:gd name="T48" fmla="*/ 159 w 160"/>
              <a:gd name="T49" fmla="*/ 15 h 144"/>
              <a:gd name="T50" fmla="*/ 159 w 160"/>
              <a:gd name="T51" fmla="*/ 12 h 144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</a:cxnLst>
            <a:rect l="0" t="0" r="r" b="b"/>
            <a:pathLst>
              <a:path w="160" h="144">
                <a:moveTo>
                  <a:pt x="144" y="52"/>
                </a:moveTo>
                <a:cubicBezTo>
                  <a:pt x="144" y="144"/>
                  <a:pt x="144" y="144"/>
                  <a:pt x="144" y="144"/>
                </a:cubicBezTo>
                <a:cubicBezTo>
                  <a:pt x="0" y="144"/>
                  <a:pt x="0" y="144"/>
                  <a:pt x="0" y="144"/>
                </a:cubicBezTo>
                <a:cubicBezTo>
                  <a:pt x="0" y="0"/>
                  <a:pt x="0" y="0"/>
                  <a:pt x="0" y="0"/>
                </a:cubicBezTo>
                <a:cubicBezTo>
                  <a:pt x="144" y="0"/>
                  <a:pt x="144" y="0"/>
                  <a:pt x="144" y="0"/>
                </a:cubicBezTo>
                <a:cubicBezTo>
                  <a:pt x="144" y="8"/>
                  <a:pt x="144" y="8"/>
                  <a:pt x="144" y="8"/>
                </a:cubicBezTo>
                <a:cubicBezTo>
                  <a:pt x="144" y="10"/>
                  <a:pt x="143" y="11"/>
                  <a:pt x="141" y="11"/>
                </a:cubicBezTo>
                <a:cubicBezTo>
                  <a:pt x="140" y="11"/>
                  <a:pt x="138" y="10"/>
                  <a:pt x="138" y="8"/>
                </a:cubicBezTo>
                <a:cubicBezTo>
                  <a:pt x="138" y="5"/>
                  <a:pt x="138" y="5"/>
                  <a:pt x="138" y="5"/>
                </a:cubicBezTo>
                <a:cubicBezTo>
                  <a:pt x="5" y="5"/>
                  <a:pt x="5" y="5"/>
                  <a:pt x="5" y="5"/>
                </a:cubicBezTo>
                <a:cubicBezTo>
                  <a:pt x="5" y="138"/>
                  <a:pt x="5" y="138"/>
                  <a:pt x="5" y="138"/>
                </a:cubicBezTo>
                <a:cubicBezTo>
                  <a:pt x="138" y="138"/>
                  <a:pt x="138" y="138"/>
                  <a:pt x="138" y="138"/>
                </a:cubicBezTo>
                <a:cubicBezTo>
                  <a:pt x="138" y="52"/>
                  <a:pt x="138" y="52"/>
                  <a:pt x="138" y="52"/>
                </a:cubicBezTo>
                <a:cubicBezTo>
                  <a:pt x="138" y="50"/>
                  <a:pt x="140" y="49"/>
                  <a:pt x="141" y="49"/>
                </a:cubicBezTo>
                <a:cubicBezTo>
                  <a:pt x="143" y="49"/>
                  <a:pt x="144" y="50"/>
                  <a:pt x="144" y="52"/>
                </a:cubicBezTo>
                <a:close/>
                <a:moveTo>
                  <a:pt x="159" y="12"/>
                </a:moveTo>
                <a:cubicBezTo>
                  <a:pt x="158" y="11"/>
                  <a:pt x="156" y="11"/>
                  <a:pt x="155" y="12"/>
                </a:cubicBezTo>
                <a:cubicBezTo>
                  <a:pt x="73" y="94"/>
                  <a:pt x="73" y="94"/>
                  <a:pt x="73" y="94"/>
                </a:cubicBezTo>
                <a:cubicBezTo>
                  <a:pt x="38" y="58"/>
                  <a:pt x="38" y="58"/>
                  <a:pt x="38" y="58"/>
                </a:cubicBezTo>
                <a:cubicBezTo>
                  <a:pt x="37" y="57"/>
                  <a:pt x="35" y="57"/>
                  <a:pt x="34" y="58"/>
                </a:cubicBezTo>
                <a:cubicBezTo>
                  <a:pt x="33" y="59"/>
                  <a:pt x="33" y="61"/>
                  <a:pt x="34" y="62"/>
                </a:cubicBezTo>
                <a:cubicBezTo>
                  <a:pt x="71" y="100"/>
                  <a:pt x="71" y="100"/>
                  <a:pt x="71" y="100"/>
                </a:cubicBezTo>
                <a:cubicBezTo>
                  <a:pt x="72" y="100"/>
                  <a:pt x="73" y="100"/>
                  <a:pt x="73" y="100"/>
                </a:cubicBezTo>
                <a:cubicBezTo>
                  <a:pt x="74" y="100"/>
                  <a:pt x="75" y="100"/>
                  <a:pt x="75" y="100"/>
                </a:cubicBezTo>
                <a:cubicBezTo>
                  <a:pt x="159" y="15"/>
                  <a:pt x="159" y="15"/>
                  <a:pt x="159" y="15"/>
                </a:cubicBezTo>
                <a:cubicBezTo>
                  <a:pt x="160" y="14"/>
                  <a:pt x="160" y="13"/>
                  <a:pt x="159" y="12"/>
                </a:cubicBezTo>
                <a:close/>
              </a:path>
            </a:pathLst>
          </a:custGeom>
          <a:solidFill>
            <a:srgbClr val="000000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</a14:hiddenLine>
            </a:ext>
          </a:extLst>
        </p:spPr>
        <p:txBody>
          <a:bodyPr vert="horz" wrap="square" lIns="91440" tIns="45720" rIns="91440" bIns="45720" numCol="1" anchor="t" anchorCtr="0" compatLnSpc="1"/>
          <a:p>
            <a:endParaRPr lang="en-US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8" name="TextBox 17"/>
          <p:cNvSpPr txBox="1"/>
          <p:nvPr/>
        </p:nvSpPr>
        <p:spPr>
          <a:xfrm>
            <a:off x="7428230" y="4576445"/>
            <a:ext cx="3786505" cy="810260"/>
          </a:xfrm>
          <a:prstGeom prst="rect">
            <a:avLst/>
          </a:prstGeom>
          <a:noFill/>
        </p:spPr>
        <p:txBody>
          <a:bodyPr wrap="square" lIns="0" rIns="0" rtlCol="0">
            <a:spAutoFit/>
          </a:bodyPr>
          <a:p>
            <a:pPr>
              <a:lnSpc>
                <a:spcPct val="130000"/>
              </a:lnSpc>
            </a:pPr>
            <a:r>
              <a:rPr lang="en-US" b="1" dirty="0">
                <a:latin typeface="微软雅黑" panose="020B0503020204020204" charset="-122"/>
                <a:ea typeface="微软雅黑" panose="020B0503020204020204" charset="-122"/>
                <a:cs typeface="Open Sans" panose="020B0606030504020204" charset="0"/>
              </a:rPr>
              <a:t>The recorded voice scratched in the speaker.</a:t>
            </a:r>
            <a:endParaRPr lang="en-US" b="1" dirty="0">
              <a:latin typeface="微软雅黑" panose="020B0503020204020204" charset="-122"/>
              <a:ea typeface="微软雅黑" panose="020B0503020204020204" charset="-122"/>
              <a:cs typeface="Open Sans" panose="020B0606030504020204" charset="0"/>
            </a:endParaRPr>
          </a:p>
        </p:txBody>
      </p:sp>
      <p:grpSp>
        <p:nvGrpSpPr>
          <p:cNvPr id="3" name="组合 2"/>
          <p:cNvGrpSpPr/>
          <p:nvPr/>
        </p:nvGrpSpPr>
        <p:grpSpPr>
          <a:xfrm>
            <a:off x="2035810" y="582930"/>
            <a:ext cx="8120380" cy="1326515"/>
            <a:chOff x="3206" y="98"/>
            <a:chExt cx="12788" cy="2089"/>
          </a:xfrm>
        </p:grpSpPr>
        <p:sp>
          <p:nvSpPr>
            <p:cNvPr id="4" name="TextBox 8"/>
            <p:cNvSpPr txBox="1"/>
            <p:nvPr/>
          </p:nvSpPr>
          <p:spPr>
            <a:xfrm>
              <a:off x="3206" y="98"/>
              <a:ext cx="12788" cy="1598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p>
              <a:pPr algn="ctr"/>
              <a:r>
                <a:rPr lang="en-US" sz="6000" b="1" spc="600" dirty="0" smtClean="0">
                  <a:solidFill>
                    <a:schemeClr val="bg1">
                      <a:lumMod val="95000"/>
                    </a:schemeClr>
                  </a:solidFill>
                  <a:latin typeface="庞门正道标题体" panose="02010600030101010101" charset="-122"/>
                  <a:ea typeface="庞门正道标题体" panose="02010600030101010101" charset="-122"/>
                  <a:cs typeface="Montserrat" panose="00000500000000000000" pitchFamily="50" charset="0"/>
                </a:rPr>
                <a:t>MINIMALIST</a:t>
              </a:r>
              <a:endParaRPr lang="en-US" sz="6000" b="1" spc="600" dirty="0" smtClean="0">
                <a:solidFill>
                  <a:schemeClr val="bg1">
                    <a:lumMod val="95000"/>
                  </a:schemeClr>
                </a:solidFill>
                <a:latin typeface="庞门正道标题体" panose="02010600030101010101" charset="-122"/>
                <a:ea typeface="庞门正道标题体" panose="02010600030101010101" charset="-122"/>
                <a:cs typeface="Montserrat" panose="00000500000000000000" pitchFamily="50" charset="0"/>
              </a:endParaRPr>
            </a:p>
          </p:txBody>
        </p:sp>
        <p:sp>
          <p:nvSpPr>
            <p:cNvPr id="24" name="TextBox 9"/>
            <p:cNvSpPr txBox="1"/>
            <p:nvPr/>
          </p:nvSpPr>
          <p:spPr>
            <a:xfrm>
              <a:off x="4143" y="653"/>
              <a:ext cx="10932" cy="130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p>
              <a:pPr algn="ctr"/>
              <a:r>
                <a:rPr lang="zh-CN" altLang="zh-CN" sz="4800" b="1" spc="600" dirty="0" smtClean="0">
                  <a:solidFill>
                    <a:schemeClr val="tx1"/>
                  </a:solidFill>
                  <a:latin typeface="方正明尚简体" panose="02000000000000000000" charset="-122"/>
                  <a:ea typeface="方正明尚简体" panose="02000000000000000000" charset="-122"/>
                  <a:cs typeface="Montserrat" panose="00000500000000000000" pitchFamily="50" charset="0"/>
                </a:rPr>
                <a:t>标题</a:t>
              </a:r>
              <a:endParaRPr lang="zh-CN" altLang="zh-CN" sz="4800" b="1" spc="600" dirty="0" smtClean="0">
                <a:solidFill>
                  <a:schemeClr val="tx1"/>
                </a:solidFill>
                <a:latin typeface="方正明尚简体" panose="02000000000000000000" charset="-122"/>
                <a:ea typeface="方正明尚简体" panose="02000000000000000000" charset="-122"/>
                <a:cs typeface="Montserrat" panose="00000500000000000000" pitchFamily="50" charset="0"/>
              </a:endParaRPr>
            </a:p>
          </p:txBody>
        </p:sp>
        <p:sp>
          <p:nvSpPr>
            <p:cNvPr id="25" name="TextBox 12"/>
            <p:cNvSpPr txBox="1"/>
            <p:nvPr/>
          </p:nvSpPr>
          <p:spPr>
            <a:xfrm>
              <a:off x="5681" y="1618"/>
              <a:ext cx="7856" cy="56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p>
              <a:pPr algn="ctr">
                <a:lnSpc>
                  <a:spcPct val="150000"/>
                </a:lnSpc>
              </a:pPr>
              <a:r>
                <a:rPr lang="en-US" baseline="-25000" dirty="0" smtClean="0">
                  <a:latin typeface="Dotum" panose="020B0600000101010101" charset="-127"/>
                  <a:ea typeface="Dotum" panose="020B0600000101010101" charset="-127"/>
                  <a:cs typeface="+mj-lt"/>
                </a:rPr>
                <a:t>minimal presentation template</a:t>
              </a:r>
              <a:endParaRPr lang="en-US" baseline="-25000" dirty="0" smtClean="0">
                <a:latin typeface="Dotum" panose="020B0600000101010101" charset="-127"/>
                <a:ea typeface="Dotum" panose="020B0600000101010101" charset="-127"/>
                <a:cs typeface="+mj-lt"/>
              </a:endParaRPr>
            </a:p>
          </p:txBody>
        </p:sp>
      </p:grp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0"/>
    </mc:Choice>
    <mc:Fallback>
      <p:transition/>
    </mc:Fallback>
  </mc:AlternateContent>
</p:sld>
</file>

<file path=ppt/slides/slide6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3" name="TextBox 8"/>
          <p:cNvSpPr txBox="1"/>
          <p:nvPr/>
        </p:nvSpPr>
        <p:spPr>
          <a:xfrm>
            <a:off x="-352107" y="1611517"/>
            <a:ext cx="12896215" cy="229933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pPr algn="ctr"/>
            <a:r>
              <a:rPr lang="en-US" sz="14350" b="1" spc="600" dirty="0" smtClean="0">
                <a:solidFill>
                  <a:srgbClr val="F7F7F7"/>
                </a:solidFill>
                <a:latin typeface="庞门正道标题体" panose="02010600030101010101" charset="-122"/>
                <a:ea typeface="庞门正道标题体" panose="02010600030101010101" charset="-122"/>
                <a:cs typeface="Montserrat" panose="00000500000000000000" pitchFamily="50" charset="0"/>
              </a:rPr>
              <a:t>MINIMALIST</a:t>
            </a:r>
            <a:endParaRPr lang="en-US" sz="14350" b="1" spc="600" dirty="0" smtClean="0">
              <a:solidFill>
                <a:srgbClr val="F7F7F7"/>
              </a:solidFill>
              <a:latin typeface="庞门正道标题体" panose="02010600030101010101" charset="-122"/>
              <a:ea typeface="庞门正道标题体" panose="02010600030101010101" charset="-122"/>
              <a:cs typeface="Montserrat" panose="00000500000000000000" pitchFamily="50" charset="0"/>
            </a:endParaRPr>
          </a:p>
        </p:txBody>
      </p:sp>
      <p:sp>
        <p:nvSpPr>
          <p:cNvPr id="4" name="TextBox 9"/>
          <p:cNvSpPr txBox="1"/>
          <p:nvPr/>
        </p:nvSpPr>
        <p:spPr>
          <a:xfrm>
            <a:off x="2630577" y="2421142"/>
            <a:ext cx="6941730" cy="132207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pPr algn="ctr"/>
            <a:r>
              <a:rPr lang="zh-CN" altLang="en-US" sz="8000" b="1" spc="600" dirty="0" smtClean="0">
                <a:solidFill>
                  <a:schemeClr val="tx1"/>
                </a:solidFill>
                <a:latin typeface="方正明尚简体" panose="02000000000000000000" charset="-122"/>
                <a:ea typeface="方正明尚简体" panose="02000000000000000000" charset="-122"/>
                <a:cs typeface="Montserrat" panose="00000500000000000000" pitchFamily="50" charset="0"/>
              </a:rPr>
              <a:t>第二章节</a:t>
            </a:r>
            <a:endParaRPr lang="zh-CN" altLang="en-US" sz="8000" b="1" spc="600" dirty="0" smtClean="0">
              <a:solidFill>
                <a:schemeClr val="tx1"/>
              </a:solidFill>
              <a:latin typeface="方正明尚简体" panose="02000000000000000000" charset="-122"/>
              <a:ea typeface="方正明尚简体" panose="02000000000000000000" charset="-122"/>
              <a:cs typeface="Montserrat" panose="00000500000000000000" pitchFamily="50" charset="0"/>
            </a:endParaRPr>
          </a:p>
        </p:txBody>
      </p:sp>
      <p:sp>
        <p:nvSpPr>
          <p:cNvPr id="5" name="TextBox 12"/>
          <p:cNvSpPr txBox="1"/>
          <p:nvPr/>
        </p:nvSpPr>
        <p:spPr>
          <a:xfrm>
            <a:off x="3607261" y="3592841"/>
            <a:ext cx="4988364" cy="49593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pPr algn="ctr">
              <a:lnSpc>
                <a:spcPct val="150000"/>
              </a:lnSpc>
            </a:pPr>
            <a:r>
              <a:rPr lang="en-US" sz="2700" baseline="-25000" dirty="0" smtClean="0">
                <a:latin typeface="Dotum" panose="020B0600000101010101" charset="-127"/>
                <a:ea typeface="Dotum" panose="020B0600000101010101" charset="-127"/>
                <a:cs typeface="+mj-lt"/>
              </a:rPr>
              <a:t>minimal presentation template</a:t>
            </a:r>
            <a:endParaRPr lang="en-US" sz="2700" baseline="-25000" dirty="0" smtClean="0">
              <a:latin typeface="Dotum" panose="020B0600000101010101" charset="-127"/>
              <a:ea typeface="Dotum" panose="020B0600000101010101" charset="-127"/>
              <a:cs typeface="+mj-lt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0"/>
    </mc:Choice>
    <mc:Fallback>
      <p:transition/>
    </mc:Fallback>
  </mc:AlternateContent>
</p:sld>
</file>

<file path=ppt/slides/slide6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5" name="TextBox 4"/>
          <p:cNvSpPr txBox="1"/>
          <p:nvPr/>
        </p:nvSpPr>
        <p:spPr>
          <a:xfrm>
            <a:off x="1343025" y="3958744"/>
            <a:ext cx="2621038" cy="1891665"/>
          </a:xfrm>
          <a:prstGeom prst="rect">
            <a:avLst/>
          </a:prstGeom>
          <a:noFill/>
        </p:spPr>
        <p:txBody>
          <a:bodyPr wrap="square" lIns="0" rIns="0" rtlCol="0">
            <a:spAutoFit/>
          </a:bodyPr>
          <a:p>
            <a:pPr>
              <a:lnSpc>
                <a:spcPct val="130000"/>
              </a:lnSpc>
            </a:pPr>
            <a:r>
              <a:rPr lang="en-US" sz="1000" dirty="0">
                <a:solidFill>
                  <a:schemeClr val="tx1">
                    <a:alpha val="70000"/>
                  </a:schemeClr>
                </a:solidFill>
                <a:latin typeface="微软雅黑" panose="020B0503020204020204" charset="-122"/>
                <a:ea typeface="微软雅黑" panose="020B0503020204020204" charset="-122"/>
              </a:rPr>
              <a:t>A peep at some distant orb has power to raise and purify our thoughts like a strain of sacred music, or a noble picture, or a passage </a:t>
            </a:r>
            <a:r>
              <a:rPr lang="en-US" sz="1000" dirty="0" smtClean="0">
                <a:solidFill>
                  <a:schemeClr val="tx1">
                    <a:alpha val="70000"/>
                  </a:schemeClr>
                </a:solidFill>
                <a:latin typeface="微软雅黑" panose="020B0503020204020204" charset="-122"/>
                <a:ea typeface="微软雅黑" panose="020B0503020204020204" charset="-122"/>
              </a:rPr>
              <a:t>from</a:t>
            </a:r>
            <a:r>
              <a:rPr lang="en-US" sz="1000" dirty="0">
                <a:solidFill>
                  <a:schemeClr val="tx1">
                    <a:alpha val="70000"/>
                  </a:schemeClr>
                </a:solidFill>
                <a:latin typeface="微软雅黑" panose="020B0503020204020204" charset="-122"/>
                <a:ea typeface="微软雅黑" panose="020B0503020204020204" charset="-122"/>
              </a:rPr>
              <a:t>. A peep at some distant orb has power to raise. A peep at some distant orb has power to raise and purify our thoughts like a strain of sacred music, or a noble picture, or a passage from the grander poets. </a:t>
            </a:r>
            <a:endParaRPr lang="en-US" sz="1000" dirty="0">
              <a:solidFill>
                <a:schemeClr val="tx1">
                  <a:alpha val="70000"/>
                </a:schemeClr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6" name="TextBox 5"/>
          <p:cNvSpPr txBox="1"/>
          <p:nvPr/>
        </p:nvSpPr>
        <p:spPr>
          <a:xfrm>
            <a:off x="1343025" y="3514808"/>
            <a:ext cx="1066800" cy="306705"/>
          </a:xfrm>
          <a:prstGeom prst="rect">
            <a:avLst/>
          </a:prstGeom>
          <a:noFill/>
        </p:spPr>
        <p:txBody>
          <a:bodyPr wrap="none" lIns="0" rIns="0" rtlCol="0">
            <a:spAutoFit/>
          </a:bodyPr>
          <a:p>
            <a:r>
              <a:rPr lang="zh-CN" altLang="en-US" sz="1400" b="1" dirty="0" smtClean="0">
                <a:latin typeface="微软雅黑" panose="020B0503020204020204" charset="-122"/>
                <a:ea typeface="微软雅黑" panose="020B0503020204020204" charset="-122"/>
                <a:cs typeface="Open Sans" panose="020B0606030504020204" charset="0"/>
              </a:rPr>
              <a:t>填写你的标题</a:t>
            </a:r>
            <a:endParaRPr lang="zh-CN" altLang="en-US" sz="1400" b="1" dirty="0" smtClean="0">
              <a:latin typeface="微软雅黑" panose="020B0503020204020204" charset="-122"/>
              <a:ea typeface="微软雅黑" panose="020B0503020204020204" charset="-122"/>
              <a:cs typeface="Open Sans" panose="020B0606030504020204" charset="0"/>
            </a:endParaRPr>
          </a:p>
        </p:txBody>
      </p:sp>
      <p:sp>
        <p:nvSpPr>
          <p:cNvPr id="9" name="TextBox 8"/>
          <p:cNvSpPr txBox="1"/>
          <p:nvPr/>
        </p:nvSpPr>
        <p:spPr>
          <a:xfrm>
            <a:off x="1327796" y="2505670"/>
            <a:ext cx="856004" cy="923330"/>
          </a:xfrm>
          <a:prstGeom prst="rect">
            <a:avLst/>
          </a:prstGeom>
          <a:noFill/>
        </p:spPr>
        <p:txBody>
          <a:bodyPr wrap="none" lIns="0" rIns="0" rtlCol="0">
            <a:spAutoFit/>
          </a:bodyPr>
          <a:p>
            <a:r>
              <a:rPr lang="en-US" sz="5400" dirty="0" smtClean="0">
                <a:latin typeface="微软雅黑" panose="020B0503020204020204" charset="-122"/>
                <a:ea typeface="微软雅黑" panose="020B0503020204020204" charset="-122"/>
              </a:rPr>
              <a:t>01</a:t>
            </a:r>
            <a:endParaRPr lang="en-US" sz="5400" dirty="0" smtClean="0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0" name="TextBox 9"/>
          <p:cNvSpPr txBox="1"/>
          <p:nvPr/>
        </p:nvSpPr>
        <p:spPr>
          <a:xfrm>
            <a:off x="4759716" y="3958744"/>
            <a:ext cx="2621038" cy="1875898"/>
          </a:xfrm>
          <a:prstGeom prst="rect">
            <a:avLst/>
          </a:prstGeom>
          <a:noFill/>
        </p:spPr>
        <p:txBody>
          <a:bodyPr wrap="square" lIns="0" rIns="0" rtlCol="0">
            <a:spAutoFit/>
          </a:bodyPr>
          <a:p>
            <a:pPr>
              <a:lnSpc>
                <a:spcPct val="130000"/>
              </a:lnSpc>
            </a:pPr>
            <a:r>
              <a:rPr lang="en-US" sz="1000" dirty="0">
                <a:solidFill>
                  <a:schemeClr val="tx1">
                    <a:alpha val="70000"/>
                  </a:schemeClr>
                </a:solidFill>
                <a:latin typeface="微软雅黑" panose="020B0503020204020204" charset="-122"/>
                <a:ea typeface="微软雅黑" panose="020B0503020204020204" charset="-122"/>
              </a:rPr>
              <a:t>A peep at some distant orb has power to raise and purify our thoughts like a strain of sacred music, or a noble picture, or a passage </a:t>
            </a:r>
            <a:r>
              <a:rPr lang="en-US" sz="1000" dirty="0" smtClean="0">
                <a:solidFill>
                  <a:schemeClr val="tx1">
                    <a:alpha val="70000"/>
                  </a:schemeClr>
                </a:solidFill>
                <a:latin typeface="微软雅黑" panose="020B0503020204020204" charset="-122"/>
                <a:ea typeface="微软雅黑" panose="020B0503020204020204" charset="-122"/>
              </a:rPr>
              <a:t>from</a:t>
            </a:r>
            <a:r>
              <a:rPr lang="en-US" sz="1000" dirty="0">
                <a:solidFill>
                  <a:schemeClr val="tx1">
                    <a:alpha val="70000"/>
                  </a:schemeClr>
                </a:solidFill>
                <a:latin typeface="微软雅黑" panose="020B0503020204020204" charset="-122"/>
                <a:ea typeface="微软雅黑" panose="020B0503020204020204" charset="-122"/>
              </a:rPr>
              <a:t>. A peep at some distant orb has power to raise. A peep at some distant orb has power to raise and purify our thoughts like a strain of sacred music, or a noble picture, or a passage from the grander poets. </a:t>
            </a:r>
            <a:endParaRPr lang="en-US" sz="1000" dirty="0">
              <a:solidFill>
                <a:schemeClr val="tx1">
                  <a:alpha val="70000"/>
                </a:schemeClr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1" name="TextBox 10"/>
          <p:cNvSpPr txBox="1"/>
          <p:nvPr/>
        </p:nvSpPr>
        <p:spPr>
          <a:xfrm>
            <a:off x="4759716" y="3514808"/>
            <a:ext cx="1066800" cy="306705"/>
          </a:xfrm>
          <a:prstGeom prst="rect">
            <a:avLst/>
          </a:prstGeom>
          <a:noFill/>
        </p:spPr>
        <p:txBody>
          <a:bodyPr wrap="none" lIns="0" rIns="0" rtlCol="0">
            <a:spAutoFit/>
          </a:bodyPr>
          <a:p>
            <a:pPr algn="l"/>
            <a:r>
              <a:rPr lang="zh-CN" altLang="en-US" sz="1400" b="1" dirty="0" smtClean="0">
                <a:latin typeface="微软雅黑" panose="020B0503020204020204" charset="-122"/>
                <a:ea typeface="微软雅黑" panose="020B0503020204020204" charset="-122"/>
                <a:cs typeface="Open Sans" panose="020B0606030504020204" charset="0"/>
                <a:sym typeface="+mn-ea"/>
              </a:rPr>
              <a:t>填写你的标题</a:t>
            </a:r>
            <a:endParaRPr lang="en-US" sz="1400" b="1" dirty="0" smtClean="0">
              <a:latin typeface="微软雅黑" panose="020B0503020204020204" charset="-122"/>
              <a:ea typeface="微软雅黑" panose="020B0503020204020204" charset="-122"/>
              <a:cs typeface="Open Sans" panose="020B0606030504020204" charset="0"/>
            </a:endParaRPr>
          </a:p>
        </p:txBody>
      </p:sp>
      <p:sp>
        <p:nvSpPr>
          <p:cNvPr id="12" name="TextBox 11"/>
          <p:cNvSpPr txBox="1"/>
          <p:nvPr/>
        </p:nvSpPr>
        <p:spPr>
          <a:xfrm>
            <a:off x="4744487" y="2505670"/>
            <a:ext cx="856004" cy="923330"/>
          </a:xfrm>
          <a:prstGeom prst="rect">
            <a:avLst/>
          </a:prstGeom>
          <a:noFill/>
        </p:spPr>
        <p:txBody>
          <a:bodyPr wrap="none" lIns="0" rIns="0" rtlCol="0">
            <a:spAutoFit/>
          </a:bodyPr>
          <a:p>
            <a:r>
              <a:rPr lang="en-US" sz="5400" dirty="0" smtClean="0">
                <a:latin typeface="微软雅黑" panose="020B0503020204020204" charset="-122"/>
                <a:ea typeface="微软雅黑" panose="020B0503020204020204" charset="-122"/>
              </a:rPr>
              <a:t>02</a:t>
            </a:r>
            <a:endParaRPr lang="en-US" sz="5400" dirty="0" smtClean="0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3" name="TextBox 12"/>
          <p:cNvSpPr txBox="1"/>
          <p:nvPr/>
        </p:nvSpPr>
        <p:spPr>
          <a:xfrm>
            <a:off x="8176407" y="3958744"/>
            <a:ext cx="2621038" cy="1875898"/>
          </a:xfrm>
          <a:prstGeom prst="rect">
            <a:avLst/>
          </a:prstGeom>
          <a:noFill/>
        </p:spPr>
        <p:txBody>
          <a:bodyPr wrap="square" lIns="0" rIns="0" rtlCol="0">
            <a:spAutoFit/>
          </a:bodyPr>
          <a:p>
            <a:pPr>
              <a:lnSpc>
                <a:spcPct val="130000"/>
              </a:lnSpc>
            </a:pPr>
            <a:r>
              <a:rPr lang="en-US" sz="1000" dirty="0">
                <a:solidFill>
                  <a:schemeClr val="tx1">
                    <a:alpha val="70000"/>
                  </a:schemeClr>
                </a:solidFill>
                <a:latin typeface="微软雅黑" panose="020B0503020204020204" charset="-122"/>
                <a:ea typeface="微软雅黑" panose="020B0503020204020204" charset="-122"/>
              </a:rPr>
              <a:t>A peep at some distant orb has power to raise and purify our thoughts like a strain of sacred music, or a noble picture, or a passage </a:t>
            </a:r>
            <a:r>
              <a:rPr lang="en-US" sz="1000" dirty="0" smtClean="0">
                <a:solidFill>
                  <a:schemeClr val="tx1">
                    <a:alpha val="70000"/>
                  </a:schemeClr>
                </a:solidFill>
                <a:latin typeface="微软雅黑" panose="020B0503020204020204" charset="-122"/>
                <a:ea typeface="微软雅黑" panose="020B0503020204020204" charset="-122"/>
              </a:rPr>
              <a:t>from</a:t>
            </a:r>
            <a:r>
              <a:rPr lang="en-US" sz="1000" dirty="0">
                <a:solidFill>
                  <a:schemeClr val="tx1">
                    <a:alpha val="70000"/>
                  </a:schemeClr>
                </a:solidFill>
                <a:latin typeface="微软雅黑" panose="020B0503020204020204" charset="-122"/>
                <a:ea typeface="微软雅黑" panose="020B0503020204020204" charset="-122"/>
              </a:rPr>
              <a:t>. A peep at some distant orb has power to raise. A peep at some distant orb has power to raise and purify our thoughts like a strain of sacred music, or a noble picture, or a passage from the grander poets. </a:t>
            </a:r>
            <a:endParaRPr lang="en-US" sz="1000" dirty="0">
              <a:solidFill>
                <a:schemeClr val="tx1">
                  <a:alpha val="70000"/>
                </a:schemeClr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4" name="TextBox 13"/>
          <p:cNvSpPr txBox="1"/>
          <p:nvPr/>
        </p:nvSpPr>
        <p:spPr>
          <a:xfrm>
            <a:off x="8176407" y="3514808"/>
            <a:ext cx="1066800" cy="306705"/>
          </a:xfrm>
          <a:prstGeom prst="rect">
            <a:avLst/>
          </a:prstGeom>
          <a:noFill/>
        </p:spPr>
        <p:txBody>
          <a:bodyPr wrap="none" lIns="0" rIns="0" rtlCol="0">
            <a:spAutoFit/>
          </a:bodyPr>
          <a:p>
            <a:pPr algn="l"/>
            <a:r>
              <a:rPr lang="zh-CN" altLang="en-US" sz="1400" b="1" dirty="0" smtClean="0">
                <a:latin typeface="微软雅黑" panose="020B0503020204020204" charset="-122"/>
                <a:ea typeface="微软雅黑" panose="020B0503020204020204" charset="-122"/>
                <a:cs typeface="Open Sans" panose="020B0606030504020204" charset="0"/>
                <a:sym typeface="+mn-ea"/>
              </a:rPr>
              <a:t>填写你的标题</a:t>
            </a:r>
            <a:endParaRPr lang="en-US" sz="1400" b="1" dirty="0" smtClean="0">
              <a:latin typeface="微软雅黑" panose="020B0503020204020204" charset="-122"/>
              <a:ea typeface="微软雅黑" panose="020B0503020204020204" charset="-122"/>
              <a:cs typeface="Open Sans" panose="020B0606030504020204" charset="0"/>
            </a:endParaRPr>
          </a:p>
        </p:txBody>
      </p:sp>
      <p:sp>
        <p:nvSpPr>
          <p:cNvPr id="15" name="TextBox 14"/>
          <p:cNvSpPr txBox="1"/>
          <p:nvPr/>
        </p:nvSpPr>
        <p:spPr>
          <a:xfrm>
            <a:off x="8161178" y="2505670"/>
            <a:ext cx="856004" cy="923330"/>
          </a:xfrm>
          <a:prstGeom prst="rect">
            <a:avLst/>
          </a:prstGeom>
          <a:noFill/>
        </p:spPr>
        <p:txBody>
          <a:bodyPr wrap="none" lIns="0" rIns="0" rtlCol="0">
            <a:spAutoFit/>
          </a:bodyPr>
          <a:p>
            <a:r>
              <a:rPr lang="en-US" sz="5400" dirty="0" smtClean="0">
                <a:latin typeface="微软雅黑" panose="020B0503020204020204" charset="-122"/>
                <a:ea typeface="微软雅黑" panose="020B0503020204020204" charset="-122"/>
              </a:rPr>
              <a:t>03</a:t>
            </a:r>
            <a:endParaRPr lang="en-US" sz="5400" dirty="0" smtClean="0">
              <a:latin typeface="微软雅黑" panose="020B0503020204020204" charset="-122"/>
              <a:ea typeface="微软雅黑" panose="020B0503020204020204" charset="-122"/>
            </a:endParaRPr>
          </a:p>
        </p:txBody>
      </p:sp>
      <p:grpSp>
        <p:nvGrpSpPr>
          <p:cNvPr id="3" name="组合 2"/>
          <p:cNvGrpSpPr/>
          <p:nvPr/>
        </p:nvGrpSpPr>
        <p:grpSpPr>
          <a:xfrm>
            <a:off x="2035810" y="582930"/>
            <a:ext cx="8120380" cy="1326515"/>
            <a:chOff x="3206" y="98"/>
            <a:chExt cx="12788" cy="2089"/>
          </a:xfrm>
        </p:grpSpPr>
        <p:sp>
          <p:nvSpPr>
            <p:cNvPr id="4" name="TextBox 8"/>
            <p:cNvSpPr txBox="1"/>
            <p:nvPr/>
          </p:nvSpPr>
          <p:spPr>
            <a:xfrm>
              <a:off x="3206" y="98"/>
              <a:ext cx="12788" cy="1598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p>
              <a:pPr algn="ctr"/>
              <a:r>
                <a:rPr lang="en-US" sz="6000" b="1" spc="600" dirty="0" smtClean="0">
                  <a:solidFill>
                    <a:schemeClr val="bg1">
                      <a:lumMod val="95000"/>
                    </a:schemeClr>
                  </a:solidFill>
                  <a:latin typeface="庞门正道标题体" panose="02010600030101010101" charset="-122"/>
                  <a:ea typeface="庞门正道标题体" panose="02010600030101010101" charset="-122"/>
                  <a:cs typeface="Montserrat" panose="00000500000000000000" pitchFamily="50" charset="0"/>
                </a:rPr>
                <a:t>MINIMALIST</a:t>
              </a:r>
              <a:endParaRPr lang="en-US" sz="6000" b="1" spc="600" dirty="0" smtClean="0">
                <a:solidFill>
                  <a:schemeClr val="bg1">
                    <a:lumMod val="95000"/>
                  </a:schemeClr>
                </a:solidFill>
                <a:latin typeface="庞门正道标题体" panose="02010600030101010101" charset="-122"/>
                <a:ea typeface="庞门正道标题体" panose="02010600030101010101" charset="-122"/>
                <a:cs typeface="Montserrat" panose="00000500000000000000" pitchFamily="50" charset="0"/>
              </a:endParaRPr>
            </a:p>
          </p:txBody>
        </p:sp>
        <p:sp>
          <p:nvSpPr>
            <p:cNvPr id="24" name="TextBox 9"/>
            <p:cNvSpPr txBox="1"/>
            <p:nvPr/>
          </p:nvSpPr>
          <p:spPr>
            <a:xfrm>
              <a:off x="4143" y="653"/>
              <a:ext cx="10932" cy="130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p>
              <a:pPr algn="ctr"/>
              <a:r>
                <a:rPr lang="zh-CN" altLang="zh-CN" sz="4800" b="1" spc="600" dirty="0" smtClean="0">
                  <a:solidFill>
                    <a:schemeClr val="tx1"/>
                  </a:solidFill>
                  <a:latin typeface="方正明尚简体" panose="02000000000000000000" charset="-122"/>
                  <a:ea typeface="方正明尚简体" panose="02000000000000000000" charset="-122"/>
                  <a:cs typeface="Montserrat" panose="00000500000000000000" pitchFamily="50" charset="0"/>
                </a:rPr>
                <a:t>标题</a:t>
              </a:r>
              <a:endParaRPr lang="zh-CN" altLang="zh-CN" sz="4800" b="1" spc="600" dirty="0" smtClean="0">
                <a:solidFill>
                  <a:schemeClr val="tx1"/>
                </a:solidFill>
                <a:latin typeface="方正明尚简体" panose="02000000000000000000" charset="-122"/>
                <a:ea typeface="方正明尚简体" panose="02000000000000000000" charset="-122"/>
                <a:cs typeface="Montserrat" panose="00000500000000000000" pitchFamily="50" charset="0"/>
              </a:endParaRPr>
            </a:p>
          </p:txBody>
        </p:sp>
        <p:sp>
          <p:nvSpPr>
            <p:cNvPr id="25" name="TextBox 12"/>
            <p:cNvSpPr txBox="1"/>
            <p:nvPr/>
          </p:nvSpPr>
          <p:spPr>
            <a:xfrm>
              <a:off x="5681" y="1618"/>
              <a:ext cx="7856" cy="56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p>
              <a:pPr algn="ctr">
                <a:lnSpc>
                  <a:spcPct val="150000"/>
                </a:lnSpc>
              </a:pPr>
              <a:r>
                <a:rPr lang="en-US" baseline="-25000" dirty="0" smtClean="0">
                  <a:latin typeface="Dotum" panose="020B0600000101010101" charset="-127"/>
                  <a:ea typeface="Dotum" panose="020B0600000101010101" charset="-127"/>
                  <a:cs typeface="+mj-lt"/>
                </a:rPr>
                <a:t>minimal presentation template</a:t>
              </a:r>
              <a:endParaRPr lang="en-US" baseline="-25000" dirty="0" smtClean="0">
                <a:latin typeface="Dotum" panose="020B0600000101010101" charset="-127"/>
                <a:ea typeface="Dotum" panose="020B0600000101010101" charset="-127"/>
                <a:cs typeface="+mj-lt"/>
              </a:endParaRPr>
            </a:p>
          </p:txBody>
        </p:sp>
      </p:grp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0"/>
    </mc:Choice>
    <mc:Fallback>
      <p:transition/>
    </mc:Fallback>
  </mc:AlternateContent>
</p:sld>
</file>

<file path=ppt/slides/slide6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5" name="TextBox 4"/>
          <p:cNvSpPr txBox="1"/>
          <p:nvPr/>
        </p:nvSpPr>
        <p:spPr>
          <a:xfrm>
            <a:off x="2354407" y="2795396"/>
            <a:ext cx="3741593" cy="491490"/>
          </a:xfrm>
          <a:prstGeom prst="rect">
            <a:avLst/>
          </a:prstGeom>
          <a:noFill/>
        </p:spPr>
        <p:txBody>
          <a:bodyPr wrap="square" lIns="0" rIns="0" rtlCol="0">
            <a:spAutoFit/>
          </a:bodyPr>
          <a:p>
            <a:pPr>
              <a:lnSpc>
                <a:spcPct val="130000"/>
              </a:lnSpc>
            </a:pPr>
            <a:r>
              <a:rPr lang="en-US" sz="1000" dirty="0">
                <a:solidFill>
                  <a:schemeClr val="tx1">
                    <a:alpha val="70000"/>
                  </a:schemeClr>
                </a:solidFill>
                <a:latin typeface="微软雅黑" panose="020B0503020204020204" charset="-122"/>
                <a:ea typeface="微软雅黑" panose="020B0503020204020204" charset="-122"/>
              </a:rPr>
              <a:t>A peep at some distant orb has power to raise and purify our thoughts like a strain of sacred </a:t>
            </a:r>
            <a:r>
              <a:rPr lang="en-US" sz="1000" dirty="0" smtClean="0">
                <a:solidFill>
                  <a:schemeClr val="tx1">
                    <a:alpha val="70000"/>
                  </a:schemeClr>
                </a:solidFill>
                <a:latin typeface="微软雅黑" panose="020B0503020204020204" charset="-122"/>
                <a:ea typeface="微软雅黑" panose="020B0503020204020204" charset="-122"/>
              </a:rPr>
              <a:t>music.</a:t>
            </a:r>
            <a:endParaRPr lang="en-US" sz="1000" dirty="0">
              <a:solidFill>
                <a:schemeClr val="tx1">
                  <a:alpha val="70000"/>
                </a:schemeClr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6" name="TextBox 5"/>
          <p:cNvSpPr txBox="1"/>
          <p:nvPr/>
        </p:nvSpPr>
        <p:spPr>
          <a:xfrm>
            <a:off x="2354407" y="2448923"/>
            <a:ext cx="1066800" cy="306705"/>
          </a:xfrm>
          <a:prstGeom prst="rect">
            <a:avLst/>
          </a:prstGeom>
          <a:noFill/>
        </p:spPr>
        <p:txBody>
          <a:bodyPr wrap="none" lIns="0" rIns="0" rtlCol="0">
            <a:spAutoFit/>
          </a:bodyPr>
          <a:p>
            <a:r>
              <a:rPr lang="zh-CN" altLang="en-US" sz="1400" b="1" dirty="0" smtClean="0">
                <a:latin typeface="微软雅黑" panose="020B0503020204020204" charset="-122"/>
                <a:ea typeface="微软雅黑" panose="020B0503020204020204" charset="-122"/>
                <a:cs typeface="Open Sans" panose="020B0606030504020204" charset="0"/>
              </a:rPr>
              <a:t>填写你的标题</a:t>
            </a:r>
            <a:endParaRPr lang="zh-CN" altLang="en-US" sz="1400" b="1" dirty="0" smtClean="0">
              <a:latin typeface="微软雅黑" panose="020B0503020204020204" charset="-122"/>
              <a:ea typeface="微软雅黑" panose="020B0503020204020204" charset="-122"/>
              <a:cs typeface="Open Sans" panose="020B0606030504020204" charset="0"/>
            </a:endParaRPr>
          </a:p>
        </p:txBody>
      </p:sp>
      <p:sp>
        <p:nvSpPr>
          <p:cNvPr id="9" name="TextBox 8"/>
          <p:cNvSpPr txBox="1"/>
          <p:nvPr/>
        </p:nvSpPr>
        <p:spPr>
          <a:xfrm>
            <a:off x="1327796" y="2312622"/>
            <a:ext cx="856004" cy="923330"/>
          </a:xfrm>
          <a:prstGeom prst="rect">
            <a:avLst/>
          </a:prstGeom>
          <a:noFill/>
        </p:spPr>
        <p:txBody>
          <a:bodyPr wrap="none" lIns="0" rIns="0" rtlCol="0">
            <a:spAutoFit/>
          </a:bodyPr>
          <a:p>
            <a:r>
              <a:rPr lang="en-US" sz="5400" dirty="0" smtClean="0">
                <a:latin typeface="微软雅黑" panose="020B0503020204020204" charset="-122"/>
                <a:ea typeface="微软雅黑" panose="020B0503020204020204" charset="-122"/>
              </a:rPr>
              <a:t>01</a:t>
            </a:r>
            <a:endParaRPr lang="en-US" sz="5400" dirty="0" smtClean="0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7" name="TextBox 16"/>
          <p:cNvSpPr txBox="1"/>
          <p:nvPr/>
        </p:nvSpPr>
        <p:spPr>
          <a:xfrm>
            <a:off x="2354407" y="4026486"/>
            <a:ext cx="3741593" cy="492443"/>
          </a:xfrm>
          <a:prstGeom prst="rect">
            <a:avLst/>
          </a:prstGeom>
          <a:noFill/>
        </p:spPr>
        <p:txBody>
          <a:bodyPr wrap="square" lIns="0" rIns="0" rtlCol="0">
            <a:spAutoFit/>
          </a:bodyPr>
          <a:p>
            <a:pPr>
              <a:lnSpc>
                <a:spcPct val="130000"/>
              </a:lnSpc>
            </a:pPr>
            <a:r>
              <a:rPr lang="en-US" sz="1000" dirty="0">
                <a:solidFill>
                  <a:schemeClr val="tx1">
                    <a:alpha val="70000"/>
                  </a:schemeClr>
                </a:solidFill>
                <a:latin typeface="微软雅黑" panose="020B0503020204020204" charset="-122"/>
                <a:ea typeface="微软雅黑" panose="020B0503020204020204" charset="-122"/>
              </a:rPr>
              <a:t>A peep at some distant orb has power to raise and purify our thoughts like a strain of sacred </a:t>
            </a:r>
            <a:r>
              <a:rPr lang="en-US" sz="1000" dirty="0" smtClean="0">
                <a:solidFill>
                  <a:schemeClr val="tx1">
                    <a:alpha val="70000"/>
                  </a:schemeClr>
                </a:solidFill>
                <a:latin typeface="微软雅黑" panose="020B0503020204020204" charset="-122"/>
                <a:ea typeface="微软雅黑" panose="020B0503020204020204" charset="-122"/>
              </a:rPr>
              <a:t>music.</a:t>
            </a:r>
            <a:endParaRPr lang="en-US" sz="1000" dirty="0">
              <a:solidFill>
                <a:schemeClr val="tx1">
                  <a:alpha val="70000"/>
                </a:schemeClr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8" name="TextBox 17"/>
          <p:cNvSpPr txBox="1"/>
          <p:nvPr/>
        </p:nvSpPr>
        <p:spPr>
          <a:xfrm>
            <a:off x="2354407" y="3680013"/>
            <a:ext cx="1066800" cy="306705"/>
          </a:xfrm>
          <a:prstGeom prst="rect">
            <a:avLst/>
          </a:prstGeom>
          <a:noFill/>
        </p:spPr>
        <p:txBody>
          <a:bodyPr wrap="none" lIns="0" rIns="0" rtlCol="0">
            <a:spAutoFit/>
          </a:bodyPr>
          <a:p>
            <a:pPr algn="l"/>
            <a:r>
              <a:rPr lang="zh-CN" altLang="en-US" sz="1400" b="1" dirty="0" smtClean="0">
                <a:latin typeface="微软雅黑" panose="020B0503020204020204" charset="-122"/>
                <a:ea typeface="微软雅黑" panose="020B0503020204020204" charset="-122"/>
                <a:cs typeface="Open Sans" panose="020B0606030504020204" charset="0"/>
                <a:sym typeface="+mn-ea"/>
              </a:rPr>
              <a:t>填写你的标题</a:t>
            </a:r>
            <a:endParaRPr lang="en-US" sz="1400" b="1" dirty="0" smtClean="0">
              <a:latin typeface="微软雅黑" panose="020B0503020204020204" charset="-122"/>
              <a:ea typeface="微软雅黑" panose="020B0503020204020204" charset="-122"/>
              <a:cs typeface="Open Sans" panose="020B0606030504020204" charset="0"/>
            </a:endParaRPr>
          </a:p>
        </p:txBody>
      </p:sp>
      <p:sp>
        <p:nvSpPr>
          <p:cNvPr id="22" name="TextBox 21"/>
          <p:cNvSpPr txBox="1"/>
          <p:nvPr/>
        </p:nvSpPr>
        <p:spPr>
          <a:xfrm>
            <a:off x="1327796" y="3543712"/>
            <a:ext cx="856004" cy="923330"/>
          </a:xfrm>
          <a:prstGeom prst="rect">
            <a:avLst/>
          </a:prstGeom>
          <a:noFill/>
        </p:spPr>
        <p:txBody>
          <a:bodyPr wrap="none" lIns="0" rIns="0" rtlCol="0">
            <a:spAutoFit/>
          </a:bodyPr>
          <a:p>
            <a:r>
              <a:rPr lang="en-US" sz="5400" dirty="0" smtClean="0">
                <a:latin typeface="微软雅黑" panose="020B0503020204020204" charset="-122"/>
                <a:ea typeface="微软雅黑" panose="020B0503020204020204" charset="-122"/>
              </a:rPr>
              <a:t>03</a:t>
            </a:r>
            <a:endParaRPr lang="en-US" sz="5400" dirty="0" smtClean="0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4" name="TextBox 23"/>
          <p:cNvSpPr txBox="1"/>
          <p:nvPr/>
        </p:nvSpPr>
        <p:spPr>
          <a:xfrm>
            <a:off x="7688407" y="2795396"/>
            <a:ext cx="3741593" cy="492443"/>
          </a:xfrm>
          <a:prstGeom prst="rect">
            <a:avLst/>
          </a:prstGeom>
          <a:noFill/>
        </p:spPr>
        <p:txBody>
          <a:bodyPr wrap="square" lIns="0" rIns="0" rtlCol="0">
            <a:spAutoFit/>
          </a:bodyPr>
          <a:p>
            <a:pPr>
              <a:lnSpc>
                <a:spcPct val="130000"/>
              </a:lnSpc>
            </a:pPr>
            <a:r>
              <a:rPr lang="en-US" sz="1000" dirty="0">
                <a:solidFill>
                  <a:schemeClr val="tx1">
                    <a:alpha val="70000"/>
                  </a:schemeClr>
                </a:solidFill>
                <a:latin typeface="微软雅黑" panose="020B0503020204020204" charset="-122"/>
                <a:ea typeface="微软雅黑" panose="020B0503020204020204" charset="-122"/>
              </a:rPr>
              <a:t>A peep at some distant orb has power to raise and purify our thoughts like a strain of sacred </a:t>
            </a:r>
            <a:r>
              <a:rPr lang="en-US" sz="1000" dirty="0" smtClean="0">
                <a:solidFill>
                  <a:schemeClr val="tx1">
                    <a:alpha val="70000"/>
                  </a:schemeClr>
                </a:solidFill>
                <a:latin typeface="微软雅黑" panose="020B0503020204020204" charset="-122"/>
                <a:ea typeface="微软雅黑" panose="020B0503020204020204" charset="-122"/>
              </a:rPr>
              <a:t>music.</a:t>
            </a:r>
            <a:endParaRPr lang="en-US" sz="1000" dirty="0">
              <a:solidFill>
                <a:schemeClr val="tx1">
                  <a:alpha val="70000"/>
                </a:schemeClr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5" name="TextBox 24"/>
          <p:cNvSpPr txBox="1"/>
          <p:nvPr/>
        </p:nvSpPr>
        <p:spPr>
          <a:xfrm>
            <a:off x="7688407" y="2448923"/>
            <a:ext cx="1066800" cy="306705"/>
          </a:xfrm>
          <a:prstGeom prst="rect">
            <a:avLst/>
          </a:prstGeom>
          <a:noFill/>
        </p:spPr>
        <p:txBody>
          <a:bodyPr wrap="none" lIns="0" rIns="0" rtlCol="0">
            <a:spAutoFit/>
          </a:bodyPr>
          <a:p>
            <a:pPr algn="l"/>
            <a:r>
              <a:rPr lang="zh-CN" altLang="en-US" sz="1400" b="1" dirty="0" smtClean="0">
                <a:latin typeface="微软雅黑" panose="020B0503020204020204" charset="-122"/>
                <a:ea typeface="微软雅黑" panose="020B0503020204020204" charset="-122"/>
                <a:cs typeface="Open Sans" panose="020B0606030504020204" charset="0"/>
                <a:sym typeface="+mn-ea"/>
              </a:rPr>
              <a:t>填写你的标题</a:t>
            </a:r>
            <a:endParaRPr lang="en-US" sz="1400" b="1" dirty="0" smtClean="0">
              <a:latin typeface="微软雅黑" panose="020B0503020204020204" charset="-122"/>
              <a:ea typeface="微软雅黑" panose="020B0503020204020204" charset="-122"/>
              <a:cs typeface="Open Sans" panose="020B0606030504020204" charset="0"/>
            </a:endParaRPr>
          </a:p>
        </p:txBody>
      </p:sp>
      <p:sp>
        <p:nvSpPr>
          <p:cNvPr id="26" name="TextBox 25"/>
          <p:cNvSpPr txBox="1"/>
          <p:nvPr/>
        </p:nvSpPr>
        <p:spPr>
          <a:xfrm>
            <a:off x="6661796" y="2312622"/>
            <a:ext cx="856004" cy="923330"/>
          </a:xfrm>
          <a:prstGeom prst="rect">
            <a:avLst/>
          </a:prstGeom>
          <a:noFill/>
        </p:spPr>
        <p:txBody>
          <a:bodyPr wrap="none" lIns="0" rIns="0" rtlCol="0">
            <a:spAutoFit/>
          </a:bodyPr>
          <a:p>
            <a:r>
              <a:rPr lang="en-US" sz="5400" dirty="0" smtClean="0">
                <a:latin typeface="微软雅黑" panose="020B0503020204020204" charset="-122"/>
                <a:ea typeface="微软雅黑" panose="020B0503020204020204" charset="-122"/>
              </a:rPr>
              <a:t>02</a:t>
            </a:r>
            <a:endParaRPr lang="en-US" sz="5400" dirty="0" smtClean="0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8" name="TextBox 27"/>
          <p:cNvSpPr txBox="1"/>
          <p:nvPr/>
        </p:nvSpPr>
        <p:spPr>
          <a:xfrm>
            <a:off x="7688407" y="4026486"/>
            <a:ext cx="3741593" cy="492443"/>
          </a:xfrm>
          <a:prstGeom prst="rect">
            <a:avLst/>
          </a:prstGeom>
          <a:noFill/>
        </p:spPr>
        <p:txBody>
          <a:bodyPr wrap="square" lIns="0" rIns="0" rtlCol="0">
            <a:spAutoFit/>
          </a:bodyPr>
          <a:p>
            <a:pPr>
              <a:lnSpc>
                <a:spcPct val="130000"/>
              </a:lnSpc>
            </a:pPr>
            <a:r>
              <a:rPr lang="en-US" sz="1000" dirty="0">
                <a:solidFill>
                  <a:schemeClr val="tx1">
                    <a:alpha val="70000"/>
                  </a:schemeClr>
                </a:solidFill>
                <a:latin typeface="微软雅黑" panose="020B0503020204020204" charset="-122"/>
                <a:ea typeface="微软雅黑" panose="020B0503020204020204" charset="-122"/>
              </a:rPr>
              <a:t>A peep at some distant orb has power to raise and purify our thoughts like a strain of sacred </a:t>
            </a:r>
            <a:r>
              <a:rPr lang="en-US" sz="1000" dirty="0" smtClean="0">
                <a:solidFill>
                  <a:schemeClr val="tx1">
                    <a:alpha val="70000"/>
                  </a:schemeClr>
                </a:solidFill>
                <a:latin typeface="微软雅黑" panose="020B0503020204020204" charset="-122"/>
                <a:ea typeface="微软雅黑" panose="020B0503020204020204" charset="-122"/>
              </a:rPr>
              <a:t>music.</a:t>
            </a:r>
            <a:endParaRPr lang="en-US" sz="1000" dirty="0">
              <a:solidFill>
                <a:schemeClr val="tx1">
                  <a:alpha val="70000"/>
                </a:schemeClr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9" name="TextBox 28"/>
          <p:cNvSpPr txBox="1"/>
          <p:nvPr/>
        </p:nvSpPr>
        <p:spPr>
          <a:xfrm>
            <a:off x="7688407" y="3680013"/>
            <a:ext cx="1066800" cy="306705"/>
          </a:xfrm>
          <a:prstGeom prst="rect">
            <a:avLst/>
          </a:prstGeom>
          <a:noFill/>
        </p:spPr>
        <p:txBody>
          <a:bodyPr wrap="none" lIns="0" rIns="0" rtlCol="0">
            <a:spAutoFit/>
          </a:bodyPr>
          <a:p>
            <a:pPr algn="l"/>
            <a:r>
              <a:rPr lang="zh-CN" altLang="en-US" sz="1400" b="1" dirty="0" smtClean="0">
                <a:latin typeface="微软雅黑" panose="020B0503020204020204" charset="-122"/>
                <a:ea typeface="微软雅黑" panose="020B0503020204020204" charset="-122"/>
                <a:cs typeface="Open Sans" panose="020B0606030504020204" charset="0"/>
                <a:sym typeface="+mn-ea"/>
              </a:rPr>
              <a:t>填写你的标题</a:t>
            </a:r>
            <a:endParaRPr lang="en-US" sz="1400" b="1" dirty="0" smtClean="0">
              <a:latin typeface="微软雅黑" panose="020B0503020204020204" charset="-122"/>
              <a:ea typeface="微软雅黑" panose="020B0503020204020204" charset="-122"/>
              <a:cs typeface="Open Sans" panose="020B0606030504020204" charset="0"/>
            </a:endParaRPr>
          </a:p>
        </p:txBody>
      </p:sp>
      <p:sp>
        <p:nvSpPr>
          <p:cNvPr id="30" name="TextBox 29"/>
          <p:cNvSpPr txBox="1"/>
          <p:nvPr/>
        </p:nvSpPr>
        <p:spPr>
          <a:xfrm>
            <a:off x="6661796" y="3543712"/>
            <a:ext cx="856004" cy="923330"/>
          </a:xfrm>
          <a:prstGeom prst="rect">
            <a:avLst/>
          </a:prstGeom>
          <a:noFill/>
        </p:spPr>
        <p:txBody>
          <a:bodyPr wrap="none" lIns="0" rIns="0" rtlCol="0">
            <a:spAutoFit/>
          </a:bodyPr>
          <a:p>
            <a:r>
              <a:rPr lang="en-US" sz="5400" dirty="0" smtClean="0">
                <a:latin typeface="微软雅黑" panose="020B0503020204020204" charset="-122"/>
                <a:ea typeface="微软雅黑" panose="020B0503020204020204" charset="-122"/>
              </a:rPr>
              <a:t>04</a:t>
            </a:r>
            <a:endParaRPr lang="en-US" sz="5400" dirty="0" smtClean="0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1" name="TextBox 20"/>
          <p:cNvSpPr txBox="1"/>
          <p:nvPr/>
        </p:nvSpPr>
        <p:spPr>
          <a:xfrm>
            <a:off x="2354407" y="5257576"/>
            <a:ext cx="3741593" cy="492443"/>
          </a:xfrm>
          <a:prstGeom prst="rect">
            <a:avLst/>
          </a:prstGeom>
          <a:noFill/>
        </p:spPr>
        <p:txBody>
          <a:bodyPr wrap="square" lIns="0" rIns="0" rtlCol="0">
            <a:spAutoFit/>
          </a:bodyPr>
          <a:p>
            <a:pPr>
              <a:lnSpc>
                <a:spcPct val="130000"/>
              </a:lnSpc>
            </a:pPr>
            <a:r>
              <a:rPr lang="en-US" sz="1000" dirty="0">
                <a:solidFill>
                  <a:schemeClr val="tx1">
                    <a:alpha val="70000"/>
                  </a:schemeClr>
                </a:solidFill>
                <a:latin typeface="微软雅黑" panose="020B0503020204020204" charset="-122"/>
                <a:ea typeface="微软雅黑" panose="020B0503020204020204" charset="-122"/>
              </a:rPr>
              <a:t>A peep at some distant orb has power to raise and purify our thoughts like a strain of sacred </a:t>
            </a:r>
            <a:r>
              <a:rPr lang="en-US" sz="1000" dirty="0" smtClean="0">
                <a:solidFill>
                  <a:schemeClr val="tx1">
                    <a:alpha val="70000"/>
                  </a:schemeClr>
                </a:solidFill>
                <a:latin typeface="微软雅黑" panose="020B0503020204020204" charset="-122"/>
                <a:ea typeface="微软雅黑" panose="020B0503020204020204" charset="-122"/>
              </a:rPr>
              <a:t>music.</a:t>
            </a:r>
            <a:endParaRPr lang="en-US" sz="1000" dirty="0">
              <a:solidFill>
                <a:schemeClr val="tx1">
                  <a:alpha val="70000"/>
                </a:schemeClr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31" name="TextBox 30"/>
          <p:cNvSpPr txBox="1"/>
          <p:nvPr/>
        </p:nvSpPr>
        <p:spPr>
          <a:xfrm>
            <a:off x="2354407" y="4911103"/>
            <a:ext cx="1066800" cy="306705"/>
          </a:xfrm>
          <a:prstGeom prst="rect">
            <a:avLst/>
          </a:prstGeom>
          <a:noFill/>
        </p:spPr>
        <p:txBody>
          <a:bodyPr wrap="none" lIns="0" rIns="0" rtlCol="0">
            <a:spAutoFit/>
          </a:bodyPr>
          <a:p>
            <a:pPr algn="l"/>
            <a:r>
              <a:rPr lang="zh-CN" altLang="en-US" sz="1400" b="1" dirty="0" smtClean="0">
                <a:latin typeface="微软雅黑" panose="020B0503020204020204" charset="-122"/>
                <a:ea typeface="微软雅黑" panose="020B0503020204020204" charset="-122"/>
                <a:cs typeface="Open Sans" panose="020B0606030504020204" charset="0"/>
                <a:sym typeface="+mn-ea"/>
              </a:rPr>
              <a:t>填写你的标题</a:t>
            </a:r>
            <a:endParaRPr lang="en-US" sz="1400" b="1" dirty="0" smtClean="0">
              <a:latin typeface="微软雅黑" panose="020B0503020204020204" charset="-122"/>
              <a:ea typeface="微软雅黑" panose="020B0503020204020204" charset="-122"/>
              <a:cs typeface="Open Sans" panose="020B0606030504020204" charset="0"/>
            </a:endParaRPr>
          </a:p>
        </p:txBody>
      </p:sp>
      <p:sp>
        <p:nvSpPr>
          <p:cNvPr id="32" name="TextBox 31"/>
          <p:cNvSpPr txBox="1"/>
          <p:nvPr/>
        </p:nvSpPr>
        <p:spPr>
          <a:xfrm>
            <a:off x="1327796" y="4774802"/>
            <a:ext cx="856004" cy="923330"/>
          </a:xfrm>
          <a:prstGeom prst="rect">
            <a:avLst/>
          </a:prstGeom>
          <a:noFill/>
        </p:spPr>
        <p:txBody>
          <a:bodyPr wrap="none" lIns="0" rIns="0" rtlCol="0">
            <a:spAutoFit/>
          </a:bodyPr>
          <a:p>
            <a:r>
              <a:rPr lang="en-US" sz="5400" dirty="0" smtClean="0">
                <a:latin typeface="微软雅黑" panose="020B0503020204020204" charset="-122"/>
                <a:ea typeface="微软雅黑" panose="020B0503020204020204" charset="-122"/>
              </a:rPr>
              <a:t>05</a:t>
            </a:r>
            <a:endParaRPr lang="en-US" sz="5400" dirty="0" smtClean="0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34" name="TextBox 33"/>
          <p:cNvSpPr txBox="1"/>
          <p:nvPr/>
        </p:nvSpPr>
        <p:spPr>
          <a:xfrm>
            <a:off x="7688407" y="5257576"/>
            <a:ext cx="3741593" cy="492443"/>
          </a:xfrm>
          <a:prstGeom prst="rect">
            <a:avLst/>
          </a:prstGeom>
          <a:noFill/>
        </p:spPr>
        <p:txBody>
          <a:bodyPr wrap="square" lIns="0" rIns="0" rtlCol="0">
            <a:spAutoFit/>
          </a:bodyPr>
          <a:p>
            <a:pPr>
              <a:lnSpc>
                <a:spcPct val="130000"/>
              </a:lnSpc>
            </a:pPr>
            <a:r>
              <a:rPr lang="en-US" sz="1000" dirty="0">
                <a:solidFill>
                  <a:schemeClr val="tx1">
                    <a:alpha val="70000"/>
                  </a:schemeClr>
                </a:solidFill>
                <a:latin typeface="微软雅黑" panose="020B0503020204020204" charset="-122"/>
                <a:ea typeface="微软雅黑" panose="020B0503020204020204" charset="-122"/>
              </a:rPr>
              <a:t>A peep at some distant orb has power to raise and purify our thoughts like a strain of sacred </a:t>
            </a:r>
            <a:r>
              <a:rPr lang="en-US" sz="1000" dirty="0" smtClean="0">
                <a:solidFill>
                  <a:schemeClr val="tx1">
                    <a:alpha val="70000"/>
                  </a:schemeClr>
                </a:solidFill>
                <a:latin typeface="微软雅黑" panose="020B0503020204020204" charset="-122"/>
                <a:ea typeface="微软雅黑" panose="020B0503020204020204" charset="-122"/>
              </a:rPr>
              <a:t>music.</a:t>
            </a:r>
            <a:endParaRPr lang="en-US" sz="1000" dirty="0">
              <a:solidFill>
                <a:schemeClr val="tx1">
                  <a:alpha val="70000"/>
                </a:schemeClr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35" name="TextBox 34"/>
          <p:cNvSpPr txBox="1"/>
          <p:nvPr/>
        </p:nvSpPr>
        <p:spPr>
          <a:xfrm>
            <a:off x="7688407" y="4911103"/>
            <a:ext cx="1066800" cy="306705"/>
          </a:xfrm>
          <a:prstGeom prst="rect">
            <a:avLst/>
          </a:prstGeom>
          <a:noFill/>
        </p:spPr>
        <p:txBody>
          <a:bodyPr wrap="none" lIns="0" rIns="0" rtlCol="0">
            <a:spAutoFit/>
          </a:bodyPr>
          <a:p>
            <a:pPr algn="l"/>
            <a:r>
              <a:rPr lang="zh-CN" altLang="en-US" sz="1400" b="1" dirty="0" smtClean="0">
                <a:latin typeface="微软雅黑" panose="020B0503020204020204" charset="-122"/>
                <a:ea typeface="微软雅黑" panose="020B0503020204020204" charset="-122"/>
                <a:cs typeface="Open Sans" panose="020B0606030504020204" charset="0"/>
                <a:sym typeface="+mn-ea"/>
              </a:rPr>
              <a:t>填写你的标题</a:t>
            </a:r>
            <a:endParaRPr lang="en-US" sz="1400" b="1" dirty="0" smtClean="0">
              <a:latin typeface="微软雅黑" panose="020B0503020204020204" charset="-122"/>
              <a:ea typeface="微软雅黑" panose="020B0503020204020204" charset="-122"/>
              <a:cs typeface="Open Sans" panose="020B0606030504020204" charset="0"/>
            </a:endParaRPr>
          </a:p>
        </p:txBody>
      </p:sp>
      <p:sp>
        <p:nvSpPr>
          <p:cNvPr id="36" name="TextBox 35"/>
          <p:cNvSpPr txBox="1"/>
          <p:nvPr/>
        </p:nvSpPr>
        <p:spPr>
          <a:xfrm>
            <a:off x="6661796" y="4774802"/>
            <a:ext cx="856004" cy="923330"/>
          </a:xfrm>
          <a:prstGeom prst="rect">
            <a:avLst/>
          </a:prstGeom>
          <a:noFill/>
        </p:spPr>
        <p:txBody>
          <a:bodyPr wrap="none" lIns="0" rIns="0" rtlCol="0">
            <a:spAutoFit/>
          </a:bodyPr>
          <a:p>
            <a:r>
              <a:rPr lang="en-US" sz="5400" dirty="0" smtClean="0">
                <a:latin typeface="微软雅黑" panose="020B0503020204020204" charset="-122"/>
                <a:ea typeface="微软雅黑" panose="020B0503020204020204" charset="-122"/>
              </a:rPr>
              <a:t>06</a:t>
            </a:r>
            <a:endParaRPr lang="en-US" sz="5400" dirty="0" smtClean="0">
              <a:latin typeface="微软雅黑" panose="020B0503020204020204" charset="-122"/>
              <a:ea typeface="微软雅黑" panose="020B0503020204020204" charset="-122"/>
            </a:endParaRPr>
          </a:p>
        </p:txBody>
      </p:sp>
      <p:grpSp>
        <p:nvGrpSpPr>
          <p:cNvPr id="3" name="组合 2"/>
          <p:cNvGrpSpPr/>
          <p:nvPr/>
        </p:nvGrpSpPr>
        <p:grpSpPr>
          <a:xfrm>
            <a:off x="2035810" y="582930"/>
            <a:ext cx="8120380" cy="1326515"/>
            <a:chOff x="3206" y="98"/>
            <a:chExt cx="12788" cy="2089"/>
          </a:xfrm>
        </p:grpSpPr>
        <p:sp>
          <p:nvSpPr>
            <p:cNvPr id="4" name="TextBox 8"/>
            <p:cNvSpPr txBox="1"/>
            <p:nvPr/>
          </p:nvSpPr>
          <p:spPr>
            <a:xfrm>
              <a:off x="3206" y="98"/>
              <a:ext cx="12788" cy="1598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p>
              <a:pPr algn="ctr"/>
              <a:r>
                <a:rPr lang="en-US" sz="6000" b="1" spc="600" dirty="0" smtClean="0">
                  <a:solidFill>
                    <a:schemeClr val="bg1">
                      <a:lumMod val="95000"/>
                    </a:schemeClr>
                  </a:solidFill>
                  <a:latin typeface="庞门正道标题体" panose="02010600030101010101" charset="-122"/>
                  <a:ea typeface="庞门正道标题体" panose="02010600030101010101" charset="-122"/>
                  <a:cs typeface="Montserrat" panose="00000500000000000000" pitchFamily="50" charset="0"/>
                </a:rPr>
                <a:t>MINIMALIST</a:t>
              </a:r>
              <a:endParaRPr lang="en-US" sz="6000" b="1" spc="600" dirty="0" smtClean="0">
                <a:solidFill>
                  <a:schemeClr val="bg1">
                    <a:lumMod val="95000"/>
                  </a:schemeClr>
                </a:solidFill>
                <a:latin typeface="庞门正道标题体" panose="02010600030101010101" charset="-122"/>
                <a:ea typeface="庞门正道标题体" panose="02010600030101010101" charset="-122"/>
                <a:cs typeface="Montserrat" panose="00000500000000000000" pitchFamily="50" charset="0"/>
              </a:endParaRPr>
            </a:p>
          </p:txBody>
        </p:sp>
        <p:sp>
          <p:nvSpPr>
            <p:cNvPr id="2" name="TextBox 9"/>
            <p:cNvSpPr txBox="1"/>
            <p:nvPr/>
          </p:nvSpPr>
          <p:spPr>
            <a:xfrm>
              <a:off x="4143" y="653"/>
              <a:ext cx="10932" cy="130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p>
              <a:pPr algn="ctr"/>
              <a:r>
                <a:rPr lang="zh-CN" altLang="zh-CN" sz="4800" b="1" spc="600" dirty="0" smtClean="0">
                  <a:solidFill>
                    <a:schemeClr val="tx1"/>
                  </a:solidFill>
                  <a:latin typeface="方正明尚简体" panose="02000000000000000000" charset="-122"/>
                  <a:ea typeface="方正明尚简体" panose="02000000000000000000" charset="-122"/>
                  <a:cs typeface="Montserrat" panose="00000500000000000000" pitchFamily="50" charset="0"/>
                </a:rPr>
                <a:t>标题</a:t>
              </a:r>
              <a:endParaRPr lang="zh-CN" altLang="zh-CN" sz="4800" b="1" spc="600" dirty="0" smtClean="0">
                <a:solidFill>
                  <a:schemeClr val="tx1"/>
                </a:solidFill>
                <a:latin typeface="方正明尚简体" panose="02000000000000000000" charset="-122"/>
                <a:ea typeface="方正明尚简体" panose="02000000000000000000" charset="-122"/>
                <a:cs typeface="Montserrat" panose="00000500000000000000" pitchFamily="50" charset="0"/>
              </a:endParaRPr>
            </a:p>
          </p:txBody>
        </p:sp>
        <p:sp>
          <p:nvSpPr>
            <p:cNvPr id="7" name="TextBox 12"/>
            <p:cNvSpPr txBox="1"/>
            <p:nvPr/>
          </p:nvSpPr>
          <p:spPr>
            <a:xfrm>
              <a:off x="5681" y="1618"/>
              <a:ext cx="7856" cy="56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p>
              <a:pPr algn="ctr">
                <a:lnSpc>
                  <a:spcPct val="150000"/>
                </a:lnSpc>
              </a:pPr>
              <a:r>
                <a:rPr lang="en-US" baseline="-25000" dirty="0" smtClean="0">
                  <a:latin typeface="Dotum" panose="020B0600000101010101" charset="-127"/>
                  <a:ea typeface="Dotum" panose="020B0600000101010101" charset="-127"/>
                  <a:cs typeface="+mj-lt"/>
                </a:rPr>
                <a:t>minimal presentation template</a:t>
              </a:r>
              <a:endParaRPr lang="en-US" baseline="-25000" dirty="0" smtClean="0">
                <a:latin typeface="Dotum" panose="020B0600000101010101" charset="-127"/>
                <a:ea typeface="Dotum" panose="020B0600000101010101" charset="-127"/>
                <a:cs typeface="+mj-lt"/>
              </a:endParaRPr>
            </a:p>
          </p:txBody>
        </p:sp>
      </p:grp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0"/>
    </mc:Choice>
    <mc:Fallback>
      <p:transition/>
    </mc:Fallback>
  </mc:AlternateContent>
</p:sld>
</file>

<file path=ppt/slides/slide6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6" name="Oval 5"/>
          <p:cNvSpPr/>
          <p:nvPr/>
        </p:nvSpPr>
        <p:spPr>
          <a:xfrm>
            <a:off x="1917269" y="2363755"/>
            <a:ext cx="1424470" cy="1424470"/>
          </a:xfrm>
          <a:prstGeom prst="ellipse">
            <a:avLst/>
          </a:prstGeom>
          <a:solidFill>
            <a:schemeClr val="bg1"/>
          </a:solidFill>
          <a:ln w="63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180000" tIns="180000" rIns="0" bIns="45720" numCol="1" spcCol="0" rtlCol="0" fromWordArt="0" anchor="t" anchorCtr="0" forceAA="0" compatLnSpc="1">
            <a:noAutofit/>
          </a:bodyPr>
          <a:p>
            <a:endParaRPr lang="en-US" sz="1000" dirty="0">
              <a:solidFill>
                <a:schemeClr val="tx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8" name="TextBox 7"/>
          <p:cNvSpPr txBox="1"/>
          <p:nvPr/>
        </p:nvSpPr>
        <p:spPr>
          <a:xfrm>
            <a:off x="1343024" y="4668976"/>
            <a:ext cx="2621038" cy="1092607"/>
          </a:xfrm>
          <a:prstGeom prst="rect">
            <a:avLst/>
          </a:prstGeom>
          <a:noFill/>
        </p:spPr>
        <p:txBody>
          <a:bodyPr wrap="square" lIns="0" rIns="0" rtlCol="0">
            <a:spAutoFit/>
          </a:bodyPr>
          <a:p>
            <a:pPr algn="ctr">
              <a:lnSpc>
                <a:spcPct val="130000"/>
              </a:lnSpc>
            </a:pPr>
            <a:r>
              <a:rPr lang="en-US" sz="1000" dirty="0">
                <a:solidFill>
                  <a:schemeClr val="tx1">
                    <a:alpha val="70000"/>
                  </a:schemeClr>
                </a:solidFill>
                <a:latin typeface="微软雅黑" panose="020B0503020204020204" charset="-122"/>
                <a:ea typeface="微软雅黑" panose="020B0503020204020204" charset="-122"/>
              </a:rPr>
              <a:t>A peep at some distant orb has power to raise and purify our thoughts like a strain of sacred music, or a noble picture, or a passage </a:t>
            </a:r>
            <a:r>
              <a:rPr lang="en-US" sz="1000" dirty="0" smtClean="0">
                <a:solidFill>
                  <a:schemeClr val="tx1">
                    <a:alpha val="70000"/>
                  </a:schemeClr>
                </a:solidFill>
                <a:latin typeface="微软雅黑" panose="020B0503020204020204" charset="-122"/>
                <a:ea typeface="微软雅黑" panose="020B0503020204020204" charset="-122"/>
              </a:rPr>
              <a:t>from</a:t>
            </a:r>
            <a:r>
              <a:rPr lang="en-US" sz="1000" dirty="0">
                <a:solidFill>
                  <a:schemeClr val="tx1">
                    <a:alpha val="70000"/>
                  </a:schemeClr>
                </a:solidFill>
                <a:latin typeface="微软雅黑" panose="020B0503020204020204" charset="-122"/>
                <a:ea typeface="微软雅黑" panose="020B0503020204020204" charset="-122"/>
              </a:rPr>
              <a:t>. A peep at some distant orb has power to raise and </a:t>
            </a:r>
            <a:r>
              <a:rPr lang="en-US" sz="1000" dirty="0" smtClean="0">
                <a:solidFill>
                  <a:schemeClr val="tx1">
                    <a:alpha val="70000"/>
                  </a:schemeClr>
                </a:solidFill>
                <a:latin typeface="微软雅黑" panose="020B0503020204020204" charset="-122"/>
                <a:ea typeface="微软雅黑" panose="020B0503020204020204" charset="-122"/>
              </a:rPr>
              <a:t>purify.</a:t>
            </a:r>
            <a:endParaRPr lang="en-US" sz="1000" dirty="0">
              <a:solidFill>
                <a:schemeClr val="tx1">
                  <a:alpha val="70000"/>
                </a:schemeClr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9" name="TextBox 8"/>
          <p:cNvSpPr txBox="1"/>
          <p:nvPr/>
        </p:nvSpPr>
        <p:spPr>
          <a:xfrm>
            <a:off x="2116335" y="4225040"/>
            <a:ext cx="1074420" cy="306705"/>
          </a:xfrm>
          <a:prstGeom prst="rect">
            <a:avLst/>
          </a:prstGeom>
          <a:noFill/>
        </p:spPr>
        <p:txBody>
          <a:bodyPr wrap="none" lIns="0" rIns="0" rtlCol="0">
            <a:spAutoFit/>
          </a:bodyPr>
          <a:p>
            <a:pPr algn="ctr"/>
            <a:r>
              <a:rPr lang="zh-CN" altLang="en-US" sz="1400" b="1" dirty="0">
                <a:latin typeface="微软雅黑" panose="020B0503020204020204" charset="-122"/>
                <a:ea typeface="微软雅黑" panose="020B0503020204020204" charset="-122"/>
                <a:cs typeface="Open Sans" panose="020B0606030504020204" charset="0"/>
              </a:rPr>
              <a:t>填写你的标题</a:t>
            </a:r>
            <a:endParaRPr lang="zh-CN" altLang="en-US" sz="1400" b="1" dirty="0">
              <a:latin typeface="微软雅黑" panose="020B0503020204020204" charset="-122"/>
              <a:ea typeface="微软雅黑" panose="020B0503020204020204" charset="-122"/>
              <a:cs typeface="Open Sans" panose="020B0606030504020204" charset="0"/>
            </a:endParaRPr>
          </a:p>
        </p:txBody>
      </p:sp>
      <p:cxnSp>
        <p:nvCxnSpPr>
          <p:cNvPr id="10" name="Straight Connector 9"/>
          <p:cNvCxnSpPr/>
          <p:nvPr/>
        </p:nvCxnSpPr>
        <p:spPr>
          <a:xfrm>
            <a:off x="2603000" y="3570841"/>
            <a:ext cx="0" cy="477078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2" name="Lightning Bolt 11"/>
          <p:cNvSpPr/>
          <p:nvPr/>
        </p:nvSpPr>
        <p:spPr>
          <a:xfrm>
            <a:off x="2195946" y="2660073"/>
            <a:ext cx="782782" cy="782782"/>
          </a:xfrm>
          <a:prstGeom prst="mathMultiply">
            <a:avLst/>
          </a:prstGeom>
          <a:solidFill>
            <a:schemeClr val="bg1">
              <a:lumMod val="8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en-US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1" name="TextBox 10"/>
          <p:cNvSpPr txBox="1"/>
          <p:nvPr/>
        </p:nvSpPr>
        <p:spPr>
          <a:xfrm>
            <a:off x="2120745" y="2817871"/>
            <a:ext cx="1017523" cy="523220"/>
          </a:xfrm>
          <a:prstGeom prst="rect">
            <a:avLst/>
          </a:prstGeom>
          <a:noFill/>
        </p:spPr>
        <p:txBody>
          <a:bodyPr wrap="none" lIns="0" rIns="0" rtlCol="0">
            <a:spAutoFit/>
          </a:bodyPr>
          <a:p>
            <a:pPr algn="ctr"/>
            <a:r>
              <a:rPr lang="en-US" sz="1400" b="1" smtClean="0">
                <a:solidFill>
                  <a:schemeClr val="bg1">
                    <a:lumMod val="50000"/>
                  </a:schemeClr>
                </a:solidFill>
                <a:latin typeface="微软雅黑" panose="020B0503020204020204" charset="-122"/>
                <a:ea typeface="微软雅黑" panose="020B0503020204020204" charset="-122"/>
                <a:cs typeface="Open Sans" panose="020B0606030504020204" charset="0"/>
              </a:rPr>
              <a:t>YOUR</a:t>
            </a:r>
            <a:br>
              <a:rPr lang="en-US" sz="1400" b="1" smtClean="0">
                <a:solidFill>
                  <a:schemeClr val="bg1">
                    <a:lumMod val="50000"/>
                  </a:schemeClr>
                </a:solidFill>
                <a:latin typeface="微软雅黑" panose="020B0503020204020204" charset="-122"/>
                <a:ea typeface="微软雅黑" panose="020B0503020204020204" charset="-122"/>
                <a:cs typeface="Open Sans" panose="020B0606030504020204" charset="0"/>
              </a:rPr>
            </a:br>
            <a:r>
              <a:rPr lang="en-US" sz="1400" b="1" smtClean="0">
                <a:solidFill>
                  <a:schemeClr val="bg1">
                    <a:lumMod val="50000"/>
                  </a:schemeClr>
                </a:solidFill>
                <a:latin typeface="微软雅黑" panose="020B0503020204020204" charset="-122"/>
                <a:ea typeface="微软雅黑" panose="020B0503020204020204" charset="-122"/>
                <a:cs typeface="Open Sans" panose="020B0606030504020204" charset="0"/>
              </a:rPr>
              <a:t>LOGO HERE</a:t>
            </a:r>
            <a:endParaRPr lang="en-US" sz="1400" b="1" dirty="0" smtClean="0">
              <a:solidFill>
                <a:schemeClr val="bg1">
                  <a:lumMod val="50000"/>
                </a:schemeClr>
              </a:solidFill>
              <a:latin typeface="微软雅黑" panose="020B0503020204020204" charset="-122"/>
              <a:ea typeface="微软雅黑" panose="020B0503020204020204" charset="-122"/>
              <a:cs typeface="Open Sans" panose="020B0606030504020204" charset="0"/>
            </a:endParaRPr>
          </a:p>
        </p:txBody>
      </p:sp>
      <p:sp>
        <p:nvSpPr>
          <p:cNvPr id="14" name="Oval 13"/>
          <p:cNvSpPr/>
          <p:nvPr/>
        </p:nvSpPr>
        <p:spPr>
          <a:xfrm>
            <a:off x="5408616" y="2363755"/>
            <a:ext cx="1424470" cy="1424470"/>
          </a:xfrm>
          <a:prstGeom prst="ellipse">
            <a:avLst/>
          </a:prstGeom>
          <a:solidFill>
            <a:schemeClr val="bg1"/>
          </a:solidFill>
          <a:ln w="63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180000" tIns="180000" rIns="0" bIns="45720" numCol="1" spcCol="0" rtlCol="0" fromWordArt="0" anchor="t" anchorCtr="0" forceAA="0" compatLnSpc="1">
            <a:noAutofit/>
          </a:bodyPr>
          <a:p>
            <a:endParaRPr lang="en-US" sz="1000" dirty="0">
              <a:solidFill>
                <a:schemeClr val="tx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5" name="TextBox 14"/>
          <p:cNvSpPr txBox="1"/>
          <p:nvPr/>
        </p:nvSpPr>
        <p:spPr>
          <a:xfrm>
            <a:off x="4834371" y="4668976"/>
            <a:ext cx="2621038" cy="1092607"/>
          </a:xfrm>
          <a:prstGeom prst="rect">
            <a:avLst/>
          </a:prstGeom>
          <a:noFill/>
        </p:spPr>
        <p:txBody>
          <a:bodyPr wrap="square" lIns="0" rIns="0" rtlCol="0">
            <a:spAutoFit/>
          </a:bodyPr>
          <a:p>
            <a:pPr algn="ctr">
              <a:lnSpc>
                <a:spcPct val="130000"/>
              </a:lnSpc>
            </a:pPr>
            <a:r>
              <a:rPr lang="en-US" sz="1000" dirty="0">
                <a:solidFill>
                  <a:schemeClr val="tx1">
                    <a:alpha val="70000"/>
                  </a:schemeClr>
                </a:solidFill>
                <a:latin typeface="微软雅黑" panose="020B0503020204020204" charset="-122"/>
                <a:ea typeface="微软雅黑" panose="020B0503020204020204" charset="-122"/>
              </a:rPr>
              <a:t>A peep at some distant orb has power to raise and purify our thoughts like a strain of sacred music, or a noble picture, or a passage </a:t>
            </a:r>
            <a:r>
              <a:rPr lang="en-US" sz="1000" dirty="0" smtClean="0">
                <a:solidFill>
                  <a:schemeClr val="tx1">
                    <a:alpha val="70000"/>
                  </a:schemeClr>
                </a:solidFill>
                <a:latin typeface="微软雅黑" panose="020B0503020204020204" charset="-122"/>
                <a:ea typeface="微软雅黑" panose="020B0503020204020204" charset="-122"/>
              </a:rPr>
              <a:t>from</a:t>
            </a:r>
            <a:r>
              <a:rPr lang="en-US" sz="1000" dirty="0">
                <a:solidFill>
                  <a:schemeClr val="tx1">
                    <a:alpha val="70000"/>
                  </a:schemeClr>
                </a:solidFill>
                <a:latin typeface="微软雅黑" panose="020B0503020204020204" charset="-122"/>
                <a:ea typeface="微软雅黑" panose="020B0503020204020204" charset="-122"/>
              </a:rPr>
              <a:t>. A peep at some distant orb has power to raise and </a:t>
            </a:r>
            <a:r>
              <a:rPr lang="en-US" sz="1000" dirty="0" smtClean="0">
                <a:solidFill>
                  <a:schemeClr val="tx1">
                    <a:alpha val="70000"/>
                  </a:schemeClr>
                </a:solidFill>
                <a:latin typeface="微软雅黑" panose="020B0503020204020204" charset="-122"/>
                <a:ea typeface="微软雅黑" panose="020B0503020204020204" charset="-122"/>
              </a:rPr>
              <a:t>purify.</a:t>
            </a:r>
            <a:endParaRPr lang="en-US" sz="1000" dirty="0">
              <a:solidFill>
                <a:schemeClr val="tx1">
                  <a:alpha val="70000"/>
                </a:schemeClr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6" name="TextBox 15"/>
          <p:cNvSpPr txBox="1"/>
          <p:nvPr/>
        </p:nvSpPr>
        <p:spPr>
          <a:xfrm>
            <a:off x="5607682" y="4225040"/>
            <a:ext cx="1074420" cy="306705"/>
          </a:xfrm>
          <a:prstGeom prst="rect">
            <a:avLst/>
          </a:prstGeom>
          <a:noFill/>
        </p:spPr>
        <p:txBody>
          <a:bodyPr wrap="none" lIns="0" rIns="0" rtlCol="0">
            <a:spAutoFit/>
          </a:bodyPr>
          <a:p>
            <a:pPr algn="ctr"/>
            <a:r>
              <a:rPr lang="zh-CN" altLang="en-US" sz="1400" b="1" dirty="0">
                <a:latin typeface="微软雅黑" panose="020B0503020204020204" charset="-122"/>
                <a:ea typeface="微软雅黑" panose="020B0503020204020204" charset="-122"/>
                <a:cs typeface="Open Sans" panose="020B0606030504020204" charset="0"/>
                <a:sym typeface="+mn-ea"/>
              </a:rPr>
              <a:t>填写你的标题</a:t>
            </a:r>
            <a:endParaRPr lang="zh-CN" altLang="en-US" sz="1400" b="1" dirty="0">
              <a:latin typeface="微软雅黑" panose="020B0503020204020204" charset="-122"/>
              <a:ea typeface="微软雅黑" panose="020B0503020204020204" charset="-122"/>
              <a:cs typeface="Open Sans" panose="020B0606030504020204" charset="0"/>
              <a:sym typeface="+mn-ea"/>
            </a:endParaRPr>
          </a:p>
        </p:txBody>
      </p:sp>
      <p:cxnSp>
        <p:nvCxnSpPr>
          <p:cNvPr id="17" name="Straight Connector 16"/>
          <p:cNvCxnSpPr/>
          <p:nvPr/>
        </p:nvCxnSpPr>
        <p:spPr>
          <a:xfrm>
            <a:off x="6094347" y="3570841"/>
            <a:ext cx="0" cy="477078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8" name="Lightning Bolt 17"/>
          <p:cNvSpPr/>
          <p:nvPr/>
        </p:nvSpPr>
        <p:spPr>
          <a:xfrm>
            <a:off x="5687293" y="2660073"/>
            <a:ext cx="782782" cy="782782"/>
          </a:xfrm>
          <a:prstGeom prst="mathMultiply">
            <a:avLst/>
          </a:prstGeom>
          <a:solidFill>
            <a:schemeClr val="bg1">
              <a:lumMod val="8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en-US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9" name="TextBox 18"/>
          <p:cNvSpPr txBox="1"/>
          <p:nvPr/>
        </p:nvSpPr>
        <p:spPr>
          <a:xfrm>
            <a:off x="5612092" y="2817871"/>
            <a:ext cx="1017523" cy="523220"/>
          </a:xfrm>
          <a:prstGeom prst="rect">
            <a:avLst/>
          </a:prstGeom>
          <a:noFill/>
        </p:spPr>
        <p:txBody>
          <a:bodyPr wrap="none" lIns="0" rIns="0" rtlCol="0">
            <a:spAutoFit/>
          </a:bodyPr>
          <a:p>
            <a:pPr algn="ctr"/>
            <a:r>
              <a:rPr lang="en-US" sz="1400" b="1" smtClean="0">
                <a:solidFill>
                  <a:schemeClr val="bg1">
                    <a:lumMod val="50000"/>
                  </a:schemeClr>
                </a:solidFill>
                <a:latin typeface="微软雅黑" panose="020B0503020204020204" charset="-122"/>
                <a:ea typeface="微软雅黑" panose="020B0503020204020204" charset="-122"/>
                <a:cs typeface="Open Sans" panose="020B0606030504020204" charset="0"/>
              </a:rPr>
              <a:t>YOUR</a:t>
            </a:r>
            <a:br>
              <a:rPr lang="en-US" sz="1400" b="1" smtClean="0">
                <a:solidFill>
                  <a:schemeClr val="bg1">
                    <a:lumMod val="50000"/>
                  </a:schemeClr>
                </a:solidFill>
                <a:latin typeface="微软雅黑" panose="020B0503020204020204" charset="-122"/>
                <a:ea typeface="微软雅黑" panose="020B0503020204020204" charset="-122"/>
                <a:cs typeface="Open Sans" panose="020B0606030504020204" charset="0"/>
              </a:rPr>
            </a:br>
            <a:r>
              <a:rPr lang="en-US" sz="1400" b="1" smtClean="0">
                <a:solidFill>
                  <a:schemeClr val="bg1">
                    <a:lumMod val="50000"/>
                  </a:schemeClr>
                </a:solidFill>
                <a:latin typeface="微软雅黑" panose="020B0503020204020204" charset="-122"/>
                <a:ea typeface="微软雅黑" panose="020B0503020204020204" charset="-122"/>
                <a:cs typeface="Open Sans" panose="020B0606030504020204" charset="0"/>
              </a:rPr>
              <a:t>LOGO HERE</a:t>
            </a:r>
            <a:endParaRPr lang="en-US" sz="1400" b="1" dirty="0" smtClean="0">
              <a:solidFill>
                <a:schemeClr val="bg1">
                  <a:lumMod val="50000"/>
                </a:schemeClr>
              </a:solidFill>
              <a:latin typeface="微软雅黑" panose="020B0503020204020204" charset="-122"/>
              <a:ea typeface="微软雅黑" panose="020B0503020204020204" charset="-122"/>
              <a:cs typeface="Open Sans" panose="020B0606030504020204" charset="0"/>
            </a:endParaRPr>
          </a:p>
        </p:txBody>
      </p:sp>
      <p:sp>
        <p:nvSpPr>
          <p:cNvPr id="21" name="Oval 20"/>
          <p:cNvSpPr/>
          <p:nvPr/>
        </p:nvSpPr>
        <p:spPr>
          <a:xfrm>
            <a:off x="8899962" y="2363755"/>
            <a:ext cx="1424470" cy="1424470"/>
          </a:xfrm>
          <a:prstGeom prst="ellipse">
            <a:avLst/>
          </a:prstGeom>
          <a:solidFill>
            <a:schemeClr val="bg1"/>
          </a:solidFill>
          <a:ln w="63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180000" tIns="180000" rIns="0" bIns="45720" numCol="1" spcCol="0" rtlCol="0" fromWordArt="0" anchor="t" anchorCtr="0" forceAA="0" compatLnSpc="1">
            <a:noAutofit/>
          </a:bodyPr>
          <a:p>
            <a:endParaRPr lang="en-US" sz="1000" dirty="0">
              <a:solidFill>
                <a:schemeClr val="tx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2" name="TextBox 21"/>
          <p:cNvSpPr txBox="1"/>
          <p:nvPr/>
        </p:nvSpPr>
        <p:spPr>
          <a:xfrm>
            <a:off x="8325717" y="4668976"/>
            <a:ext cx="2621038" cy="1092607"/>
          </a:xfrm>
          <a:prstGeom prst="rect">
            <a:avLst/>
          </a:prstGeom>
          <a:noFill/>
        </p:spPr>
        <p:txBody>
          <a:bodyPr wrap="square" lIns="0" rIns="0" rtlCol="0">
            <a:spAutoFit/>
          </a:bodyPr>
          <a:p>
            <a:pPr algn="ctr">
              <a:lnSpc>
                <a:spcPct val="130000"/>
              </a:lnSpc>
            </a:pPr>
            <a:r>
              <a:rPr lang="en-US" sz="1000" dirty="0">
                <a:solidFill>
                  <a:schemeClr val="tx1">
                    <a:alpha val="70000"/>
                  </a:schemeClr>
                </a:solidFill>
                <a:latin typeface="微软雅黑" panose="020B0503020204020204" charset="-122"/>
                <a:ea typeface="微软雅黑" panose="020B0503020204020204" charset="-122"/>
              </a:rPr>
              <a:t>A peep at some distant orb has power to raise and purify our thoughts like a strain of sacred music, or a noble picture, or a passage </a:t>
            </a:r>
            <a:r>
              <a:rPr lang="en-US" sz="1000" dirty="0" smtClean="0">
                <a:solidFill>
                  <a:schemeClr val="tx1">
                    <a:alpha val="70000"/>
                  </a:schemeClr>
                </a:solidFill>
                <a:latin typeface="微软雅黑" panose="020B0503020204020204" charset="-122"/>
                <a:ea typeface="微软雅黑" panose="020B0503020204020204" charset="-122"/>
              </a:rPr>
              <a:t>from</a:t>
            </a:r>
            <a:r>
              <a:rPr lang="en-US" sz="1000" dirty="0">
                <a:solidFill>
                  <a:schemeClr val="tx1">
                    <a:alpha val="70000"/>
                  </a:schemeClr>
                </a:solidFill>
                <a:latin typeface="微软雅黑" panose="020B0503020204020204" charset="-122"/>
                <a:ea typeface="微软雅黑" panose="020B0503020204020204" charset="-122"/>
              </a:rPr>
              <a:t>. A peep at some distant orb has power to raise and </a:t>
            </a:r>
            <a:r>
              <a:rPr lang="en-US" sz="1000" dirty="0" smtClean="0">
                <a:solidFill>
                  <a:schemeClr val="tx1">
                    <a:alpha val="70000"/>
                  </a:schemeClr>
                </a:solidFill>
                <a:latin typeface="微软雅黑" panose="020B0503020204020204" charset="-122"/>
                <a:ea typeface="微软雅黑" panose="020B0503020204020204" charset="-122"/>
              </a:rPr>
              <a:t>purify.</a:t>
            </a:r>
            <a:endParaRPr lang="en-US" sz="1000" dirty="0">
              <a:solidFill>
                <a:schemeClr val="tx1">
                  <a:alpha val="70000"/>
                </a:schemeClr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3" name="TextBox 22"/>
          <p:cNvSpPr txBox="1"/>
          <p:nvPr/>
        </p:nvSpPr>
        <p:spPr>
          <a:xfrm>
            <a:off x="9099028" y="4225040"/>
            <a:ext cx="1074420" cy="306705"/>
          </a:xfrm>
          <a:prstGeom prst="rect">
            <a:avLst/>
          </a:prstGeom>
          <a:noFill/>
        </p:spPr>
        <p:txBody>
          <a:bodyPr wrap="none" lIns="0" rIns="0" rtlCol="0">
            <a:spAutoFit/>
          </a:bodyPr>
          <a:p>
            <a:pPr algn="ctr"/>
            <a:r>
              <a:rPr lang="zh-CN" altLang="en-US" sz="1400" b="1" dirty="0">
                <a:latin typeface="微软雅黑" panose="020B0503020204020204" charset="-122"/>
                <a:ea typeface="微软雅黑" panose="020B0503020204020204" charset="-122"/>
                <a:cs typeface="Open Sans" panose="020B0606030504020204" charset="0"/>
                <a:sym typeface="+mn-ea"/>
              </a:rPr>
              <a:t>填写你的标题</a:t>
            </a:r>
            <a:endParaRPr lang="zh-CN" altLang="en-US" sz="1400" b="1" dirty="0">
              <a:latin typeface="微软雅黑" panose="020B0503020204020204" charset="-122"/>
              <a:ea typeface="微软雅黑" panose="020B0503020204020204" charset="-122"/>
              <a:cs typeface="Open Sans" panose="020B0606030504020204" charset="0"/>
              <a:sym typeface="+mn-ea"/>
            </a:endParaRPr>
          </a:p>
        </p:txBody>
      </p:sp>
      <p:cxnSp>
        <p:nvCxnSpPr>
          <p:cNvPr id="24" name="Straight Connector 23"/>
          <p:cNvCxnSpPr/>
          <p:nvPr/>
        </p:nvCxnSpPr>
        <p:spPr>
          <a:xfrm>
            <a:off x="9585693" y="3570841"/>
            <a:ext cx="0" cy="477078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5" name="Lightning Bolt 24"/>
          <p:cNvSpPr/>
          <p:nvPr/>
        </p:nvSpPr>
        <p:spPr>
          <a:xfrm>
            <a:off x="9178639" y="2660073"/>
            <a:ext cx="782782" cy="782782"/>
          </a:xfrm>
          <a:prstGeom prst="mathMultiply">
            <a:avLst/>
          </a:prstGeom>
          <a:solidFill>
            <a:schemeClr val="bg1">
              <a:lumMod val="8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en-US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6" name="TextBox 25"/>
          <p:cNvSpPr txBox="1"/>
          <p:nvPr/>
        </p:nvSpPr>
        <p:spPr>
          <a:xfrm>
            <a:off x="9103438" y="2817871"/>
            <a:ext cx="1017523" cy="523220"/>
          </a:xfrm>
          <a:prstGeom prst="rect">
            <a:avLst/>
          </a:prstGeom>
          <a:noFill/>
        </p:spPr>
        <p:txBody>
          <a:bodyPr wrap="none" lIns="0" rIns="0" rtlCol="0">
            <a:spAutoFit/>
          </a:bodyPr>
          <a:p>
            <a:pPr algn="ctr"/>
            <a:r>
              <a:rPr lang="en-US" sz="1400" b="1" smtClean="0">
                <a:solidFill>
                  <a:schemeClr val="bg1">
                    <a:lumMod val="50000"/>
                  </a:schemeClr>
                </a:solidFill>
                <a:latin typeface="微软雅黑" panose="020B0503020204020204" charset="-122"/>
                <a:ea typeface="微软雅黑" panose="020B0503020204020204" charset="-122"/>
                <a:cs typeface="Open Sans" panose="020B0606030504020204" charset="0"/>
              </a:rPr>
              <a:t>YOUR</a:t>
            </a:r>
            <a:br>
              <a:rPr lang="en-US" sz="1400" b="1" smtClean="0">
                <a:solidFill>
                  <a:schemeClr val="bg1">
                    <a:lumMod val="50000"/>
                  </a:schemeClr>
                </a:solidFill>
                <a:latin typeface="微软雅黑" panose="020B0503020204020204" charset="-122"/>
                <a:ea typeface="微软雅黑" panose="020B0503020204020204" charset="-122"/>
                <a:cs typeface="Open Sans" panose="020B0606030504020204" charset="0"/>
              </a:rPr>
            </a:br>
            <a:r>
              <a:rPr lang="en-US" sz="1400" b="1" smtClean="0">
                <a:solidFill>
                  <a:schemeClr val="bg1">
                    <a:lumMod val="50000"/>
                  </a:schemeClr>
                </a:solidFill>
                <a:latin typeface="微软雅黑" panose="020B0503020204020204" charset="-122"/>
                <a:ea typeface="微软雅黑" panose="020B0503020204020204" charset="-122"/>
                <a:cs typeface="Open Sans" panose="020B0606030504020204" charset="0"/>
              </a:rPr>
              <a:t>LOGO HERE</a:t>
            </a:r>
            <a:endParaRPr lang="en-US" sz="1400" b="1" dirty="0" smtClean="0">
              <a:solidFill>
                <a:schemeClr val="bg1">
                  <a:lumMod val="50000"/>
                </a:schemeClr>
              </a:solidFill>
              <a:latin typeface="微软雅黑" panose="020B0503020204020204" charset="-122"/>
              <a:ea typeface="微软雅黑" panose="020B0503020204020204" charset="-122"/>
              <a:cs typeface="Open Sans" panose="020B0606030504020204" charset="0"/>
            </a:endParaRPr>
          </a:p>
        </p:txBody>
      </p:sp>
      <p:grpSp>
        <p:nvGrpSpPr>
          <p:cNvPr id="3" name="组合 2"/>
          <p:cNvGrpSpPr/>
          <p:nvPr/>
        </p:nvGrpSpPr>
        <p:grpSpPr>
          <a:xfrm>
            <a:off x="2035810" y="582930"/>
            <a:ext cx="8120380" cy="1326515"/>
            <a:chOff x="3206" y="98"/>
            <a:chExt cx="12788" cy="2089"/>
          </a:xfrm>
        </p:grpSpPr>
        <p:sp>
          <p:nvSpPr>
            <p:cNvPr id="4" name="TextBox 8"/>
            <p:cNvSpPr txBox="1"/>
            <p:nvPr/>
          </p:nvSpPr>
          <p:spPr>
            <a:xfrm>
              <a:off x="3206" y="98"/>
              <a:ext cx="12788" cy="1598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p>
              <a:pPr algn="ctr"/>
              <a:r>
                <a:rPr lang="en-US" sz="6000" b="1" spc="600" dirty="0" smtClean="0">
                  <a:solidFill>
                    <a:schemeClr val="bg1">
                      <a:lumMod val="95000"/>
                    </a:schemeClr>
                  </a:solidFill>
                  <a:latin typeface="庞门正道标题体" panose="02010600030101010101" charset="-122"/>
                  <a:ea typeface="庞门正道标题体" panose="02010600030101010101" charset="-122"/>
                  <a:cs typeface="Montserrat" panose="00000500000000000000" pitchFamily="50" charset="0"/>
                </a:rPr>
                <a:t>MINIMALIST</a:t>
              </a:r>
              <a:endParaRPr lang="en-US" sz="6000" b="1" spc="600" dirty="0" smtClean="0">
                <a:solidFill>
                  <a:schemeClr val="bg1">
                    <a:lumMod val="95000"/>
                  </a:schemeClr>
                </a:solidFill>
                <a:latin typeface="庞门正道标题体" panose="02010600030101010101" charset="-122"/>
                <a:ea typeface="庞门正道标题体" panose="02010600030101010101" charset="-122"/>
                <a:cs typeface="Montserrat" panose="00000500000000000000" pitchFamily="50" charset="0"/>
              </a:endParaRPr>
            </a:p>
          </p:txBody>
        </p:sp>
        <p:sp>
          <p:nvSpPr>
            <p:cNvPr id="2" name="TextBox 9"/>
            <p:cNvSpPr txBox="1"/>
            <p:nvPr/>
          </p:nvSpPr>
          <p:spPr>
            <a:xfrm>
              <a:off x="4143" y="653"/>
              <a:ext cx="10932" cy="130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p>
              <a:pPr algn="ctr"/>
              <a:r>
                <a:rPr lang="zh-CN" altLang="zh-CN" sz="4800" b="1" spc="600" dirty="0" smtClean="0">
                  <a:solidFill>
                    <a:schemeClr val="tx1"/>
                  </a:solidFill>
                  <a:latin typeface="方正明尚简体" panose="02000000000000000000" charset="-122"/>
                  <a:ea typeface="方正明尚简体" panose="02000000000000000000" charset="-122"/>
                  <a:cs typeface="Montserrat" panose="00000500000000000000" pitchFamily="50" charset="0"/>
                </a:rPr>
                <a:t>标题</a:t>
              </a:r>
              <a:endParaRPr lang="zh-CN" altLang="zh-CN" sz="4800" b="1" spc="600" dirty="0" smtClean="0">
                <a:solidFill>
                  <a:schemeClr val="tx1"/>
                </a:solidFill>
                <a:latin typeface="方正明尚简体" panose="02000000000000000000" charset="-122"/>
                <a:ea typeface="方正明尚简体" panose="02000000000000000000" charset="-122"/>
                <a:cs typeface="Montserrat" panose="00000500000000000000" pitchFamily="50" charset="0"/>
              </a:endParaRPr>
            </a:p>
          </p:txBody>
        </p:sp>
        <p:sp>
          <p:nvSpPr>
            <p:cNvPr id="7" name="TextBox 12"/>
            <p:cNvSpPr txBox="1"/>
            <p:nvPr/>
          </p:nvSpPr>
          <p:spPr>
            <a:xfrm>
              <a:off x="5681" y="1618"/>
              <a:ext cx="7856" cy="56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p>
              <a:pPr algn="ctr">
                <a:lnSpc>
                  <a:spcPct val="150000"/>
                </a:lnSpc>
              </a:pPr>
              <a:r>
                <a:rPr lang="en-US" baseline="-25000" dirty="0" smtClean="0">
                  <a:latin typeface="Dotum" panose="020B0600000101010101" charset="-127"/>
                  <a:ea typeface="Dotum" panose="020B0600000101010101" charset="-127"/>
                  <a:cs typeface="+mj-lt"/>
                </a:rPr>
                <a:t>minimal presentation template</a:t>
              </a:r>
              <a:endParaRPr lang="en-US" baseline="-25000" dirty="0" smtClean="0">
                <a:latin typeface="Dotum" panose="020B0600000101010101" charset="-127"/>
                <a:ea typeface="Dotum" panose="020B0600000101010101" charset="-127"/>
                <a:cs typeface="+mj-lt"/>
              </a:endParaRPr>
            </a:p>
          </p:txBody>
        </p:sp>
      </p:grp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0"/>
    </mc:Choice>
    <mc:Fallback>
      <p:transition/>
    </mc:Fallback>
  </mc:AlternateContent>
</p:sld>
</file>

<file path=ppt/slides/slide6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3" name="TextBox 8"/>
          <p:cNvSpPr txBox="1"/>
          <p:nvPr/>
        </p:nvSpPr>
        <p:spPr>
          <a:xfrm>
            <a:off x="-352107" y="1611517"/>
            <a:ext cx="12896215" cy="229933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pPr algn="ctr"/>
            <a:r>
              <a:rPr lang="en-US" sz="14350" b="1" spc="600" dirty="0" smtClean="0">
                <a:solidFill>
                  <a:srgbClr val="F7F7F7"/>
                </a:solidFill>
                <a:latin typeface="庞门正道标题体" panose="02010600030101010101" charset="-122"/>
                <a:ea typeface="庞门正道标题体" panose="02010600030101010101" charset="-122"/>
                <a:cs typeface="Montserrat" panose="00000500000000000000" pitchFamily="50" charset="0"/>
              </a:rPr>
              <a:t>MINIMALIST</a:t>
            </a:r>
            <a:endParaRPr lang="en-US" sz="14350" b="1" spc="600" dirty="0" smtClean="0">
              <a:solidFill>
                <a:srgbClr val="F7F7F7"/>
              </a:solidFill>
              <a:latin typeface="庞门正道标题体" panose="02010600030101010101" charset="-122"/>
              <a:ea typeface="庞门正道标题体" panose="02010600030101010101" charset="-122"/>
              <a:cs typeface="Montserrat" panose="00000500000000000000" pitchFamily="50" charset="0"/>
            </a:endParaRPr>
          </a:p>
        </p:txBody>
      </p:sp>
      <p:sp>
        <p:nvSpPr>
          <p:cNvPr id="4" name="TextBox 9"/>
          <p:cNvSpPr txBox="1"/>
          <p:nvPr/>
        </p:nvSpPr>
        <p:spPr>
          <a:xfrm>
            <a:off x="2630577" y="2421142"/>
            <a:ext cx="6941730" cy="132207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pPr algn="ctr"/>
            <a:r>
              <a:rPr lang="zh-CN" altLang="en-US" sz="8000" b="1" spc="600" dirty="0" smtClean="0">
                <a:solidFill>
                  <a:schemeClr val="tx1"/>
                </a:solidFill>
                <a:latin typeface="方正明尚简体" panose="02000000000000000000" charset="-122"/>
                <a:ea typeface="方正明尚简体" panose="02000000000000000000" charset="-122"/>
                <a:cs typeface="Montserrat" panose="00000500000000000000" pitchFamily="50" charset="0"/>
              </a:rPr>
              <a:t>第三章节</a:t>
            </a:r>
            <a:endParaRPr lang="zh-CN" altLang="en-US" sz="8000" b="1" spc="600" dirty="0" smtClean="0">
              <a:solidFill>
                <a:schemeClr val="tx1"/>
              </a:solidFill>
              <a:latin typeface="方正明尚简体" panose="02000000000000000000" charset="-122"/>
              <a:ea typeface="方正明尚简体" panose="02000000000000000000" charset="-122"/>
              <a:cs typeface="Montserrat" panose="00000500000000000000" pitchFamily="50" charset="0"/>
            </a:endParaRPr>
          </a:p>
        </p:txBody>
      </p:sp>
      <p:sp>
        <p:nvSpPr>
          <p:cNvPr id="5" name="TextBox 12"/>
          <p:cNvSpPr txBox="1"/>
          <p:nvPr/>
        </p:nvSpPr>
        <p:spPr>
          <a:xfrm>
            <a:off x="3607261" y="3592841"/>
            <a:ext cx="4988364" cy="49593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pPr algn="ctr">
              <a:lnSpc>
                <a:spcPct val="150000"/>
              </a:lnSpc>
            </a:pPr>
            <a:r>
              <a:rPr lang="en-US" sz="2700" baseline="-25000" dirty="0" smtClean="0">
                <a:latin typeface="Dotum" panose="020B0600000101010101" charset="-127"/>
                <a:ea typeface="Dotum" panose="020B0600000101010101" charset="-127"/>
                <a:cs typeface="+mj-lt"/>
              </a:rPr>
              <a:t>minimal presentation template</a:t>
            </a:r>
            <a:endParaRPr lang="en-US" sz="2700" baseline="-25000" dirty="0" smtClean="0">
              <a:latin typeface="Dotum" panose="020B0600000101010101" charset="-127"/>
              <a:ea typeface="Dotum" panose="020B0600000101010101" charset="-127"/>
              <a:cs typeface="+mj-lt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0"/>
    </mc:Choice>
    <mc:Fallback>
      <p:transition/>
    </mc:Fallback>
  </mc:AlternateContent>
</p:sld>
</file>

<file path=ppt/slides/slide7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6" name="Rectangle 5"/>
          <p:cNvSpPr/>
          <p:nvPr/>
        </p:nvSpPr>
        <p:spPr>
          <a:xfrm>
            <a:off x="1343025" y="2536171"/>
            <a:ext cx="2151910" cy="3485137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288000" tIns="0" rIns="251999" bIns="288000" numCol="1" spcCol="0" rtlCol="0" fromWordArt="0" anchor="b" anchorCtr="0" forceAA="0" compatLnSpc="1">
            <a:noAutofit/>
          </a:bodyPr>
          <a:p>
            <a:r>
              <a:rPr lang="en-US" sz="3600" b="1" dirty="0" smtClean="0">
                <a:solidFill>
                  <a:schemeClr val="tx1"/>
                </a:solidFill>
                <a:latin typeface="+mj-lt"/>
                <a:ea typeface="Open Sans SemiBold" panose="020B0706030804020204" charset="0"/>
                <a:cs typeface="Open Sans SemiBold" panose="020B0706030804020204" charset="0"/>
              </a:rPr>
              <a:t>01</a:t>
            </a:r>
            <a:endParaRPr lang="en-US" sz="3600" b="1" dirty="0" smtClean="0">
              <a:solidFill>
                <a:schemeClr val="tx1"/>
              </a:solidFill>
              <a:latin typeface="+mj-lt"/>
              <a:ea typeface="Open Sans SemiBold" panose="020B0706030804020204" charset="0"/>
              <a:cs typeface="Open Sans SemiBold" panose="020B0706030804020204" charset="0"/>
            </a:endParaRPr>
          </a:p>
          <a:p>
            <a:endParaRPr lang="en-US" sz="1200" b="1" dirty="0" smtClean="0">
              <a:solidFill>
                <a:schemeClr val="tx1"/>
              </a:solidFill>
              <a:latin typeface="Open Sans SemiBold" panose="020B0706030804020204" charset="0"/>
              <a:ea typeface="Open Sans SemiBold" panose="020B0706030804020204" charset="0"/>
              <a:cs typeface="Open Sans SemiBold" panose="020B0706030804020204" charset="0"/>
            </a:endParaRPr>
          </a:p>
          <a:p>
            <a:r>
              <a:rPr lang="zh-CN" altLang="en-US" sz="1200" b="1" dirty="0" smtClean="0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  <a:cs typeface="Open Sans SemiBold" panose="020B0706030804020204" charset="0"/>
                <a:sym typeface="+mn-ea"/>
              </a:rPr>
              <a:t>填写你的标题</a:t>
            </a:r>
            <a:endParaRPr lang="zh-CN" altLang="en-US" sz="1200" b="1" dirty="0" smtClean="0">
              <a:solidFill>
                <a:schemeClr val="tx1"/>
              </a:solidFill>
              <a:latin typeface="微软雅黑" panose="020B0503020204020204" charset="-122"/>
              <a:ea typeface="微软雅黑" panose="020B0503020204020204" charset="-122"/>
              <a:cs typeface="Open Sans SemiBold" panose="020B0706030804020204" charset="0"/>
              <a:sym typeface="+mn-ea"/>
            </a:endParaRPr>
          </a:p>
          <a:p>
            <a:endParaRPr lang="zh-CN" altLang="en-US" sz="1200" b="1" dirty="0" smtClean="0">
              <a:solidFill>
                <a:schemeClr val="tx1"/>
              </a:solidFill>
              <a:latin typeface="微软雅黑" panose="020B0503020204020204" charset="-122"/>
              <a:ea typeface="微软雅黑" panose="020B0503020204020204" charset="-122"/>
              <a:cs typeface="Open Sans SemiBold" panose="020B0706030804020204" charset="0"/>
              <a:sym typeface="+mn-ea"/>
            </a:endParaRPr>
          </a:p>
          <a:p>
            <a:r>
              <a:rPr lang="zh-CN" altLang="en-US" sz="1200" b="1" dirty="0" smtClean="0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  <a:cs typeface="Open Sans SemiBold" panose="020B0706030804020204" charset="0"/>
                <a:sym typeface="+mn-ea"/>
              </a:rPr>
              <a:t>值得描述的小标题</a:t>
            </a:r>
            <a:endParaRPr lang="en-US" sz="1200" b="1" dirty="0" smtClean="0">
              <a:solidFill>
                <a:schemeClr val="tx1"/>
              </a:solidFill>
              <a:latin typeface="Open Sans SemiBold" panose="020B0706030804020204" charset="0"/>
              <a:ea typeface="Open Sans SemiBold" panose="020B0706030804020204" charset="0"/>
              <a:cs typeface="Open Sans SemiBold" panose="020B0706030804020204" charset="0"/>
            </a:endParaRPr>
          </a:p>
          <a:p>
            <a:pPr>
              <a:lnSpc>
                <a:spcPct val="130000"/>
              </a:lnSpc>
            </a:pPr>
            <a:endParaRPr lang="en-US" sz="1200" b="1" dirty="0" smtClean="0">
              <a:solidFill>
                <a:schemeClr val="tx1"/>
              </a:solidFill>
              <a:latin typeface="Open Sans SemiBold" panose="020B0706030804020204" charset="0"/>
              <a:ea typeface="Open Sans SemiBold" panose="020B0706030804020204" charset="0"/>
              <a:cs typeface="Open Sans SemiBold" panose="020B0706030804020204" charset="0"/>
            </a:endParaRPr>
          </a:p>
          <a:p>
            <a:pPr>
              <a:lnSpc>
                <a:spcPct val="130000"/>
              </a:lnSpc>
            </a:pPr>
            <a:r>
              <a:rPr lang="en-US" sz="1000" dirty="0">
                <a:solidFill>
                  <a:schemeClr val="tx1">
                    <a:alpha val="70000"/>
                  </a:schemeClr>
                </a:solidFill>
              </a:rPr>
              <a:t>A peep at some distant orb has power to raise and purify our thoughts like a strain of sacred music, or a noble picture, or a passage from. </a:t>
            </a:r>
            <a:endParaRPr lang="en-US" sz="1000" dirty="0">
              <a:solidFill>
                <a:schemeClr val="tx1">
                  <a:alpha val="70000"/>
                </a:schemeClr>
              </a:solidFill>
            </a:endParaRPr>
          </a:p>
        </p:txBody>
      </p:sp>
      <p:grpSp>
        <p:nvGrpSpPr>
          <p:cNvPr id="7" name="Group 6"/>
          <p:cNvGrpSpPr/>
          <p:nvPr/>
        </p:nvGrpSpPr>
        <p:grpSpPr>
          <a:xfrm>
            <a:off x="3155825" y="2722814"/>
            <a:ext cx="145143" cy="141514"/>
            <a:chOff x="4151086" y="3851729"/>
            <a:chExt cx="145143" cy="141514"/>
          </a:xfrm>
        </p:grpSpPr>
        <p:cxnSp>
          <p:nvCxnSpPr>
            <p:cNvPr id="8" name="Straight Connector 7"/>
            <p:cNvCxnSpPr/>
            <p:nvPr/>
          </p:nvCxnSpPr>
          <p:spPr>
            <a:xfrm>
              <a:off x="4151086" y="3922486"/>
              <a:ext cx="145143" cy="0"/>
            </a:xfrm>
            <a:prstGeom prst="line">
              <a:avLst/>
            </a:prstGeom>
            <a:ln w="127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" name="Straight Connector 8"/>
            <p:cNvCxnSpPr/>
            <p:nvPr/>
          </p:nvCxnSpPr>
          <p:spPr>
            <a:xfrm>
              <a:off x="4230915" y="3851729"/>
              <a:ext cx="0" cy="141514"/>
            </a:xfrm>
            <a:prstGeom prst="line">
              <a:avLst/>
            </a:prstGeom>
            <a:ln w="127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39" name="Rectangle 38"/>
          <p:cNvSpPr/>
          <p:nvPr/>
        </p:nvSpPr>
        <p:spPr>
          <a:xfrm>
            <a:off x="3944090" y="2536171"/>
            <a:ext cx="2151910" cy="3485137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288000" tIns="0" rIns="251999" bIns="288000" numCol="1" spcCol="0" rtlCol="0" fromWordArt="0" anchor="b" anchorCtr="0" forceAA="0" compatLnSpc="1">
            <a:noAutofit/>
          </a:bodyPr>
          <a:p>
            <a:r>
              <a:rPr lang="en-US" sz="3600" b="1" dirty="0" smtClean="0">
                <a:solidFill>
                  <a:schemeClr val="tx1"/>
                </a:solidFill>
                <a:latin typeface="+mj-lt"/>
                <a:ea typeface="Open Sans SemiBold" panose="020B0706030804020204" charset="0"/>
                <a:cs typeface="Open Sans SemiBold" panose="020B0706030804020204" charset="0"/>
              </a:rPr>
              <a:t>02</a:t>
            </a:r>
            <a:endParaRPr lang="en-US" sz="3600" b="1" dirty="0" smtClean="0">
              <a:solidFill>
                <a:schemeClr val="tx1"/>
              </a:solidFill>
              <a:latin typeface="+mj-lt"/>
              <a:ea typeface="Open Sans SemiBold" panose="020B0706030804020204" charset="0"/>
              <a:cs typeface="Open Sans SemiBold" panose="020B0706030804020204" charset="0"/>
            </a:endParaRPr>
          </a:p>
          <a:p>
            <a:endParaRPr lang="en-US" sz="1200" b="1" dirty="0" smtClean="0">
              <a:solidFill>
                <a:schemeClr val="tx1"/>
              </a:solidFill>
              <a:latin typeface="Open Sans SemiBold" panose="020B0706030804020204" charset="0"/>
              <a:ea typeface="Open Sans SemiBold" panose="020B0706030804020204" charset="0"/>
              <a:cs typeface="Open Sans SemiBold" panose="020B0706030804020204" charset="0"/>
            </a:endParaRPr>
          </a:p>
          <a:p>
            <a:r>
              <a:rPr lang="zh-CN" altLang="en-US" sz="1200" b="1" dirty="0" smtClean="0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  <a:cs typeface="Open Sans SemiBold" panose="020B0706030804020204" charset="0"/>
                <a:sym typeface="+mn-ea"/>
              </a:rPr>
              <a:t>填写你的标题</a:t>
            </a:r>
            <a:endParaRPr lang="en-US" sz="1200" b="1" dirty="0" smtClean="0">
              <a:solidFill>
                <a:schemeClr val="tx1"/>
              </a:solidFill>
              <a:latin typeface="Open Sans SemiBold" panose="020B0706030804020204" charset="0"/>
              <a:ea typeface="Open Sans SemiBold" panose="020B0706030804020204" charset="0"/>
              <a:cs typeface="Open Sans SemiBold" panose="020B0706030804020204" charset="0"/>
            </a:endParaRPr>
          </a:p>
          <a:p>
            <a:pPr>
              <a:lnSpc>
                <a:spcPct val="130000"/>
              </a:lnSpc>
            </a:pPr>
            <a:endParaRPr lang="en-US" sz="1200" b="1" dirty="0" smtClean="0">
              <a:solidFill>
                <a:schemeClr val="tx1"/>
              </a:solidFill>
              <a:latin typeface="Open Sans SemiBold" panose="020B0706030804020204" charset="0"/>
              <a:ea typeface="Open Sans SemiBold" panose="020B0706030804020204" charset="0"/>
              <a:cs typeface="Open Sans SemiBold" panose="020B0706030804020204" charset="0"/>
            </a:endParaRPr>
          </a:p>
          <a:p>
            <a:pPr>
              <a:lnSpc>
                <a:spcPct val="130000"/>
              </a:lnSpc>
            </a:pPr>
            <a:r>
              <a:rPr lang="zh-CN" altLang="en-US" sz="1200" b="1" dirty="0" smtClean="0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  <a:cs typeface="Open Sans SemiBold" panose="020B0706030804020204" charset="0"/>
                <a:sym typeface="+mn-ea"/>
              </a:rPr>
              <a:t>值得描述的小标题</a:t>
            </a:r>
            <a:endParaRPr lang="en-US" sz="1200" b="1" dirty="0" smtClean="0">
              <a:solidFill>
                <a:schemeClr val="tx1"/>
              </a:solidFill>
              <a:latin typeface="Open Sans SemiBold" panose="020B0706030804020204" charset="0"/>
              <a:ea typeface="Open Sans SemiBold" panose="020B0706030804020204" charset="0"/>
              <a:cs typeface="Open Sans SemiBold" panose="020B0706030804020204" charset="0"/>
            </a:endParaRPr>
          </a:p>
          <a:p>
            <a:pPr>
              <a:lnSpc>
                <a:spcPct val="130000"/>
              </a:lnSpc>
            </a:pPr>
            <a:endParaRPr lang="en-US" sz="1200" b="1" dirty="0" smtClean="0">
              <a:solidFill>
                <a:schemeClr val="tx1"/>
              </a:solidFill>
              <a:latin typeface="Open Sans SemiBold" panose="020B0706030804020204" charset="0"/>
              <a:ea typeface="Open Sans SemiBold" panose="020B0706030804020204" charset="0"/>
              <a:cs typeface="Open Sans SemiBold" panose="020B0706030804020204" charset="0"/>
            </a:endParaRPr>
          </a:p>
          <a:p>
            <a:pPr>
              <a:lnSpc>
                <a:spcPct val="130000"/>
              </a:lnSpc>
            </a:pPr>
            <a:r>
              <a:rPr lang="en-US" sz="1000" dirty="0">
                <a:solidFill>
                  <a:schemeClr val="tx1">
                    <a:alpha val="70000"/>
                  </a:schemeClr>
                </a:solidFill>
              </a:rPr>
              <a:t>A peep at some distant orb has power to raise and purify our thoughts like a strain of sacred music, or a noble picture, or a passage from. </a:t>
            </a:r>
            <a:endParaRPr lang="en-US" sz="1000" dirty="0">
              <a:solidFill>
                <a:schemeClr val="tx1">
                  <a:alpha val="70000"/>
                </a:schemeClr>
              </a:solidFill>
            </a:endParaRPr>
          </a:p>
        </p:txBody>
      </p:sp>
      <p:grpSp>
        <p:nvGrpSpPr>
          <p:cNvPr id="40" name="Group 39"/>
          <p:cNvGrpSpPr/>
          <p:nvPr/>
        </p:nvGrpSpPr>
        <p:grpSpPr>
          <a:xfrm>
            <a:off x="5756890" y="2722814"/>
            <a:ext cx="145143" cy="141514"/>
            <a:chOff x="4151086" y="3851729"/>
            <a:chExt cx="145143" cy="141514"/>
          </a:xfrm>
        </p:grpSpPr>
        <p:cxnSp>
          <p:nvCxnSpPr>
            <p:cNvPr id="41" name="Straight Connector 40"/>
            <p:cNvCxnSpPr/>
            <p:nvPr/>
          </p:nvCxnSpPr>
          <p:spPr>
            <a:xfrm>
              <a:off x="4151086" y="3922486"/>
              <a:ext cx="145143" cy="0"/>
            </a:xfrm>
            <a:prstGeom prst="line">
              <a:avLst/>
            </a:prstGeom>
            <a:ln w="127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2" name="Straight Connector 41"/>
            <p:cNvCxnSpPr/>
            <p:nvPr/>
          </p:nvCxnSpPr>
          <p:spPr>
            <a:xfrm>
              <a:off x="4230915" y="3851729"/>
              <a:ext cx="0" cy="141514"/>
            </a:xfrm>
            <a:prstGeom prst="line">
              <a:avLst/>
            </a:prstGeom>
            <a:ln w="127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44" name="Rectangle 43"/>
          <p:cNvSpPr/>
          <p:nvPr/>
        </p:nvSpPr>
        <p:spPr>
          <a:xfrm>
            <a:off x="6545155" y="2536171"/>
            <a:ext cx="2151910" cy="3485137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288000" tIns="0" rIns="251999" bIns="288000" numCol="1" spcCol="0" rtlCol="0" fromWordArt="0" anchor="b" anchorCtr="0" forceAA="0" compatLnSpc="1">
            <a:noAutofit/>
          </a:bodyPr>
          <a:p>
            <a:r>
              <a:rPr lang="en-US" sz="3600" b="1" dirty="0" smtClean="0">
                <a:solidFill>
                  <a:schemeClr val="tx1"/>
                </a:solidFill>
                <a:latin typeface="+mj-lt"/>
                <a:ea typeface="Open Sans SemiBold" panose="020B0706030804020204" charset="0"/>
                <a:cs typeface="Open Sans SemiBold" panose="020B0706030804020204" charset="0"/>
              </a:rPr>
              <a:t>03</a:t>
            </a:r>
            <a:endParaRPr lang="en-US" sz="3600" b="1" dirty="0" smtClean="0">
              <a:solidFill>
                <a:schemeClr val="tx1"/>
              </a:solidFill>
              <a:latin typeface="+mj-lt"/>
              <a:ea typeface="Open Sans SemiBold" panose="020B0706030804020204" charset="0"/>
              <a:cs typeface="Open Sans SemiBold" panose="020B0706030804020204" charset="0"/>
            </a:endParaRPr>
          </a:p>
          <a:p>
            <a:endParaRPr lang="en-US" sz="1200" b="1" dirty="0" smtClean="0">
              <a:solidFill>
                <a:schemeClr val="tx1"/>
              </a:solidFill>
              <a:latin typeface="Open Sans SemiBold" panose="020B0706030804020204" charset="0"/>
              <a:ea typeface="Open Sans SemiBold" panose="020B0706030804020204" charset="0"/>
              <a:cs typeface="Open Sans SemiBold" panose="020B0706030804020204" charset="0"/>
            </a:endParaRPr>
          </a:p>
          <a:p>
            <a:r>
              <a:rPr lang="zh-CN" altLang="en-US" sz="1200" b="1" dirty="0" smtClean="0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  <a:cs typeface="Open Sans SemiBold" panose="020B0706030804020204" charset="0"/>
                <a:sym typeface="+mn-ea"/>
              </a:rPr>
              <a:t>填写你的标题</a:t>
            </a:r>
            <a:endParaRPr lang="en-US" sz="1200" b="1" dirty="0" smtClean="0">
              <a:solidFill>
                <a:schemeClr val="tx1"/>
              </a:solidFill>
              <a:latin typeface="Open Sans SemiBold" panose="020B0706030804020204" charset="0"/>
              <a:ea typeface="Open Sans SemiBold" panose="020B0706030804020204" charset="0"/>
              <a:cs typeface="Open Sans SemiBold" panose="020B0706030804020204" charset="0"/>
            </a:endParaRPr>
          </a:p>
          <a:p>
            <a:pPr>
              <a:lnSpc>
                <a:spcPct val="130000"/>
              </a:lnSpc>
            </a:pPr>
            <a:endParaRPr lang="en-US" sz="1200" b="1" dirty="0" smtClean="0">
              <a:solidFill>
                <a:schemeClr val="tx1"/>
              </a:solidFill>
              <a:latin typeface="Open Sans SemiBold" panose="020B0706030804020204" charset="0"/>
              <a:ea typeface="Open Sans SemiBold" panose="020B0706030804020204" charset="0"/>
              <a:cs typeface="Open Sans SemiBold" panose="020B0706030804020204" charset="0"/>
            </a:endParaRPr>
          </a:p>
          <a:p>
            <a:pPr>
              <a:lnSpc>
                <a:spcPct val="130000"/>
              </a:lnSpc>
            </a:pPr>
            <a:r>
              <a:rPr lang="zh-CN" altLang="en-US" sz="1200" b="1" dirty="0" smtClean="0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  <a:cs typeface="Open Sans SemiBold" panose="020B0706030804020204" charset="0"/>
                <a:sym typeface="+mn-ea"/>
              </a:rPr>
              <a:t>值得描述的小标题</a:t>
            </a:r>
            <a:endParaRPr lang="en-US" sz="1200" b="1" dirty="0" smtClean="0">
              <a:solidFill>
                <a:schemeClr val="tx1"/>
              </a:solidFill>
              <a:latin typeface="Open Sans SemiBold" panose="020B0706030804020204" charset="0"/>
              <a:ea typeface="Open Sans SemiBold" panose="020B0706030804020204" charset="0"/>
              <a:cs typeface="Open Sans SemiBold" panose="020B0706030804020204" charset="0"/>
            </a:endParaRPr>
          </a:p>
          <a:p>
            <a:pPr>
              <a:lnSpc>
                <a:spcPct val="130000"/>
              </a:lnSpc>
            </a:pPr>
            <a:endParaRPr lang="en-US" sz="1200" b="1" dirty="0" smtClean="0">
              <a:solidFill>
                <a:schemeClr val="tx1"/>
              </a:solidFill>
              <a:latin typeface="Open Sans SemiBold" panose="020B0706030804020204" charset="0"/>
              <a:ea typeface="Open Sans SemiBold" panose="020B0706030804020204" charset="0"/>
              <a:cs typeface="Open Sans SemiBold" panose="020B0706030804020204" charset="0"/>
            </a:endParaRPr>
          </a:p>
          <a:p>
            <a:pPr>
              <a:lnSpc>
                <a:spcPct val="130000"/>
              </a:lnSpc>
            </a:pPr>
            <a:r>
              <a:rPr lang="en-US" sz="1000" dirty="0">
                <a:solidFill>
                  <a:schemeClr val="tx1">
                    <a:alpha val="70000"/>
                  </a:schemeClr>
                </a:solidFill>
              </a:rPr>
              <a:t>A peep at some distant orb has power to raise and purify our thoughts like a strain of sacred music, or a noble picture, or a passage from. </a:t>
            </a:r>
            <a:endParaRPr lang="en-US" sz="1000" dirty="0">
              <a:solidFill>
                <a:schemeClr val="tx1">
                  <a:alpha val="70000"/>
                </a:schemeClr>
              </a:solidFill>
            </a:endParaRPr>
          </a:p>
        </p:txBody>
      </p:sp>
      <p:grpSp>
        <p:nvGrpSpPr>
          <p:cNvPr id="45" name="Group 44"/>
          <p:cNvGrpSpPr/>
          <p:nvPr/>
        </p:nvGrpSpPr>
        <p:grpSpPr>
          <a:xfrm>
            <a:off x="8357955" y="2722814"/>
            <a:ext cx="145143" cy="141514"/>
            <a:chOff x="4151086" y="3851729"/>
            <a:chExt cx="145143" cy="141514"/>
          </a:xfrm>
        </p:grpSpPr>
        <p:cxnSp>
          <p:nvCxnSpPr>
            <p:cNvPr id="46" name="Straight Connector 45"/>
            <p:cNvCxnSpPr/>
            <p:nvPr/>
          </p:nvCxnSpPr>
          <p:spPr>
            <a:xfrm>
              <a:off x="4151086" y="3922486"/>
              <a:ext cx="145143" cy="0"/>
            </a:xfrm>
            <a:prstGeom prst="line">
              <a:avLst/>
            </a:prstGeom>
            <a:ln w="127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7" name="Straight Connector 46"/>
            <p:cNvCxnSpPr/>
            <p:nvPr/>
          </p:nvCxnSpPr>
          <p:spPr>
            <a:xfrm>
              <a:off x="4230915" y="3851729"/>
              <a:ext cx="0" cy="141514"/>
            </a:xfrm>
            <a:prstGeom prst="line">
              <a:avLst/>
            </a:prstGeom>
            <a:ln w="127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49" name="Rectangle 48"/>
          <p:cNvSpPr/>
          <p:nvPr/>
        </p:nvSpPr>
        <p:spPr>
          <a:xfrm>
            <a:off x="9153399" y="2536171"/>
            <a:ext cx="2151910" cy="3485137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288000" tIns="0" rIns="251999" bIns="288000" numCol="1" spcCol="0" rtlCol="0" fromWordArt="0" anchor="b" anchorCtr="0" forceAA="0" compatLnSpc="1">
            <a:noAutofit/>
          </a:bodyPr>
          <a:p>
            <a:r>
              <a:rPr lang="en-US" sz="3600" b="1" dirty="0" smtClean="0">
                <a:solidFill>
                  <a:schemeClr val="tx1"/>
                </a:solidFill>
                <a:latin typeface="+mj-lt"/>
                <a:ea typeface="Open Sans SemiBold" panose="020B0706030804020204" charset="0"/>
                <a:cs typeface="Open Sans SemiBold" panose="020B0706030804020204" charset="0"/>
              </a:rPr>
              <a:t>04</a:t>
            </a:r>
            <a:endParaRPr lang="en-US" sz="3600" b="1" dirty="0" smtClean="0">
              <a:solidFill>
                <a:schemeClr val="tx1"/>
              </a:solidFill>
              <a:latin typeface="+mj-lt"/>
              <a:ea typeface="Open Sans SemiBold" panose="020B0706030804020204" charset="0"/>
              <a:cs typeface="Open Sans SemiBold" panose="020B0706030804020204" charset="0"/>
            </a:endParaRPr>
          </a:p>
          <a:p>
            <a:endParaRPr lang="en-US" sz="1200" b="1" dirty="0" smtClean="0">
              <a:solidFill>
                <a:schemeClr val="tx1"/>
              </a:solidFill>
              <a:latin typeface="Open Sans SemiBold" panose="020B0706030804020204" charset="0"/>
              <a:ea typeface="Open Sans SemiBold" panose="020B0706030804020204" charset="0"/>
              <a:cs typeface="Open Sans SemiBold" panose="020B0706030804020204" charset="0"/>
            </a:endParaRPr>
          </a:p>
          <a:p>
            <a:r>
              <a:rPr lang="zh-CN" altLang="en-US" sz="1200" b="1" dirty="0" smtClean="0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  <a:cs typeface="Open Sans SemiBold" panose="020B0706030804020204" charset="0"/>
                <a:sym typeface="+mn-ea"/>
              </a:rPr>
              <a:t>填写你的标题</a:t>
            </a:r>
            <a:endParaRPr lang="en-US" sz="1200" b="1" dirty="0" smtClean="0">
              <a:solidFill>
                <a:schemeClr val="tx1"/>
              </a:solidFill>
              <a:latin typeface="Open Sans SemiBold" panose="020B0706030804020204" charset="0"/>
              <a:ea typeface="Open Sans SemiBold" panose="020B0706030804020204" charset="0"/>
              <a:cs typeface="Open Sans SemiBold" panose="020B0706030804020204" charset="0"/>
            </a:endParaRPr>
          </a:p>
          <a:p>
            <a:pPr>
              <a:lnSpc>
                <a:spcPct val="130000"/>
              </a:lnSpc>
            </a:pPr>
            <a:endParaRPr lang="en-US" sz="1200" b="1" dirty="0" smtClean="0">
              <a:solidFill>
                <a:schemeClr val="tx1"/>
              </a:solidFill>
              <a:latin typeface="Open Sans SemiBold" panose="020B0706030804020204" charset="0"/>
              <a:ea typeface="Open Sans SemiBold" panose="020B0706030804020204" charset="0"/>
              <a:cs typeface="Open Sans SemiBold" panose="020B0706030804020204" charset="0"/>
            </a:endParaRPr>
          </a:p>
          <a:p>
            <a:pPr>
              <a:lnSpc>
                <a:spcPct val="130000"/>
              </a:lnSpc>
            </a:pPr>
            <a:r>
              <a:rPr lang="zh-CN" altLang="en-US" sz="1200" b="1" dirty="0" smtClean="0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  <a:cs typeface="Open Sans SemiBold" panose="020B0706030804020204" charset="0"/>
                <a:sym typeface="+mn-ea"/>
              </a:rPr>
              <a:t>值得描述的小标题</a:t>
            </a:r>
            <a:endParaRPr lang="en-US" sz="1200" b="1" dirty="0" smtClean="0">
              <a:solidFill>
                <a:schemeClr val="tx1"/>
              </a:solidFill>
              <a:latin typeface="Open Sans SemiBold" panose="020B0706030804020204" charset="0"/>
              <a:ea typeface="Open Sans SemiBold" panose="020B0706030804020204" charset="0"/>
              <a:cs typeface="Open Sans SemiBold" panose="020B0706030804020204" charset="0"/>
            </a:endParaRPr>
          </a:p>
          <a:p>
            <a:pPr>
              <a:lnSpc>
                <a:spcPct val="130000"/>
              </a:lnSpc>
            </a:pPr>
            <a:endParaRPr lang="en-US" sz="1200" b="1" dirty="0" smtClean="0">
              <a:solidFill>
                <a:schemeClr val="tx1"/>
              </a:solidFill>
              <a:latin typeface="Open Sans SemiBold" panose="020B0706030804020204" charset="0"/>
              <a:ea typeface="Open Sans SemiBold" panose="020B0706030804020204" charset="0"/>
              <a:cs typeface="Open Sans SemiBold" panose="020B0706030804020204" charset="0"/>
            </a:endParaRPr>
          </a:p>
          <a:p>
            <a:pPr>
              <a:lnSpc>
                <a:spcPct val="130000"/>
              </a:lnSpc>
            </a:pPr>
            <a:r>
              <a:rPr lang="en-US" sz="1000" dirty="0">
                <a:solidFill>
                  <a:schemeClr val="tx1">
                    <a:alpha val="70000"/>
                  </a:schemeClr>
                </a:solidFill>
              </a:rPr>
              <a:t>A peep at some distant orb has power to raise and purify our thoughts like a strain of sacred music, or a noble picture, or a passage from. </a:t>
            </a:r>
            <a:endParaRPr lang="en-US" sz="1000" dirty="0">
              <a:solidFill>
                <a:schemeClr val="tx1">
                  <a:alpha val="70000"/>
                </a:schemeClr>
              </a:solidFill>
            </a:endParaRPr>
          </a:p>
        </p:txBody>
      </p:sp>
      <p:grpSp>
        <p:nvGrpSpPr>
          <p:cNvPr id="50" name="Group 49"/>
          <p:cNvGrpSpPr/>
          <p:nvPr/>
        </p:nvGrpSpPr>
        <p:grpSpPr>
          <a:xfrm>
            <a:off x="10966199" y="2722814"/>
            <a:ext cx="145143" cy="141514"/>
            <a:chOff x="4151086" y="3851729"/>
            <a:chExt cx="145143" cy="141514"/>
          </a:xfrm>
        </p:grpSpPr>
        <p:cxnSp>
          <p:nvCxnSpPr>
            <p:cNvPr id="51" name="Straight Connector 50"/>
            <p:cNvCxnSpPr/>
            <p:nvPr/>
          </p:nvCxnSpPr>
          <p:spPr>
            <a:xfrm>
              <a:off x="4151086" y="3922486"/>
              <a:ext cx="145143" cy="0"/>
            </a:xfrm>
            <a:prstGeom prst="line">
              <a:avLst/>
            </a:prstGeom>
            <a:ln w="127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2" name="Straight Connector 51"/>
            <p:cNvCxnSpPr/>
            <p:nvPr/>
          </p:nvCxnSpPr>
          <p:spPr>
            <a:xfrm>
              <a:off x="4230915" y="3851729"/>
              <a:ext cx="0" cy="141514"/>
            </a:xfrm>
            <a:prstGeom prst="line">
              <a:avLst/>
            </a:prstGeom>
            <a:ln w="127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3" name="组合 2"/>
          <p:cNvGrpSpPr/>
          <p:nvPr/>
        </p:nvGrpSpPr>
        <p:grpSpPr>
          <a:xfrm>
            <a:off x="2035810" y="582930"/>
            <a:ext cx="8120380" cy="1326515"/>
            <a:chOff x="3206" y="98"/>
            <a:chExt cx="12788" cy="2089"/>
          </a:xfrm>
        </p:grpSpPr>
        <p:sp>
          <p:nvSpPr>
            <p:cNvPr id="4" name="TextBox 8"/>
            <p:cNvSpPr txBox="1"/>
            <p:nvPr/>
          </p:nvSpPr>
          <p:spPr>
            <a:xfrm>
              <a:off x="3206" y="98"/>
              <a:ext cx="12788" cy="1598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p>
              <a:pPr algn="ctr"/>
              <a:r>
                <a:rPr lang="en-US" sz="6000" b="1" spc="600" dirty="0" smtClean="0">
                  <a:solidFill>
                    <a:schemeClr val="bg1">
                      <a:lumMod val="95000"/>
                    </a:schemeClr>
                  </a:solidFill>
                  <a:latin typeface="庞门正道标题体" panose="02010600030101010101" charset="-122"/>
                  <a:ea typeface="庞门正道标题体" panose="02010600030101010101" charset="-122"/>
                  <a:cs typeface="Montserrat" panose="00000500000000000000" pitchFamily="50" charset="0"/>
                </a:rPr>
                <a:t>MINIMALIST</a:t>
              </a:r>
              <a:endParaRPr lang="en-US" sz="6000" b="1" spc="600" dirty="0" smtClean="0">
                <a:solidFill>
                  <a:schemeClr val="bg1">
                    <a:lumMod val="95000"/>
                  </a:schemeClr>
                </a:solidFill>
                <a:latin typeface="庞门正道标题体" panose="02010600030101010101" charset="-122"/>
                <a:ea typeface="庞门正道标题体" panose="02010600030101010101" charset="-122"/>
                <a:cs typeface="Montserrat" panose="00000500000000000000" pitchFamily="50" charset="0"/>
              </a:endParaRPr>
            </a:p>
          </p:txBody>
        </p:sp>
        <p:sp>
          <p:nvSpPr>
            <p:cNvPr id="2" name="TextBox 9"/>
            <p:cNvSpPr txBox="1"/>
            <p:nvPr/>
          </p:nvSpPr>
          <p:spPr>
            <a:xfrm>
              <a:off x="4143" y="653"/>
              <a:ext cx="10932" cy="130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p>
              <a:pPr algn="ctr"/>
              <a:r>
                <a:rPr lang="zh-CN" altLang="zh-CN" sz="4800" b="1" spc="600" dirty="0" smtClean="0">
                  <a:solidFill>
                    <a:schemeClr val="tx1"/>
                  </a:solidFill>
                  <a:latin typeface="方正明尚简体" panose="02000000000000000000" charset="-122"/>
                  <a:ea typeface="方正明尚简体" panose="02000000000000000000" charset="-122"/>
                  <a:cs typeface="Montserrat" panose="00000500000000000000" pitchFamily="50" charset="0"/>
                </a:rPr>
                <a:t>标题</a:t>
              </a:r>
              <a:endParaRPr lang="zh-CN" altLang="zh-CN" sz="4800" b="1" spc="600" dirty="0" smtClean="0">
                <a:solidFill>
                  <a:schemeClr val="tx1"/>
                </a:solidFill>
                <a:latin typeface="方正明尚简体" panose="02000000000000000000" charset="-122"/>
                <a:ea typeface="方正明尚简体" panose="02000000000000000000" charset="-122"/>
                <a:cs typeface="Montserrat" panose="00000500000000000000" pitchFamily="50" charset="0"/>
              </a:endParaRPr>
            </a:p>
          </p:txBody>
        </p:sp>
        <p:sp>
          <p:nvSpPr>
            <p:cNvPr id="10" name="TextBox 12"/>
            <p:cNvSpPr txBox="1"/>
            <p:nvPr/>
          </p:nvSpPr>
          <p:spPr>
            <a:xfrm>
              <a:off x="5681" y="1618"/>
              <a:ext cx="7856" cy="56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p>
              <a:pPr algn="ctr">
                <a:lnSpc>
                  <a:spcPct val="150000"/>
                </a:lnSpc>
              </a:pPr>
              <a:r>
                <a:rPr lang="en-US" baseline="-25000" dirty="0" smtClean="0">
                  <a:latin typeface="Dotum" panose="020B0600000101010101" charset="-127"/>
                  <a:ea typeface="Dotum" panose="020B0600000101010101" charset="-127"/>
                  <a:cs typeface="+mj-lt"/>
                </a:rPr>
                <a:t>minimal presentation template</a:t>
              </a:r>
              <a:endParaRPr lang="en-US" baseline="-25000" dirty="0" smtClean="0">
                <a:latin typeface="Dotum" panose="020B0600000101010101" charset="-127"/>
                <a:ea typeface="Dotum" panose="020B0600000101010101" charset="-127"/>
                <a:cs typeface="+mj-lt"/>
              </a:endParaRPr>
            </a:p>
          </p:txBody>
        </p:sp>
      </p:grp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0"/>
    </mc:Choice>
    <mc:Fallback>
      <p:transition/>
    </mc:Fallback>
  </mc:AlternateContent>
</p:sld>
</file>

<file path=ppt/slides/slide7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3" name="TextBox 8"/>
          <p:cNvSpPr txBox="1"/>
          <p:nvPr/>
        </p:nvSpPr>
        <p:spPr>
          <a:xfrm>
            <a:off x="-352107" y="1611517"/>
            <a:ext cx="12896215" cy="229933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pPr algn="ctr"/>
            <a:r>
              <a:rPr lang="en-US" sz="14350" b="1" spc="600" dirty="0" smtClean="0">
                <a:solidFill>
                  <a:srgbClr val="F7F7F7"/>
                </a:solidFill>
                <a:latin typeface="庞门正道标题体" panose="02010600030101010101" charset="-122"/>
                <a:ea typeface="庞门正道标题体" panose="02010600030101010101" charset="-122"/>
                <a:cs typeface="Montserrat" panose="00000500000000000000" pitchFamily="50" charset="0"/>
              </a:rPr>
              <a:t>MINIMALIST</a:t>
            </a:r>
            <a:endParaRPr lang="en-US" sz="14350" b="1" spc="600" dirty="0" smtClean="0">
              <a:solidFill>
                <a:srgbClr val="F7F7F7"/>
              </a:solidFill>
              <a:latin typeface="庞门正道标题体" panose="02010600030101010101" charset="-122"/>
              <a:ea typeface="庞门正道标题体" panose="02010600030101010101" charset="-122"/>
              <a:cs typeface="Montserrat" panose="00000500000000000000" pitchFamily="50" charset="0"/>
            </a:endParaRPr>
          </a:p>
        </p:txBody>
      </p:sp>
      <p:sp>
        <p:nvSpPr>
          <p:cNvPr id="4" name="TextBox 9"/>
          <p:cNvSpPr txBox="1"/>
          <p:nvPr/>
        </p:nvSpPr>
        <p:spPr>
          <a:xfrm>
            <a:off x="2630577" y="2421142"/>
            <a:ext cx="6941730" cy="132207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pPr algn="ctr"/>
            <a:r>
              <a:rPr lang="zh-CN" altLang="en-US" sz="8000" b="1" spc="600" dirty="0" smtClean="0">
                <a:solidFill>
                  <a:schemeClr val="tx1"/>
                </a:solidFill>
                <a:latin typeface="方正明尚简体" panose="02000000000000000000" charset="-122"/>
                <a:ea typeface="方正明尚简体" panose="02000000000000000000" charset="-122"/>
                <a:cs typeface="Montserrat" panose="00000500000000000000" pitchFamily="50" charset="0"/>
              </a:rPr>
              <a:t>第四章节</a:t>
            </a:r>
            <a:endParaRPr lang="zh-CN" altLang="en-US" sz="8000" b="1" spc="600" dirty="0" smtClean="0">
              <a:solidFill>
                <a:schemeClr val="tx1"/>
              </a:solidFill>
              <a:latin typeface="方正明尚简体" panose="02000000000000000000" charset="-122"/>
              <a:ea typeface="方正明尚简体" panose="02000000000000000000" charset="-122"/>
              <a:cs typeface="Montserrat" panose="00000500000000000000" pitchFamily="50" charset="0"/>
            </a:endParaRPr>
          </a:p>
        </p:txBody>
      </p:sp>
      <p:sp>
        <p:nvSpPr>
          <p:cNvPr id="5" name="TextBox 12"/>
          <p:cNvSpPr txBox="1"/>
          <p:nvPr/>
        </p:nvSpPr>
        <p:spPr>
          <a:xfrm>
            <a:off x="3607261" y="3592841"/>
            <a:ext cx="4988364" cy="49593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pPr algn="ctr">
              <a:lnSpc>
                <a:spcPct val="150000"/>
              </a:lnSpc>
            </a:pPr>
            <a:r>
              <a:rPr lang="en-US" sz="2700" baseline="-25000" dirty="0" smtClean="0">
                <a:latin typeface="Dotum" panose="020B0600000101010101" charset="-127"/>
                <a:ea typeface="Dotum" panose="020B0600000101010101" charset="-127"/>
                <a:cs typeface="+mj-lt"/>
              </a:rPr>
              <a:t>minimal presentation template</a:t>
            </a:r>
            <a:endParaRPr lang="en-US" sz="2700" baseline="-25000" dirty="0" smtClean="0">
              <a:latin typeface="Dotum" panose="020B0600000101010101" charset="-127"/>
              <a:ea typeface="Dotum" panose="020B0600000101010101" charset="-127"/>
              <a:cs typeface="+mj-lt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0"/>
    </mc:Choice>
    <mc:Fallback>
      <p:transition/>
    </mc:Fallback>
  </mc:AlternateContent>
</p:sld>
</file>

<file path=ppt/slides/slide7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graphicFrame>
        <p:nvGraphicFramePr>
          <p:cNvPr id="4" name="Chart 3"/>
          <p:cNvGraphicFramePr/>
          <p:nvPr/>
        </p:nvGraphicFramePr>
        <p:xfrm>
          <a:off x="2158365" y="2628265"/>
          <a:ext cx="7875905" cy="402844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1"/>
          </a:graphicData>
        </a:graphic>
      </p:graphicFrame>
      <p:grpSp>
        <p:nvGrpSpPr>
          <p:cNvPr id="3" name="组合 2"/>
          <p:cNvGrpSpPr/>
          <p:nvPr/>
        </p:nvGrpSpPr>
        <p:grpSpPr>
          <a:xfrm>
            <a:off x="2035810" y="582930"/>
            <a:ext cx="8120380" cy="1326515"/>
            <a:chOff x="3206" y="98"/>
            <a:chExt cx="12788" cy="2089"/>
          </a:xfrm>
        </p:grpSpPr>
        <p:sp>
          <p:nvSpPr>
            <p:cNvPr id="2" name="TextBox 8"/>
            <p:cNvSpPr txBox="1"/>
            <p:nvPr/>
          </p:nvSpPr>
          <p:spPr>
            <a:xfrm>
              <a:off x="3206" y="98"/>
              <a:ext cx="12788" cy="1598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p>
              <a:pPr algn="ctr"/>
              <a:r>
                <a:rPr lang="en-US" sz="6000" b="1" spc="600" dirty="0" smtClean="0">
                  <a:solidFill>
                    <a:schemeClr val="bg1">
                      <a:lumMod val="95000"/>
                    </a:schemeClr>
                  </a:solidFill>
                  <a:latin typeface="庞门正道标题体" panose="02010600030101010101" charset="-122"/>
                  <a:ea typeface="庞门正道标题体" panose="02010600030101010101" charset="-122"/>
                  <a:cs typeface="Montserrat" panose="00000500000000000000" pitchFamily="50" charset="0"/>
                </a:rPr>
                <a:t>MINIMALIST</a:t>
              </a:r>
              <a:endParaRPr lang="en-US" sz="6000" b="1" spc="600" dirty="0" smtClean="0">
                <a:solidFill>
                  <a:schemeClr val="bg1">
                    <a:lumMod val="95000"/>
                  </a:schemeClr>
                </a:solidFill>
                <a:latin typeface="庞门正道标题体" panose="02010600030101010101" charset="-122"/>
                <a:ea typeface="庞门正道标题体" panose="02010600030101010101" charset="-122"/>
                <a:cs typeface="Montserrat" panose="00000500000000000000" pitchFamily="50" charset="0"/>
              </a:endParaRPr>
            </a:p>
          </p:txBody>
        </p:sp>
        <p:sp>
          <p:nvSpPr>
            <p:cNvPr id="5" name="TextBox 9"/>
            <p:cNvSpPr txBox="1"/>
            <p:nvPr/>
          </p:nvSpPr>
          <p:spPr>
            <a:xfrm>
              <a:off x="4143" y="653"/>
              <a:ext cx="10932" cy="130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p>
              <a:pPr algn="ctr"/>
              <a:r>
                <a:rPr lang="zh-CN" altLang="zh-CN" sz="4800" b="1" spc="600" dirty="0" smtClean="0">
                  <a:solidFill>
                    <a:schemeClr val="tx1"/>
                  </a:solidFill>
                  <a:latin typeface="方正明尚简体" panose="02000000000000000000" charset="-122"/>
                  <a:ea typeface="方正明尚简体" panose="02000000000000000000" charset="-122"/>
                  <a:cs typeface="Montserrat" panose="00000500000000000000" pitchFamily="50" charset="0"/>
                </a:rPr>
                <a:t>标题</a:t>
              </a:r>
              <a:endParaRPr lang="zh-CN" altLang="zh-CN" sz="4800" b="1" spc="600" dirty="0" smtClean="0">
                <a:solidFill>
                  <a:schemeClr val="tx1"/>
                </a:solidFill>
                <a:latin typeface="方正明尚简体" panose="02000000000000000000" charset="-122"/>
                <a:ea typeface="方正明尚简体" panose="02000000000000000000" charset="-122"/>
                <a:cs typeface="Montserrat" panose="00000500000000000000" pitchFamily="50" charset="0"/>
              </a:endParaRPr>
            </a:p>
          </p:txBody>
        </p:sp>
        <p:sp>
          <p:nvSpPr>
            <p:cNvPr id="10" name="TextBox 12"/>
            <p:cNvSpPr txBox="1"/>
            <p:nvPr/>
          </p:nvSpPr>
          <p:spPr>
            <a:xfrm>
              <a:off x="5681" y="1618"/>
              <a:ext cx="7856" cy="56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p>
              <a:pPr algn="ctr">
                <a:lnSpc>
                  <a:spcPct val="150000"/>
                </a:lnSpc>
              </a:pPr>
              <a:r>
                <a:rPr lang="en-US" baseline="-25000" dirty="0" smtClean="0">
                  <a:latin typeface="Dotum" panose="020B0600000101010101" charset="-127"/>
                  <a:ea typeface="Dotum" panose="020B0600000101010101" charset="-127"/>
                  <a:cs typeface="+mj-lt"/>
                </a:rPr>
                <a:t>minimal presentation template</a:t>
              </a:r>
              <a:endParaRPr lang="en-US" baseline="-25000" dirty="0" smtClean="0">
                <a:latin typeface="Dotum" panose="020B0600000101010101" charset="-127"/>
                <a:ea typeface="Dotum" panose="020B0600000101010101" charset="-127"/>
                <a:cs typeface="+mj-lt"/>
              </a:endParaRPr>
            </a:p>
          </p:txBody>
        </p:sp>
      </p:grp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0"/>
    </mc:Choice>
    <mc:Fallback>
      <p:transition/>
    </mc:Fallback>
  </mc:AlternateContent>
</p:sld>
</file>

<file path=ppt/slides/slide7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TextBox 8"/>
          <p:cNvSpPr txBox="1"/>
          <p:nvPr/>
        </p:nvSpPr>
        <p:spPr>
          <a:xfrm>
            <a:off x="-352107" y="1497217"/>
            <a:ext cx="12896215" cy="229933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4350" b="1" spc="600" dirty="0" smtClean="0">
                <a:solidFill>
                  <a:schemeClr val="bg1">
                    <a:lumMod val="95000"/>
                  </a:schemeClr>
                </a:solidFill>
                <a:latin typeface="庞门正道标题体" panose="02010600030101010101" charset="-122"/>
                <a:ea typeface="庞门正道标题体" panose="02010600030101010101" charset="-122"/>
                <a:cs typeface="Montserrat" panose="00000500000000000000" pitchFamily="50" charset="0"/>
              </a:rPr>
              <a:t>THANKS</a:t>
            </a:r>
            <a:endParaRPr lang="en-US" sz="14350" b="1" spc="600" dirty="0" smtClean="0">
              <a:solidFill>
                <a:schemeClr val="bg1">
                  <a:lumMod val="95000"/>
                </a:schemeClr>
              </a:solidFill>
              <a:latin typeface="庞门正道标题体" panose="02010600030101010101" charset="-122"/>
              <a:ea typeface="庞门正道标题体" panose="02010600030101010101" charset="-122"/>
              <a:cs typeface="Montserrat" panose="00000500000000000000" pitchFamily="50" charset="0"/>
            </a:endParaRPr>
          </a:p>
        </p:txBody>
      </p:sp>
      <p:sp>
        <p:nvSpPr>
          <p:cNvPr id="10" name="TextBox 9"/>
          <p:cNvSpPr txBox="1"/>
          <p:nvPr/>
        </p:nvSpPr>
        <p:spPr>
          <a:xfrm>
            <a:off x="2630577" y="2306842"/>
            <a:ext cx="6941730" cy="193040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zh-CN" altLang="en-US" sz="11950" b="1" spc="600" dirty="0" smtClean="0">
                <a:solidFill>
                  <a:schemeClr val="tx1"/>
                </a:solidFill>
                <a:latin typeface="方正明尚简体" panose="02000000000000000000" charset="-122"/>
                <a:ea typeface="方正明尚简体" panose="02000000000000000000" charset="-122"/>
                <a:cs typeface="Montserrat" panose="00000500000000000000" pitchFamily="50" charset="0"/>
              </a:rPr>
              <a:t>谢谢</a:t>
            </a:r>
            <a:endParaRPr lang="zh-CN" altLang="en-US" sz="11950" b="1" spc="600" dirty="0" smtClean="0">
              <a:solidFill>
                <a:schemeClr val="tx1"/>
              </a:solidFill>
              <a:latin typeface="方正明尚简体" panose="02000000000000000000" charset="-122"/>
              <a:ea typeface="方正明尚简体" panose="02000000000000000000" charset="-122"/>
              <a:cs typeface="Montserrat" panose="00000500000000000000" pitchFamily="50" charset="0"/>
            </a:endParaRPr>
          </a:p>
        </p:txBody>
      </p:sp>
      <p:sp>
        <p:nvSpPr>
          <p:cNvPr id="13" name="TextBox 12"/>
          <p:cNvSpPr txBox="1"/>
          <p:nvPr/>
        </p:nvSpPr>
        <p:spPr>
          <a:xfrm>
            <a:off x="3607261" y="3770641"/>
            <a:ext cx="4988364" cy="49593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>
              <a:lnSpc>
                <a:spcPct val="150000"/>
              </a:lnSpc>
            </a:pPr>
            <a:r>
              <a:rPr lang="en-US" sz="2700" baseline="-25000" dirty="0" smtClean="0">
                <a:latin typeface="Dotum" panose="020B0600000101010101" charset="-127"/>
                <a:ea typeface="Dotum" panose="020B0600000101010101" charset="-127"/>
                <a:cs typeface="+mj-lt"/>
              </a:rPr>
              <a:t>tks</a:t>
            </a:r>
            <a:endParaRPr lang="en-US" sz="2700" baseline="-25000" dirty="0" smtClean="0">
              <a:latin typeface="Dotum" panose="020B0600000101010101" charset="-127"/>
              <a:ea typeface="Dotum" panose="020B0600000101010101" charset="-127"/>
              <a:cs typeface="+mj-lt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0"/>
    </mc:Choice>
    <mc:Fallback>
      <p:transition/>
    </mc:Fallback>
  </mc:AlternateContent>
  <p:timing>
    <p:tnLst>
      <p:par>
        <p:cTn id="1" dur="indefinite" restart="never" nodeType="tmRoot"/>
      </p:par>
    </p:tnLst>
  </p:timing>
</p:sld>
</file>

<file path=ppt/tags/tag1.xml><?xml version="1.0" encoding="utf-8"?>
<p:tagLst xmlns:p="http://schemas.openxmlformats.org/presentationml/2006/main">
  <p:tag name="KSO_WM_DIAGRAM_VIRTUALLY_FRAME" val="{&quot;height&quot;:274.4202362204725,&quot;left&quot;:105.74992125984252,&quot;top&quot;:199.69850393700787,&quot;width&quot;:750.681653543307}"/>
</p:tagLst>
</file>

<file path=ppt/tags/tag2.xml><?xml version="1.0" encoding="utf-8"?>
<p:tagLst xmlns:p="http://schemas.openxmlformats.org/presentationml/2006/main">
  <p:tag name="KSO_WM_DIAGRAM_VIRTUALLY_FRAME" val="{&quot;height&quot;:274.4202362204725,&quot;left&quot;:105.74992125984252,&quot;top&quot;:199.69850393700787,&quot;width&quot;:750.681653543307}"/>
</p:tagLst>
</file>

<file path=ppt/tags/tag3.xml><?xml version="1.0" encoding="utf-8"?>
<p:tagLst xmlns:p="http://schemas.openxmlformats.org/presentationml/2006/main">
  <p:tag name="KSO_WM_DIAGRAM_VIRTUALLY_FRAME" val="{&quot;height&quot;:274.4202362204725,&quot;left&quot;:105.74992125984252,&quot;top&quot;:199.69850393700787,&quot;width&quot;:750.681653543307}"/>
</p:tagLst>
</file>

<file path=ppt/tags/tag4.xml><?xml version="1.0" encoding="utf-8"?>
<p:tagLst xmlns:p="http://schemas.openxmlformats.org/presentationml/2006/main">
  <p:tag name="KSO_WM_DIAGRAM_VIRTUALLY_FRAME" val="{&quot;height&quot;:274.4202362204725,&quot;left&quot;:105.74992125984252,&quot;top&quot;:199.69850393700787,&quot;width&quot;:750.681653543307}"/>
</p:tagLst>
</file>

<file path=ppt/tags/tag5.xml><?xml version="1.0" encoding="utf-8"?>
<p:tagLst xmlns:p="http://schemas.openxmlformats.org/presentationml/2006/main">
  <p:tag name="KSO_WM_DIAGRAM_VIRTUALLY_FRAME" val="{&quot;height&quot;:274.4202362204725,&quot;left&quot;:105.74992125984252,&quot;top&quot;:199.69850393700787,&quot;width&quot;:750.681653543307}"/>
</p:tagLst>
</file>

<file path=ppt/tags/tag6.xml><?xml version="1.0" encoding="utf-8"?>
<p:tagLst xmlns:p="http://schemas.openxmlformats.org/presentationml/2006/main">
  <p:tag name="KSO_WM_DIAGRAM_VIRTUALLY_FRAME" val="{&quot;height&quot;:274.4202362204725,&quot;left&quot;:105.74992125984252,&quot;top&quot;:199.69850393700787,&quot;width&quot;:750.681653543307}"/>
</p:tagLst>
</file>

<file path=ppt/tags/tag7.xml><?xml version="1.0" encoding="utf-8"?>
<p:tagLst xmlns:p="http://schemas.openxmlformats.org/presentationml/2006/main">
  <p:tag name="KSO_WM_DIAGRAM_VIRTUALLY_FRAME" val="{&quot;height&quot;:274.4202362204725,&quot;left&quot;:105.74992125984252,&quot;top&quot;:199.69850393700787,&quot;width&quot;:750.681653543307}"/>
</p:tagLst>
</file>

<file path=ppt/tags/tag8.xml><?xml version="1.0" encoding="utf-8"?>
<p:tagLst xmlns:p="http://schemas.openxmlformats.org/presentationml/2006/main">
  <p:tag name="KSO_WM_DIAGRAM_VIRTUALLY_FRAME" val="{&quot;height&quot;:274.4202362204725,&quot;left&quot;:105.74992125984252,&quot;top&quot;:199.69850393700787,&quot;width&quot;:750.681653543307}"/>
</p:tagLst>
</file>

<file path=ppt/tags/tag9.xml><?xml version="1.0" encoding="utf-8"?>
<p:tagLst xmlns:p="http://schemas.openxmlformats.org/presentationml/2006/main">
  <p:tag name="KSO_WM_DIAGRAM_VIRTUALLY_FRAME" val="{&quot;height&quot;:274.4202362204725,&quot;left&quot;:105.74992125984252,&quot;top&quot;:199.69850393700787,&quot;width&quot;:750.681653543307}"/>
</p:tagLst>
</file>

<file path=ppt/tags/tag10.xml><?xml version="1.0" encoding="utf-8"?>
<p:tagLst xmlns:p="http://schemas.openxmlformats.org/presentationml/2006/main">
  <p:tag name="KSO_WM_DIAGRAM_VIRTUALLY_FRAME" val="{&quot;height&quot;:274.4202362204725,&quot;left&quot;:105.74992125984252,&quot;top&quot;:199.69850393700787,&quot;width&quot;:750.681653543307}"/>
</p:tagLst>
</file>

<file path=ppt/tags/tag11.xml><?xml version="1.0" encoding="utf-8"?>
<p:tagLst xmlns:p="http://schemas.openxmlformats.org/presentationml/2006/main">
  <p:tag name="KSO_WM_DIAGRAM_VIRTUALLY_FRAME" val="{&quot;height&quot;:274.4202362204725,&quot;left&quot;:105.74992125984252,&quot;top&quot;:199.69850393700787,&quot;width&quot;:750.681653543307}"/>
</p:tagLst>
</file>

<file path=ppt/tags/tag12.xml><?xml version="1.0" encoding="utf-8"?>
<p:tagLst xmlns:p="http://schemas.openxmlformats.org/presentationml/2006/main">
  <p:tag name="KSO_WM_DIAGRAM_VIRTUALLY_FRAME" val="{&quot;height&quot;:274.4202362204725,&quot;left&quot;:105.74992125984252,&quot;top&quot;:199.69850393700787,&quot;width&quot;:750.681653543307}"/>
</p:tagLst>
</file>

<file path=ppt/tags/tag13.xml><?xml version="1.0" encoding="utf-8"?>
<p:tagLst xmlns:p="http://schemas.openxmlformats.org/presentationml/2006/main">
  <p:tag name="KSO_WM_DIAGRAM_VIRTUALLY_FRAME" val="{&quot;height&quot;:258.13976377952747,&quot;left&quot;:105.75,&quot;top&quot;:207.3440157480315,&quot;width&quot;:739.7726771653543}"/>
</p:tagLst>
</file>

<file path=ppt/tags/tag14.xml><?xml version="1.0" encoding="utf-8"?>
<p:tagLst xmlns:p="http://schemas.openxmlformats.org/presentationml/2006/main">
  <p:tag name="KSO_WM_DIAGRAM_VIRTUALLY_FRAME" val="{&quot;height&quot;:258.13976377952747,&quot;left&quot;:105.75,&quot;top&quot;:207.3440157480315,&quot;width&quot;:739.7726771653543}"/>
</p:tagLst>
</file>

<file path=ppt/tags/tag15.xml><?xml version="1.0" encoding="utf-8"?>
<p:tagLst xmlns:p="http://schemas.openxmlformats.org/presentationml/2006/main">
  <p:tag name="KSO_WM_DIAGRAM_VIRTUALLY_FRAME" val="{&quot;height&quot;:258.13976377952747,&quot;left&quot;:105.75,&quot;top&quot;:207.3440157480315,&quot;width&quot;:739.7726771653543}"/>
</p:tagLst>
</file>

<file path=ppt/tags/tag16.xml><?xml version="1.0" encoding="utf-8"?>
<p:tagLst xmlns:p="http://schemas.openxmlformats.org/presentationml/2006/main">
  <p:tag name="KSO_WM_DIAGRAM_VIRTUALLY_FRAME" val="{&quot;height&quot;:258.13976377952747,&quot;left&quot;:105.75,&quot;top&quot;:207.3440157480315,&quot;width&quot;:739.7726771653543}"/>
</p:tagLst>
</file>

<file path=ppt/tags/tag17.xml><?xml version="1.0" encoding="utf-8"?>
<p:tagLst xmlns:p="http://schemas.openxmlformats.org/presentationml/2006/main">
  <p:tag name="KSO_WM_DIAGRAM_VIRTUALLY_FRAME" val="{&quot;height&quot;:258.13976377952747,&quot;left&quot;:105.75,&quot;top&quot;:207.3440157480315,&quot;width&quot;:739.7726771653543}"/>
</p:tagLst>
</file>

<file path=ppt/tags/tag18.xml><?xml version="1.0" encoding="utf-8"?>
<p:tagLst xmlns:p="http://schemas.openxmlformats.org/presentationml/2006/main">
  <p:tag name="KSO_WM_DIAGRAM_VIRTUALLY_FRAME" val="{&quot;height&quot;:258.13976377952747,&quot;left&quot;:105.75,&quot;top&quot;:207.3440157480315,&quot;width&quot;:739.7726771653543}"/>
</p:tagLst>
</file>

<file path=ppt/tags/tag19.xml><?xml version="1.0" encoding="utf-8"?>
<p:tagLst xmlns:p="http://schemas.openxmlformats.org/presentationml/2006/main">
  <p:tag name="KSO_WM_DIAGRAM_VIRTUALLY_FRAME" val="{&quot;height&quot;:258.13976377952747,&quot;left&quot;:105.75,&quot;top&quot;:207.3440157480315,&quot;width&quot;:739.7726771653543}"/>
</p:tagLst>
</file>

<file path=ppt/tags/tag20.xml><?xml version="1.0" encoding="utf-8"?>
<p:tagLst xmlns:p="http://schemas.openxmlformats.org/presentationml/2006/main">
  <p:tag name="KSO_WM_DIAGRAM_VIRTUALLY_FRAME" val="{&quot;height&quot;:258.13976377952747,&quot;left&quot;:105.75,&quot;top&quot;:207.3440157480315,&quot;width&quot;:739.7726771653543}"/>
</p:tagLst>
</file>

<file path=ppt/tags/tag21.xml><?xml version="1.0" encoding="utf-8"?>
<p:tagLst xmlns:p="http://schemas.openxmlformats.org/presentationml/2006/main">
  <p:tag name="KSO_WM_DIAGRAM_VIRTUALLY_FRAME" val="{&quot;height&quot;:258.13976377952747,&quot;left&quot;:105.75,&quot;top&quot;:207.3440157480315,&quot;width&quot;:739.7726771653543}"/>
</p:tagLst>
</file>

<file path=ppt/tags/tag22.xml><?xml version="1.0" encoding="utf-8"?>
<p:tagLst xmlns:p="http://schemas.openxmlformats.org/presentationml/2006/main">
  <p:tag name="KSO_WM_DIAGRAM_VIRTUALLY_FRAME" val="{&quot;height&quot;:258.13976377952747,&quot;left&quot;:105.75,&quot;top&quot;:207.3440157480315,&quot;width&quot;:739.7726771653543}"/>
</p:tagLst>
</file>

<file path=ppt/tags/tag23.xml><?xml version="1.0" encoding="utf-8"?>
<p:tagLst xmlns:p="http://schemas.openxmlformats.org/presentationml/2006/main">
  <p:tag name="KSO_WM_DIAGRAM_VIRTUALLY_FRAME" val="{&quot;height&quot;:258.13976377952747,&quot;left&quot;:105.75,&quot;top&quot;:207.3440157480315,&quot;width&quot;:739.7726771653543}"/>
</p:tagLst>
</file>

<file path=ppt/tags/tag24.xml><?xml version="1.0" encoding="utf-8"?>
<p:tagLst xmlns:p="http://schemas.openxmlformats.org/presentationml/2006/main">
  <p:tag name="KSO_WM_DIAGRAM_VIRTUALLY_FRAME" val="{&quot;height&quot;:258.13976377952747,&quot;left&quot;:105.75,&quot;top&quot;:207.3440157480315,&quot;width&quot;:739.7726771653543}"/>
</p:tagLst>
</file>

<file path=ppt/tags/tag25.xml><?xml version="1.0" encoding="utf-8"?>
<p:tagLst xmlns:p="http://schemas.openxmlformats.org/presentationml/2006/main">
  <p:tag name="KSO_WM_DIAGRAM_VIRTUALLY_FRAME" val="{&quot;height&quot;:258.13976377952747,&quot;left&quot;:105.75,&quot;top&quot;:207.3440157480315,&quot;width&quot;:739.7726771653543}"/>
</p:tagLst>
</file>

<file path=ppt/tags/tag26.xml><?xml version="1.0" encoding="utf-8"?>
<p:tagLst xmlns:p="http://schemas.openxmlformats.org/presentationml/2006/main">
  <p:tag name="KSO_WM_DIAGRAM_VIRTUALLY_FRAME" val="{&quot;height&quot;:258.13976377952747,&quot;left&quot;:105.75,&quot;top&quot;:207.3440157480315,&quot;width&quot;:739.7726771653543}"/>
</p:tagLst>
</file>

<file path=ppt/tags/tag27.xml><?xml version="1.0" encoding="utf-8"?>
<p:tagLst xmlns:p="http://schemas.openxmlformats.org/presentationml/2006/main">
  <p:tag name="KSO_WM_DIAGRAM_VIRTUALLY_FRAME" val="{&quot;height&quot;:248.35,&quot;left&quot;:100.9,&quot;top&quot;:198,&quot;width&quot;:777.4}"/>
</p:tagLst>
</file>

<file path=ppt/tags/tag28.xml><?xml version="1.0" encoding="utf-8"?>
<p:tagLst xmlns:p="http://schemas.openxmlformats.org/presentationml/2006/main">
  <p:tag name="KSO_WM_DIAGRAM_VIRTUALLY_FRAME" val="{&quot;height&quot;:248.35,&quot;left&quot;:100.9,&quot;top&quot;:198,&quot;width&quot;:777.4}"/>
</p:tagLst>
</file>

<file path=ppt/tags/tag29.xml><?xml version="1.0" encoding="utf-8"?>
<p:tagLst xmlns:p="http://schemas.openxmlformats.org/presentationml/2006/main">
  <p:tag name="KSO_WM_DIAGRAM_VIRTUALLY_FRAME" val="{&quot;height&quot;:248.35,&quot;left&quot;:100.9,&quot;top&quot;:198,&quot;width&quot;:777.4}"/>
</p:tagLst>
</file>

<file path=ppt/tags/tag30.xml><?xml version="1.0" encoding="utf-8"?>
<p:tagLst xmlns:p="http://schemas.openxmlformats.org/presentationml/2006/main">
  <p:tag name="KSO_WM_DIAGRAM_VIRTUALLY_FRAME" val="{&quot;height&quot;:248.35,&quot;left&quot;:100.9,&quot;top&quot;:198,&quot;width&quot;:777.4}"/>
</p:tagLst>
</file>

<file path=ppt/tags/tag31.xml><?xml version="1.0" encoding="utf-8"?>
<p:tagLst xmlns:p="http://schemas.openxmlformats.org/presentationml/2006/main">
  <p:tag name="KSO_WM_DIAGRAM_VIRTUALLY_FRAME" val="{&quot;height&quot;:248.35,&quot;left&quot;:100.9,&quot;top&quot;:198,&quot;width&quot;:777.4}"/>
</p:tagLst>
</file>

<file path=ppt/tags/tag32.xml><?xml version="1.0" encoding="utf-8"?>
<p:tagLst xmlns:p="http://schemas.openxmlformats.org/presentationml/2006/main">
  <p:tag name="KSO_WM_DIAGRAM_VIRTUALLY_FRAME" val="{&quot;height&quot;:248.35,&quot;left&quot;:100.9,&quot;top&quot;:198,&quot;width&quot;:777.4}"/>
</p:tagLst>
</file>

<file path=ppt/tags/tag33.xml><?xml version="1.0" encoding="utf-8"?>
<p:tagLst xmlns:p="http://schemas.openxmlformats.org/presentationml/2006/main">
  <p:tag name="KSO_WM_DIAGRAM_VIRTUALLY_FRAME" val="{&quot;height&quot;:248.35,&quot;left&quot;:100.9,&quot;top&quot;:198,&quot;width&quot;:777.4}"/>
</p:tagLst>
</file>

<file path=ppt/tags/tag34.xml><?xml version="1.0" encoding="utf-8"?>
<p:tagLst xmlns:p="http://schemas.openxmlformats.org/presentationml/2006/main">
  <p:tag name="KSO_WM_DIAGRAM_VIRTUALLY_FRAME" val="{&quot;height&quot;:248.35,&quot;left&quot;:100.9,&quot;top&quot;:198,&quot;width&quot;:777.4}"/>
</p:tagLst>
</file>

<file path=ppt/tags/tag35.xml><?xml version="1.0" encoding="utf-8"?>
<p:tagLst xmlns:p="http://schemas.openxmlformats.org/presentationml/2006/main">
  <p:tag name="KSO_WM_DIAGRAM_VIRTUALLY_FRAME" val="{&quot;height&quot;:248.35,&quot;left&quot;:100.9,&quot;top&quot;:198,&quot;width&quot;:777.4}"/>
</p:tagLst>
</file>

<file path=ppt/tags/tag36.xml><?xml version="1.0" encoding="utf-8"?>
<p:tagLst xmlns:p="http://schemas.openxmlformats.org/presentationml/2006/main">
  <p:tag name="KSO_WM_DIAGRAM_VIRTUALLY_FRAME" val="{&quot;height&quot;:248.35,&quot;left&quot;:100.9,&quot;top&quot;:198,&quot;width&quot;:777.4}"/>
</p:tagLst>
</file>

<file path=ppt/tags/tag37.xml><?xml version="1.0" encoding="utf-8"?>
<p:tagLst xmlns:p="http://schemas.openxmlformats.org/presentationml/2006/main">
  <p:tag name="KSO_WM_DIAGRAM_VIRTUALLY_FRAME" val="{&quot;height&quot;:248.35,&quot;left&quot;:100.9,&quot;top&quot;:198,&quot;width&quot;:777.4}"/>
</p:tagLst>
</file>

<file path=ppt/tags/tag38.xml><?xml version="1.0" encoding="utf-8"?>
<p:tagLst xmlns:p="http://schemas.openxmlformats.org/presentationml/2006/main">
  <p:tag name="KSO_WM_DIAGRAM_VIRTUALLY_FRAME" val="{&quot;height&quot;:248.35,&quot;left&quot;:100.9,&quot;top&quot;:198,&quot;width&quot;:777.4}"/>
</p:tagLst>
</file>

<file path=ppt/theme/theme1.xml><?xml version="1.0" encoding="utf-8"?>
<a:theme xmlns:a="http://schemas.openxmlformats.org/drawingml/2006/main" name="Office Theme 01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24046</Words>
  <Application>WPS 演示</Application>
  <PresentationFormat>Widescreen</PresentationFormat>
  <Paragraphs>1207</Paragraphs>
  <Slides>73</Slides>
  <Notes>1</Notes>
  <HiddenSlides>0</HiddenSlides>
  <MMClips>0</MMClips>
  <ScaleCrop>false</ScaleCrop>
  <HeadingPairs>
    <vt:vector size="6" baseType="variant">
      <vt:variant>
        <vt:lpstr>已用的字体</vt:lpstr>
      </vt:variant>
      <vt:variant>
        <vt:i4>18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73</vt:i4>
      </vt:variant>
    </vt:vector>
  </HeadingPairs>
  <TitlesOfParts>
    <vt:vector size="92" baseType="lpstr">
      <vt:lpstr>Arial</vt:lpstr>
      <vt:lpstr>宋体</vt:lpstr>
      <vt:lpstr>Wingdings</vt:lpstr>
      <vt:lpstr>庞门正道标题体</vt:lpstr>
      <vt:lpstr>Montserrat</vt:lpstr>
      <vt:lpstr>方正明尚简体</vt:lpstr>
      <vt:lpstr>Dotum</vt:lpstr>
      <vt:lpstr>微软雅黑</vt:lpstr>
      <vt:lpstr>Open Sans SemiBold</vt:lpstr>
      <vt:lpstr>Yu Gothic UI Semibold</vt:lpstr>
      <vt:lpstr>Open Sans</vt:lpstr>
      <vt:lpstr>Segoe Print</vt:lpstr>
      <vt:lpstr>黑体</vt:lpstr>
      <vt:lpstr>Malgun Gothic</vt:lpstr>
      <vt:lpstr>Arial Unicode MS</vt:lpstr>
      <vt:lpstr>Calibri</vt:lpstr>
      <vt:lpstr>MS PGothic</vt:lpstr>
      <vt:lpstr>Calibri Light</vt:lpstr>
      <vt:lpstr>Office Theme 01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pt1</dc:creator>
  <cp:lastModifiedBy>小哈尼欧尼</cp:lastModifiedBy>
  <cp:revision>838</cp:revision>
  <dcterms:created xsi:type="dcterms:W3CDTF">2016-01-12T00:14:00Z</dcterms:created>
  <dcterms:modified xsi:type="dcterms:W3CDTF">2026-04-13T15:42:42Z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KSOProductBuildVer">
    <vt:lpwstr>2052-12.1.0.25225</vt:lpwstr>
  </property>
  <property fmtid="{D5CDD505-2E9C-101B-9397-08002B2CF9AE}" pid="3" name="KSORubyTemplateID">
    <vt:lpwstr>13</vt:lpwstr>
  </property>
  <property fmtid="{D5CDD505-2E9C-101B-9397-08002B2CF9AE}" pid="4" name="KSOTemplateUUID">
    <vt:lpwstr>v1.0_mb_XhNDLR8EZd3zD8bI3G2sWQ==</vt:lpwstr>
  </property>
  <property fmtid="{D5CDD505-2E9C-101B-9397-08002B2CF9AE}" pid="5" name="ICV">
    <vt:lpwstr>FD9ECA1674364129861B1867E0929F8F_11</vt:lpwstr>
  </property>
</Properties>
</file>